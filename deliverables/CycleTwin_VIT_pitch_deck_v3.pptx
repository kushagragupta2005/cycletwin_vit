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dcd06ebc234483" /><Relationship Type="http://schemas.openxmlformats.org/officeDocument/2006/relationships/extended-properties" Target="/docProps/app.xml" Id="Rc1a58b467b8f45c2" /><Relationship Type="http://schemas.openxmlformats.org/officeDocument/2006/relationships/officeDocument" Target="/ppt/presentation.xml" Id="R23b305113dce49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87d942dad44695"/>
  </p:sldMasterIdLst>
  <p:notesMasterIdLst>
    <p:notesMasterId xmlns:r="http://schemas.openxmlformats.org/officeDocument/2006/relationships" r:id="R3f3d57f4e0884658"/>
  </p:notesMasterIdLst>
  <p:sldIdLst>
    <p:sldId xmlns:r="http://schemas.openxmlformats.org/officeDocument/2006/relationships" id="256" r:id="R97bcad828fe24a06"/>
    <p:sldId xmlns:r="http://schemas.openxmlformats.org/officeDocument/2006/relationships" id="257" r:id="R747106d602984308"/>
    <p:sldId xmlns:r="http://schemas.openxmlformats.org/officeDocument/2006/relationships" id="258" r:id="R87b8533c7b0d44b5"/>
    <p:sldId xmlns:r="http://schemas.openxmlformats.org/officeDocument/2006/relationships" id="259" r:id="R53e7b416518b4597"/>
    <p:sldId xmlns:r="http://schemas.openxmlformats.org/officeDocument/2006/relationships" id="260" r:id="Rd34d94d000564488"/>
    <p:sldId xmlns:r="http://schemas.openxmlformats.org/officeDocument/2006/relationships" id="261" r:id="R698c6d1db0274263"/>
    <p:sldId xmlns:r="http://schemas.openxmlformats.org/officeDocument/2006/relationships" id="262" r:id="R4959761d1af34b65"/>
    <p:sldId xmlns:r="http://schemas.openxmlformats.org/officeDocument/2006/relationships" id="263" r:id="Rdcbfb94a40524964"/>
    <p:sldId xmlns:r="http://schemas.openxmlformats.org/officeDocument/2006/relationships" id="264" r:id="R1d6f2841e0804886"/>
    <p:sldId xmlns:r="http://schemas.openxmlformats.org/officeDocument/2006/relationships" id="265" r:id="R5eb5c1769e8c493d"/>
    <p:sldId xmlns:r="http://schemas.openxmlformats.org/officeDocument/2006/relationships" id="266" r:id="R2da1841c78624d6c"/>
    <p:sldId xmlns:r="http://schemas.openxmlformats.org/officeDocument/2006/relationships" id="267" r:id="R7ba5cd0651054e0c"/>
    <p:sldId xmlns:r="http://schemas.openxmlformats.org/officeDocument/2006/relationships" id="268" r:id="R6eec1fe85b834cb5"/>
    <p:sldId xmlns:r="http://schemas.openxmlformats.org/officeDocument/2006/relationships" id="269" r:id="Rcd87bd0b577d46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0c56d51e99410b" /><Relationship Type="http://schemas.openxmlformats.org/officeDocument/2006/relationships/slideMaster" Target="/ppt/slideMasters/slideMaster1.xml" Id="R6187d942dad44695" /><Relationship Type="http://schemas.openxmlformats.org/officeDocument/2006/relationships/notesMaster" Target="/ppt/notesMasters/notesMaster1.xml" Id="R3f3d57f4e0884658" /><Relationship Type="http://schemas.openxmlformats.org/officeDocument/2006/relationships/presProps" Target="/ppt/presProps.xml" Id="R260edb6c4faa4f85" /><Relationship Type="http://schemas.openxmlformats.org/officeDocument/2006/relationships/tableStyles" Target="/ppt/tableStyles.xml" Id="R22bb0286b4774c23" /><Relationship Type="http://schemas.openxmlformats.org/officeDocument/2006/relationships/slide" Target="/ppt/slides/slide1.xml" Id="R97bcad828fe24a06" /><Relationship Type="http://schemas.openxmlformats.org/officeDocument/2006/relationships/slide" Target="/ppt/slides/slide2.xml" Id="R747106d602984308" /><Relationship Type="http://schemas.openxmlformats.org/officeDocument/2006/relationships/slide" Target="/ppt/slides/slide3.xml" Id="R87b8533c7b0d44b5" /><Relationship Type="http://schemas.openxmlformats.org/officeDocument/2006/relationships/slide" Target="/ppt/slides/slide4.xml" Id="R53e7b416518b4597" /><Relationship Type="http://schemas.openxmlformats.org/officeDocument/2006/relationships/slide" Target="/ppt/slides/slide5.xml" Id="Rd34d94d000564488" /><Relationship Type="http://schemas.openxmlformats.org/officeDocument/2006/relationships/slide" Target="/ppt/slides/slide6.xml" Id="R698c6d1db0274263" /><Relationship Type="http://schemas.openxmlformats.org/officeDocument/2006/relationships/slide" Target="/ppt/slides/slide7.xml" Id="R4959761d1af34b65" /><Relationship Type="http://schemas.openxmlformats.org/officeDocument/2006/relationships/slide" Target="/ppt/slides/slide8.xml" Id="Rdcbfb94a40524964" /><Relationship Type="http://schemas.openxmlformats.org/officeDocument/2006/relationships/slide" Target="/ppt/slides/slide9.xml" Id="R1d6f2841e0804886" /><Relationship Type="http://schemas.openxmlformats.org/officeDocument/2006/relationships/slide" Target="/ppt/slides/slide10.xml" Id="R5eb5c1769e8c493d" /><Relationship Type="http://schemas.openxmlformats.org/officeDocument/2006/relationships/slide" Target="/ppt/slides/slide11.xml" Id="R2da1841c78624d6c" /><Relationship Type="http://schemas.openxmlformats.org/officeDocument/2006/relationships/slide" Target="/ppt/slides/slide12.xml" Id="R7ba5cd0651054e0c" /><Relationship Type="http://schemas.openxmlformats.org/officeDocument/2006/relationships/slide" Target="/ppt/slides/slide13.xml" Id="R6eec1fe85b834cb5" /><Relationship Type="http://schemas.openxmlformats.org/officeDocument/2006/relationships/slide" Target="/ppt/slides/slide14.xml" Id="Rcd87bd0b577d46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6adfc8b8f0406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9e3a55e13419d" /><Relationship Type="http://schemas.openxmlformats.org/officeDocument/2006/relationships/notesMaster" Target="/ppt/notesMasters/notesMaster1.xml" Id="R1a360e2b4e8948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6c4ee55ff146d7" /><Relationship Type="http://schemas.openxmlformats.org/officeDocument/2006/relationships/notesMaster" Target="/ppt/notesMasters/notesMaster1.xml" Id="R0510f0845c8e4d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59a8b27db94e94" /><Relationship Type="http://schemas.openxmlformats.org/officeDocument/2006/relationships/notesMaster" Target="/ppt/notesMasters/notesMaster1.xml" Id="R18dfcbf2ee534a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76b470d03c42bb" /><Relationship Type="http://schemas.openxmlformats.org/officeDocument/2006/relationships/notesMaster" Target="/ppt/notesMasters/notesMaster1.xml" Id="R475ede326d0744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ff04b2194c4b6c" /><Relationship Type="http://schemas.openxmlformats.org/officeDocument/2006/relationships/notesMaster" Target="/ppt/notesMasters/notesMaster1.xml" Id="R19fc6f50a0a2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b090c1b0e64e79" /><Relationship Type="http://schemas.openxmlformats.org/officeDocument/2006/relationships/notesMaster" Target="/ppt/notesMasters/notesMaster1.xml" Id="Rb5629c68050e45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7e12395e5a4914" /><Relationship Type="http://schemas.openxmlformats.org/officeDocument/2006/relationships/notesMaster" Target="/ppt/notesMasters/notesMaster1.xml" Id="Rae897a193c4142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949c8436d04136" /><Relationship Type="http://schemas.openxmlformats.org/officeDocument/2006/relationships/notesMaster" Target="/ppt/notesMasters/notesMaster1.xml" Id="R24dc1d06565f48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e6bd634f304b1f" /><Relationship Type="http://schemas.openxmlformats.org/officeDocument/2006/relationships/notesMaster" Target="/ppt/notesMasters/notesMaster1.xml" Id="R6f6561d3caf34d3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f734cabb4d4228" /><Relationship Type="http://schemas.openxmlformats.org/officeDocument/2006/relationships/notesMaster" Target="/ppt/notesMasters/notesMaster1.xml" Id="Rc472b74632d44d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a66bb4bfce42b7" /><Relationship Type="http://schemas.openxmlformats.org/officeDocument/2006/relationships/notesMaster" Target="/ppt/notesMasters/notesMaster1.xml" Id="Reee806efcd5f4d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35b2b9c8e84894" /><Relationship Type="http://schemas.openxmlformats.org/officeDocument/2006/relationships/notesMaster" Target="/ppt/notesMasters/notesMaster1.xml" Id="Rbc29205543754e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640283415804f12" /><Relationship Type="http://schemas.openxmlformats.org/officeDocument/2006/relationships/notesMaster" Target="/ppt/notesMasters/notesMaster1.xml" Id="R7830ccafd096439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84299974f5450b" /><Relationship Type="http://schemas.openxmlformats.org/officeDocument/2006/relationships/notesMaster" Target="/ppt/notesMasters/notesMaster1.xml" Id="R557d1d33e62c43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PMOS (PCOS/PCOD) naming follows the 2026 consensus publication: https://doi.org/10.1016/S0140-6736(26)00717-8.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and timing are simulator design assumptions documented in docs/assumptions.md.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Teede et al., “Polyendocrine metabolic ovarian syndrome, the new name for polycystic ovary syndrome,” Lancet, 2026. https://doi.org/10.1016/S0140-6736(26)00717-8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twin framing is a design direction. This release has no calibrated or validated physiological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HealthKit export fields are based on Apple HealthKit documentation for sleeping wrist temperature and menstrual flow: https://developer.apple.com/documentation/healthkit/hkquantitytypeidentifier/applesleepingwristtemperature and https://developer.apple.com/documentation/healthkit/hkcategorytypeidentifier/menstrualflow.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 generation settings and split design: docs/eval_plan.md and src/generator.py.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implementation is in src/model.py. The fixed fallback and temperature threshold are documented in docs/assumptions.md.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rules from the project brief are planned safeguards. No rule set is active in this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displayed result values are read from results.json, generated by scripts/run_eval.py under the committed evaluation plan. These are synthetic-only metrics, not clinical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Counterfactual scenarios were requested in the project brief. They are not implemented and no effects are estimated.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analyses remain future work; no robustness result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 HealthKit type identifiers were checked against Apple developer documentation. The app handles synthetic export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https://doi.org/10.1016/S0140-6736(26)00717-8 ; https://doi.org/10.1210/clinem/dgad463 ; https://doi.org/10.1038/s41746-023-00884-x ; https://doi.org/10.1136/bmj-2023-078378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mcPHASES is a restricted-access future data source only; no such data are included or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0ce66f9c64b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05e13628441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99fc4a7a744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30aa49d37f47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e8beacbb540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1378aac2e48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A94BFF4-E3EC-4CC9-8825-EA6A4E7FD5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159636-3525-4143-8C89-0BE3B42D1E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0C8729-71E8-435E-86F6-F448DBA9A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B710B7A-FA20-40C2-A88A-5A33845F69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98EF12-8F55-4F85-B7AE-1FBBFDC48D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D0BDD57-2953-420D-80C5-76BA67A47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C5AC42-B2C0-4BB9-B837-BB26EC240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3E1606-23D6-4D57-B886-F6C21EB202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950EB3-E0AC-4B6F-B40F-B8CECB853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7EA4E5-3F6D-42C4-8B24-5319B42142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3a3c32d91e4c82" /><Relationship Type="http://schemas.openxmlformats.org/officeDocument/2006/relationships/slideLayout" Target="/ppt/slideLayouts/slideLayout1.xml" Id="Ra51ee222ebde476f" /><Relationship Type="http://schemas.openxmlformats.org/officeDocument/2006/relationships/slideLayout" Target="/ppt/slideLayouts/slideLayout2.xml" Id="R60f3a4cffa884d12" /><Relationship Type="http://schemas.openxmlformats.org/officeDocument/2006/relationships/slideLayout" Target="/ppt/slideLayouts/slideLayout3.xml" Id="R0aaa921aec8547f6" /><Relationship Type="http://schemas.openxmlformats.org/officeDocument/2006/relationships/slideLayout" Target="/ppt/slideLayouts/slideLayout4.xml" Id="R5e98f81118e84f63" /><Relationship Type="http://schemas.openxmlformats.org/officeDocument/2006/relationships/slideLayout" Target="/ppt/slideLayouts/slideLayout5.xml" Id="R8ed4aa99284c4ec0" /><Relationship Type="http://schemas.openxmlformats.org/officeDocument/2006/relationships/slideLayout" Target="/ppt/slideLayouts/slideLayout6.xml" Id="R20dd4183ea4e4c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1ee222ebde476f"/>
    <p:sldLayoutId xmlns:r="http://schemas.openxmlformats.org/officeDocument/2006/relationships" id="2147483650" r:id="R60f3a4cffa884d12"/>
    <p:sldLayoutId xmlns:r="http://schemas.openxmlformats.org/officeDocument/2006/relationships" id="2147483651" r:id="R0aaa921aec8547f6"/>
    <p:sldLayoutId xmlns:r="http://schemas.openxmlformats.org/officeDocument/2006/relationships" id="2147483652" r:id="R5e98f81118e84f63"/>
    <p:sldLayoutId xmlns:r="http://schemas.openxmlformats.org/officeDocument/2006/relationships" id="2147483653" r:id="R8ed4aa99284c4ec0"/>
    <p:sldLayoutId xmlns:r="http://schemas.openxmlformats.org/officeDocument/2006/relationships" id="2147483654" r:id="R20dd4183ea4e4c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a7ae158b304892" /><Relationship Type="http://schemas.openxmlformats.org/officeDocument/2006/relationships/notesSlide" Target="/ppt/notesSlides/notesSlide1.xml" Id="R2a325ffa600042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09543d9b24e52" /><Relationship Type="http://schemas.openxmlformats.org/officeDocument/2006/relationships/notesSlide" Target="/ppt/notesSlides/notesSlide2.xml" Id="R37c170db78604b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1893c57e504081" /><Relationship Type="http://schemas.openxmlformats.org/officeDocument/2006/relationships/notesSlide" Target="/ppt/notesSlides/notesSlide3.xml" Id="Rd9d0af7c5f1c41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cebbbc9844bb4" /><Relationship Type="http://schemas.openxmlformats.org/officeDocument/2006/relationships/notesSlide" Target="/ppt/notesSlides/notesSlide4.xml" Id="Rcb3de92655c640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669b54b9bb484d" /><Relationship Type="http://schemas.openxmlformats.org/officeDocument/2006/relationships/notesSlide" Target="/ppt/notesSlides/notesSlide5.xml" Id="Rdcb2236520014b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da75ac016441e9" /><Relationship Type="http://schemas.openxmlformats.org/officeDocument/2006/relationships/notesSlide" Target="/ppt/notesSlides/notesSlide6.xml" Id="R5407e1808a0e4c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75447d0d243c7" /><Relationship Type="http://schemas.openxmlformats.org/officeDocument/2006/relationships/notesSlide" Target="/ppt/notesSlides/notesSlide7.xml" Id="R5fb84e572fea45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09c6f55494f71" /><Relationship Type="http://schemas.openxmlformats.org/officeDocument/2006/relationships/notesSlide" Target="/ppt/notesSlides/notesSlide8.xml" Id="Rb2f209c7154f48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6eda02315a4c2f" /><Relationship Type="http://schemas.openxmlformats.org/officeDocument/2006/relationships/notesSlide" Target="/ppt/notesSlides/notesSlide9.xml" Id="Rba371aea6a4946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c3de666e64dbd" /><Relationship Type="http://schemas.openxmlformats.org/officeDocument/2006/relationships/notesSlide" Target="/ppt/notesSlides/notesSlide10.xml" Id="R715cbfaae58f43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db492687824346" /><Relationship Type="http://schemas.openxmlformats.org/officeDocument/2006/relationships/notesSlide" Target="/ppt/notesSlides/notesSlide11.xml" Id="Re90f6dcaa64a4d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0a9512288f4286" /><Relationship Type="http://schemas.openxmlformats.org/officeDocument/2006/relationships/notesSlide" Target="/ppt/notesSlides/notesSlide12.xml" Id="R669b7ab5d99d4f6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ce32f8e0fd4b36" /><Relationship Type="http://schemas.openxmlformats.org/officeDocument/2006/relationships/notesSlide" Target="/ppt/notesSlides/notesSlide13.xml" Id="R3ad9c8b8848448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223d3e62d5451e" /><Relationship Type="http://schemas.openxmlformats.org/officeDocument/2006/relationships/notesSlide" Target="/ppt/notesSlides/notesSlide14.xml" Id="Rc491d04354df4b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B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D56A41-5F9D-4C5E-B3F4-EED8FF61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90600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FFFFFF"/>
                </a:solidFill>
              </a:defRPr>
            </a:defPPr>
            <a:lvl1pPr>
              <a:defRPr sz="4350" b="1">
                <a:solidFill>
                  <a:srgbClr val="FFFFFF"/>
                </a:solidFill>
              </a:defRPr>
            </a:lvl1pPr>
            <a:lvl2pPr>
              <a:defRPr sz="4350" b="1">
                <a:solidFill>
                  <a:srgbClr val="FFFFFF"/>
                </a:solidFill>
              </a:defRPr>
            </a:lvl2pPr>
            <a:lvl3pPr>
              <a:defRPr sz="4350" b="1">
                <a:solidFill>
                  <a:srgbClr val="FFFFFF"/>
                </a:solidFill>
              </a:defRPr>
            </a:lvl3pPr>
            <a:lvl4pPr>
              <a:defRPr sz="4350" b="1">
                <a:solidFill>
                  <a:srgbClr val="FFFFFF"/>
                </a:solidFill>
              </a:defRPr>
            </a:lvl4pPr>
            <a:lvl5pPr>
              <a:defRPr sz="4350" b="1">
                <a:solidFill>
                  <a:srgbClr val="FFFFFF"/>
                </a:solidFill>
              </a:defRPr>
            </a:lvl5pPr>
            <a:lvl6pPr>
              <a:defRPr sz="4350" b="1">
                <a:solidFill>
                  <a:srgbClr val="FFFFFF"/>
                </a:solidFill>
              </a:defRPr>
            </a:lvl6pPr>
            <a:lvl7pPr>
              <a:defRPr sz="4350" b="1">
                <a:solidFill>
                  <a:srgbClr val="FFFFFF"/>
                </a:solidFill>
              </a:defRPr>
            </a:lvl7pPr>
            <a:lvl8pPr>
              <a:defRPr sz="4350" b="1">
                <a:solidFill>
                  <a:srgbClr val="FFFFFF"/>
                </a:solidFill>
              </a:defRPr>
            </a:lvl8pPr>
            <a:lvl9pPr>
              <a:defRPr sz="4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CycleTwin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507BB-98AE-4130-A027-D02F2005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0">
                <a:solidFill>
                  <a:srgbClr val="BFE7E1"/>
                </a:solidFill>
              </a:defRPr>
            </a:defPPr>
            <a:lvl1pPr>
              <a:defRPr sz="2550" b="0">
                <a:solidFill>
                  <a:srgbClr val="BFE7E1"/>
                </a:solidFill>
              </a:defRPr>
            </a:lvl1pPr>
            <a:lvl2pPr>
              <a:defRPr sz="2550" b="0">
                <a:solidFill>
                  <a:srgbClr val="BFE7E1"/>
                </a:solidFill>
              </a:defRPr>
            </a:lvl2pPr>
            <a:lvl3pPr>
              <a:defRPr sz="2550" b="0">
                <a:solidFill>
                  <a:srgbClr val="BFE7E1"/>
                </a:solidFill>
              </a:defRPr>
            </a:lvl3pPr>
            <a:lvl4pPr>
              <a:defRPr sz="2550" b="0">
                <a:solidFill>
                  <a:srgbClr val="BFE7E1"/>
                </a:solidFill>
              </a:defRPr>
            </a:lvl4pPr>
            <a:lvl5pPr>
              <a:defRPr sz="2550" b="0">
                <a:solidFill>
                  <a:srgbClr val="BFE7E1"/>
                </a:solidFill>
              </a:defRPr>
            </a:lvl5pPr>
            <a:lvl6pPr>
              <a:defRPr sz="2550" b="0">
                <a:solidFill>
                  <a:srgbClr val="BFE7E1"/>
                </a:solidFill>
              </a:defRPr>
            </a:lvl6pPr>
            <a:lvl7pPr>
              <a:defRPr sz="2550" b="0">
                <a:solidFill>
                  <a:srgbClr val="BFE7E1"/>
                </a:solidFill>
              </a:defRPr>
            </a:lvl7pPr>
            <a:lvl8pPr>
              <a:defRPr sz="2550" b="0">
                <a:solidFill>
                  <a:srgbClr val="BFE7E1"/>
                </a:solidFill>
              </a:defRPr>
            </a:lvl8pPr>
            <a:lvl9pPr>
              <a:defRPr sz="2550" b="0">
                <a:solidFill>
                  <a:srgbClr val="BFE7E1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BFE7E1"/>
                </a:solidFill>
              </a:defRPr>
            </a:pPr>
            <a:r>
              <a:rPr sz="2550" b="0">
                <a:solidFill>
                  <a:srgbClr val="BFE7E1"/>
                </a:solidFill>
              </a:rPr>
              <a:t>Synthetic cycle forecasting for clinician decision support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D3067-40C9-4052-BC74-2E6AB522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FFFFFF"/>
                </a:solidFill>
              </a:defRPr>
            </a:defPPr>
            <a:lvl1pPr>
              <a:defRPr sz="1575" b="0">
                <a:solidFill>
                  <a:srgbClr val="FFFFFF"/>
                </a:solidFill>
              </a:defRPr>
            </a:lvl1pPr>
            <a:lvl2pPr>
              <a:defRPr sz="1575" b="0">
                <a:solidFill>
                  <a:srgbClr val="FFFFFF"/>
                </a:solidFill>
              </a:defRPr>
            </a:lvl2pPr>
            <a:lvl3pPr>
              <a:defRPr sz="1575" b="0">
                <a:solidFill>
                  <a:srgbClr val="FFFFFF"/>
                </a:solidFill>
              </a:defRPr>
            </a:lvl3pPr>
            <a:lvl4pPr>
              <a:defRPr sz="1575" b="0">
                <a:solidFill>
                  <a:srgbClr val="FFFFFF"/>
                </a:solidFill>
              </a:defRPr>
            </a:lvl4pPr>
            <a:lvl5pPr>
              <a:defRPr sz="1575" b="0">
                <a:solidFill>
                  <a:srgbClr val="FFFFFF"/>
                </a:solidFill>
              </a:defRPr>
            </a:lvl5pPr>
            <a:lvl6pPr>
              <a:defRPr sz="1575" b="0">
                <a:solidFill>
                  <a:srgbClr val="FFFFFF"/>
                </a:solidFill>
              </a:defRPr>
            </a:lvl6pPr>
            <a:lvl7pPr>
              <a:defRPr sz="1575" b="0">
                <a:solidFill>
                  <a:srgbClr val="FFFFFF"/>
                </a:solidFill>
              </a:defRPr>
            </a:lvl7pPr>
            <a:lvl8pPr>
              <a:defRPr sz="1575" b="0">
                <a:solidFill>
                  <a:srgbClr val="FFFFFF"/>
                </a:solidFill>
              </a:defRPr>
            </a:lvl8pPr>
            <a:lvl9pPr>
              <a:defRPr sz="15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Digital Twin Challenge 2026 · Kushagra Gupta · VIT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953B6-1E53-4E24-8D62-0798467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F2B84B"/>
                </a:solidFill>
              </a:defRPr>
            </a:defPPr>
            <a:lvl1pPr>
              <a:defRPr sz="1350" b="1">
                <a:solidFill>
                  <a:srgbClr val="F2B84B"/>
                </a:solidFill>
              </a:defRPr>
            </a:lvl1pPr>
            <a:lvl2pPr>
              <a:defRPr sz="1350" b="1">
                <a:solidFill>
                  <a:srgbClr val="F2B84B"/>
                </a:solidFill>
              </a:defRPr>
            </a:lvl2pPr>
            <a:lvl3pPr>
              <a:defRPr sz="1350" b="1">
                <a:solidFill>
                  <a:srgbClr val="F2B84B"/>
                </a:solidFill>
              </a:defRPr>
            </a:lvl3pPr>
            <a:lvl4pPr>
              <a:defRPr sz="1350" b="1">
                <a:solidFill>
                  <a:srgbClr val="F2B84B"/>
                </a:solidFill>
              </a:defRPr>
            </a:lvl4pPr>
            <a:lvl5pPr>
              <a:defRPr sz="1350" b="1">
                <a:solidFill>
                  <a:srgbClr val="F2B84B"/>
                </a:solidFill>
              </a:defRPr>
            </a:lvl5pPr>
            <a:lvl6pPr>
              <a:defRPr sz="1350" b="1">
                <a:solidFill>
                  <a:srgbClr val="F2B84B"/>
                </a:solidFill>
              </a:defRPr>
            </a:lvl6pPr>
            <a:lvl7pPr>
              <a:defRPr sz="1350" b="1">
                <a:solidFill>
                  <a:srgbClr val="F2B84B"/>
                </a:solidFill>
              </a:defRPr>
            </a:lvl7pPr>
            <a:lvl8pPr>
              <a:defRPr sz="1350" b="1">
                <a:solidFill>
                  <a:srgbClr val="F2B84B"/>
                </a:solidFill>
              </a:defRPr>
            </a:lvl8pPr>
            <a:lvl9pPr>
              <a:defRPr sz="1350" b="1">
                <a:solidFill>
                  <a:srgbClr val="F2B84B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2B84B"/>
                </a:solidFill>
              </a:defRPr>
            </a:pPr>
            <a:r>
              <a:rPr sz="1350" b="1">
                <a:solidFill>
                  <a:srgbClr val="F2B84B"/>
                </a:solidFill>
              </a:rPr>
              <a:t>Synthetic engineering prototype · no clinical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C6335-EC38-4F20-8C40-814AD477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42187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B29FD-0B60-4986-85AE-85F08353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The forecasting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0D29B-8575-46FE-A478-8F2EAE64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C1F9B-BDB6-4F51-B670-E5B8F23F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46028-5A44-4060-9F64-4D2EC13E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10001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Can a system flag a likely delayed or absent ovulation early in a cycle, while showing uncertainty and limits?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5AD2F-1A14-4FD1-B756-DA6984B6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480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77BC1-2707-4F35-9990-40389399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48050"/>
            <a:ext cx="948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Target: synthetic anovulation or ovulation after cycle day 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C9D96-8179-46FC-A6FA-F10DF4A0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8D4AC-1D74-498F-A8DC-FF6827D8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76700"/>
            <a:ext cx="948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Forecast points: cycle days 10, 14 and 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672A6-79D7-403A-9ADB-19D06A28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9F5325-08FD-4D60-99E5-F35EF050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705350"/>
            <a:ext cx="948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Decision-support framing; no diagnostic or reproductive-planning use</a:t>
            </a:r>
          </a:p>
        </p:txBody>
      </p:sp>
    </p:spTree>
    <p:extLst>
      <p:ext uri="{BB962C8B-B14F-4D97-AF65-F5344CB8AC3E}">
        <p14:creationId xmlns:p14="http://schemas.microsoft.com/office/powerpoint/2010/main" val="10198412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A3F07-8F4A-4FF3-9A65-79F13997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PMOS is a multi-system condition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01437-F5A0-471E-82EA-3E7ECEF0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BBF35-7786-49DC-ABBA-B081291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4A83A-B1F2-4BB3-91C3-CAEBC04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1019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0B7A75"/>
                </a:solidFill>
              </a:defRPr>
            </a:defPPr>
            <a:lvl1pPr>
              <a:defRPr sz="2250" b="1">
                <a:solidFill>
                  <a:srgbClr val="0B7A75"/>
                </a:solidFill>
              </a:defRPr>
            </a:lvl1pPr>
            <a:lvl2pPr>
              <a:defRPr sz="2250" b="1">
                <a:solidFill>
                  <a:srgbClr val="0B7A75"/>
                </a:solidFill>
              </a:defRPr>
            </a:lvl2pPr>
            <a:lvl3pPr>
              <a:defRPr sz="2250" b="1">
                <a:solidFill>
                  <a:srgbClr val="0B7A75"/>
                </a:solidFill>
              </a:defRPr>
            </a:lvl3pPr>
            <a:lvl4pPr>
              <a:defRPr sz="2250" b="1">
                <a:solidFill>
                  <a:srgbClr val="0B7A75"/>
                </a:solidFill>
              </a:defRPr>
            </a:lvl4pPr>
            <a:lvl5pPr>
              <a:defRPr sz="2250" b="1">
                <a:solidFill>
                  <a:srgbClr val="0B7A75"/>
                </a:solidFill>
              </a:defRPr>
            </a:lvl5pPr>
            <a:lvl6pPr>
              <a:defRPr sz="2250" b="1">
                <a:solidFill>
                  <a:srgbClr val="0B7A75"/>
                </a:solidFill>
              </a:defRPr>
            </a:lvl6pPr>
            <a:lvl7pPr>
              <a:defRPr sz="2250" b="1">
                <a:solidFill>
                  <a:srgbClr val="0B7A75"/>
                </a:solidFill>
              </a:defRPr>
            </a:lvl7pPr>
            <a:lvl8pPr>
              <a:defRPr sz="2250" b="1">
                <a:solidFill>
                  <a:srgbClr val="0B7A75"/>
                </a:solidFill>
              </a:defRPr>
            </a:lvl8pPr>
            <a:lvl9pPr>
              <a:defRPr sz="22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B7A75"/>
                </a:solidFill>
              </a:defRPr>
            </a:pPr>
            <a:r>
              <a:rPr sz="2250" b="1">
                <a:solidFill>
                  <a:srgbClr val="0B7A75"/>
                </a:solidFill>
              </a:rPr>
              <a:t>Polyendocrine metabolic ovarian syndrome (PMOS; PCOS/PCOD)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520E5-7BAF-44C6-B50E-E92048DC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10048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72B3A"/>
                </a:solidFill>
              </a:defRPr>
            </a:defPPr>
            <a:lvl1pPr>
              <a:defRPr sz="2025" b="0">
                <a:solidFill>
                  <a:srgbClr val="172B3A"/>
                </a:solidFill>
              </a:defRPr>
            </a:lvl1pPr>
            <a:lvl2pPr>
              <a:defRPr sz="2025" b="0">
                <a:solidFill>
                  <a:srgbClr val="172B3A"/>
                </a:solidFill>
              </a:defRPr>
            </a:lvl2pPr>
            <a:lvl3pPr>
              <a:defRPr sz="2025" b="0">
                <a:solidFill>
                  <a:srgbClr val="172B3A"/>
                </a:solidFill>
              </a:defRPr>
            </a:lvl3pPr>
            <a:lvl4pPr>
              <a:defRPr sz="2025" b="0">
                <a:solidFill>
                  <a:srgbClr val="172B3A"/>
                </a:solidFill>
              </a:defRPr>
            </a:lvl4pPr>
            <a:lvl5pPr>
              <a:defRPr sz="2025" b="0">
                <a:solidFill>
                  <a:srgbClr val="172B3A"/>
                </a:solidFill>
              </a:defRPr>
            </a:lvl5pPr>
            <a:lvl6pPr>
              <a:defRPr sz="2025" b="0">
                <a:solidFill>
                  <a:srgbClr val="172B3A"/>
                </a:solidFill>
              </a:defRPr>
            </a:lvl6pPr>
            <a:lvl7pPr>
              <a:defRPr sz="2025" b="0">
                <a:solidFill>
                  <a:srgbClr val="172B3A"/>
                </a:solidFill>
              </a:defRPr>
            </a:lvl7pPr>
            <a:lvl8pPr>
              <a:defRPr sz="2025" b="0">
                <a:solidFill>
                  <a:srgbClr val="172B3A"/>
                </a:solidFill>
              </a:defRPr>
            </a:lvl8pPr>
            <a:lvl9pPr>
              <a:defRPr sz="20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2B3A"/>
                </a:solidFill>
              </a:defRPr>
            </a:pPr>
            <a:r>
              <a:rPr sz="2025" b="0">
                <a:solidFill>
                  <a:srgbClr val="172B3A"/>
                </a:solidFill>
              </a:rPr>
              <a:t>The project frames the problem across reproductive and metabolic signals. The synthetic build currently evaluates only a reproductive-axis proxy.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0568A5-6ABC-43C3-8B6F-8A9B83D9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00488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Terminology follows Teede et al., The Lancet, 2026. The simulated phenotype labels are not diagnostic criteria.</a:t>
            </a:r>
          </a:p>
        </p:txBody>
      </p:sp>
    </p:spTree>
    <p:extLst>
      <p:ext uri="{BB962C8B-B14F-4D97-AF65-F5344CB8AC3E}">
        <p14:creationId xmlns:p14="http://schemas.microsoft.com/office/powerpoint/2010/main" val="15927047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A4B243-C6B8-4EF4-AB5E-D057DD58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Why a digital-twin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C6C18-5E03-4985-983D-EC41465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92A71-8BF4-4AB3-B702-8F3D5E00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DDE4C-5F9C-4916-B2D5-4E8BED82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Planned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5FD2E-DC88-4886-9D23-46CFFD5D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77449-0364-4288-8194-24AFA9A4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526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Reproductive follicle and ovulation dynamics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B8AED-A9D2-4E6B-855A-9F0DD3E3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4FF15-A76F-4EDF-B03F-38751BF2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Metabolic glucose dynamics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FABB0-4F80-498E-A755-8936F00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10944-B531-41FD-8F24-D76B1A08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909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Shared insulin-resistance latent with reverse cycle coupling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1066C-7FF9-4032-880C-4EF6EB8B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Current 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C75F3-F76C-4C0E-8666-27523400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E134C-95AE-41BD-9FB1-15B0E44D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434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Stochastic synthetic cycle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8923B-3253-4202-85B4-4668CB18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71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912FC-9379-4137-8051-087AF661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34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Fixed risk score and temperature coverline heuristic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8B18A-936F-45FB-878B-52C0DDFD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909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A79925-AB95-4E4C-BD04-8480150B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90950"/>
            <a:ext cx="4343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No coupled physiological twin or glucose simulator</a:t>
            </a:r>
          </a:p>
        </p:txBody>
      </p:sp>
    </p:spTree>
    <p:extLst>
      <p:ext uri="{BB962C8B-B14F-4D97-AF65-F5344CB8AC3E}">
        <p14:creationId xmlns:p14="http://schemas.microsoft.com/office/powerpoint/2010/main" val="13733661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9CC855-A8D6-4C9B-9F87-C2A25546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Data fusion and sensor tiers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2D9997-D624-4C2C-A598-56A8F3D5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29928-BBB1-45BF-AE40-CB078EC0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7A584-1FA9-4F77-AA7A-3AEACFE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17404-8D23-49E9-A572-09D71C0D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C326E-5858-4F87-81F6-B0EA596F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Period logs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542EAB-EEC7-45C5-B3E2-B4E2DF87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6D52C-79A0-4CC6-A696-D7764ABC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A260E-C797-4C65-8601-A8C9AF58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E9590-0E08-4F6E-B017-652B9259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resting HR*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9C184C-413A-40DD-A584-0FA8AB74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6F15D-2034-4E6C-BE12-0AEA2C5D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1ED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FBDCD-FCE8-456A-9ED6-FF4A9185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991D7-90F5-48BB-B606-7B4D188F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nightly temp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09D8C-7C10-46DD-8976-AFDD6C26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2B656-1855-47F7-A05C-4665D90F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7AFF7E-8F7F-4B78-AE99-F65C524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B25349-813A-4972-A668-83DA37CB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CGM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52D8B7-7665-45AB-8AB0-35A160C7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28850"/>
            <a:ext cx="228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596B76"/>
                </a:solidFill>
              </a:defRPr>
            </a:defPPr>
            <a:lvl1pPr>
              <a:defRPr sz="2250" b="1">
                <a:solidFill>
                  <a:srgbClr val="596B76"/>
                </a:solidFill>
              </a:defRPr>
            </a:lvl1pPr>
            <a:lvl2pPr>
              <a:defRPr sz="2250" b="1">
                <a:solidFill>
                  <a:srgbClr val="596B76"/>
                </a:solidFill>
              </a:defRPr>
            </a:lvl2pPr>
            <a:lvl3pPr>
              <a:defRPr sz="2250" b="1">
                <a:solidFill>
                  <a:srgbClr val="596B76"/>
                </a:solidFill>
              </a:defRPr>
            </a:lvl3pPr>
            <a:lvl4pPr>
              <a:defRPr sz="2250" b="1">
                <a:solidFill>
                  <a:srgbClr val="596B76"/>
                </a:solidFill>
              </a:defRPr>
            </a:lvl4pPr>
            <a:lvl5pPr>
              <a:defRPr sz="2250" b="1">
                <a:solidFill>
                  <a:srgbClr val="596B76"/>
                </a:solidFill>
              </a:defRPr>
            </a:lvl5pPr>
            <a:lvl6pPr>
              <a:defRPr sz="2250" b="1">
                <a:solidFill>
                  <a:srgbClr val="596B76"/>
                </a:solidFill>
              </a:defRPr>
            </a:lvl6pPr>
            <a:lvl7pPr>
              <a:defRPr sz="2250" b="1">
                <a:solidFill>
                  <a:srgbClr val="596B76"/>
                </a:solidFill>
              </a:defRPr>
            </a:lvl7pPr>
            <a:lvl8pPr>
              <a:defRPr sz="2250" b="1">
                <a:solidFill>
                  <a:srgbClr val="596B76"/>
                </a:solidFill>
              </a:defRPr>
            </a:lvl8pPr>
            <a:lvl9pPr>
              <a:defRPr sz="2250" b="1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596B76"/>
                </a:solidFill>
              </a:defRPr>
            </a:pPr>
            <a:r>
              <a:rPr sz="2250" b="1">
                <a:solidFill>
                  <a:srgbClr val="596B76"/>
                </a:solidFill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3B5B9-46CE-4B39-B2ED-39CC3CC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66900"/>
            <a:ext cx="1809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0E7"/>
          </a:solidFill>
          <a:ln xmlns:a="http://schemas.openxmlformats.org/drawingml/2006/main" w="9525">
            <a:solidFill>
              <a:srgbClr val="C9D5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1E103-7519-43F3-9B61-D12CE2A8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9812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454D9B-2DAA-43DE-A1F9-4B559C43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172B3A"/>
                </a:solidFill>
              </a:defRPr>
            </a:defPPr>
            <a:lvl1pPr>
              <a:defRPr sz="1425" b="0">
                <a:solidFill>
                  <a:srgbClr val="172B3A"/>
                </a:solidFill>
              </a:defRPr>
            </a:lvl1pPr>
            <a:lvl2pPr>
              <a:defRPr sz="1425" b="0">
                <a:solidFill>
                  <a:srgbClr val="172B3A"/>
                </a:solidFill>
              </a:defRPr>
            </a:lvl2pPr>
            <a:lvl3pPr>
              <a:defRPr sz="1425" b="0">
                <a:solidFill>
                  <a:srgbClr val="172B3A"/>
                </a:solidFill>
              </a:defRPr>
            </a:lvl3pPr>
            <a:lvl4pPr>
              <a:defRPr sz="1425" b="0">
                <a:solidFill>
                  <a:srgbClr val="172B3A"/>
                </a:solidFill>
              </a:defRPr>
            </a:lvl4pPr>
            <a:lvl5pPr>
              <a:defRPr sz="1425" b="0">
                <a:solidFill>
                  <a:srgbClr val="172B3A"/>
                </a:solidFill>
              </a:defRPr>
            </a:lvl5pPr>
            <a:lvl6pPr>
              <a:defRPr sz="1425" b="0">
                <a:solidFill>
                  <a:srgbClr val="172B3A"/>
                </a:solidFill>
              </a:defRPr>
            </a:lvl6pPr>
            <a:lvl7pPr>
              <a:defRPr sz="1425" b="0">
                <a:solidFill>
                  <a:srgbClr val="172B3A"/>
                </a:solidFill>
              </a:defRPr>
            </a:lvl7pPr>
            <a:lvl8pPr>
              <a:defRPr sz="1425" b="0">
                <a:solidFill>
                  <a:srgbClr val="172B3A"/>
                </a:solidFill>
              </a:defRPr>
            </a:lvl8pPr>
            <a:lvl9pPr>
              <a:defRPr sz="14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2B3A"/>
                </a:solidFill>
              </a:defRPr>
            </a:pPr>
            <a:r>
              <a:rPr sz="1425" b="0">
                <a:solidFill>
                  <a:srgbClr val="172B3A"/>
                </a:solidFill>
              </a:rPr>
              <a:t>+ EHR 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EF9E86-1B55-4D57-8FEF-1D5117CC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Implemented evaluator: neutral period-only score; tier 1 uses resting-heart-rate offsets; tier 2 adds nightly temperature.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82DABA-F05B-45B0-B6C5-1171DE4C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596B76"/>
                </a:solidFill>
              </a:defRPr>
            </a:defPPr>
            <a:lvl1pPr>
              <a:defRPr sz="1350" b="0">
                <a:solidFill>
                  <a:srgbClr val="596B76"/>
                </a:solidFill>
              </a:defRPr>
            </a:lvl1pPr>
            <a:lvl2pPr>
              <a:defRPr sz="1350" b="0">
                <a:solidFill>
                  <a:srgbClr val="596B76"/>
                </a:solidFill>
              </a:defRPr>
            </a:lvl2pPr>
            <a:lvl3pPr>
              <a:defRPr sz="1350" b="0">
                <a:solidFill>
                  <a:srgbClr val="596B76"/>
                </a:solidFill>
              </a:defRPr>
            </a:lvl3pPr>
            <a:lvl4pPr>
              <a:defRPr sz="1350" b="0">
                <a:solidFill>
                  <a:srgbClr val="596B76"/>
                </a:solidFill>
              </a:defRPr>
            </a:lvl4pPr>
            <a:lvl5pPr>
              <a:defRPr sz="1350" b="0">
                <a:solidFill>
                  <a:srgbClr val="596B76"/>
                </a:solidFill>
              </a:defRPr>
            </a:lvl5pPr>
            <a:lvl6pPr>
              <a:defRPr sz="1350" b="0">
                <a:solidFill>
                  <a:srgbClr val="596B76"/>
                </a:solidFill>
              </a:defRPr>
            </a:lvl6pPr>
            <a:lvl7pPr>
              <a:defRPr sz="1350" b="0">
                <a:solidFill>
                  <a:srgbClr val="596B76"/>
                </a:solidFill>
              </a:defRPr>
            </a:lvl7pPr>
            <a:lvl8pPr>
              <a:defRPr sz="1350" b="0">
                <a:solidFill>
                  <a:srgbClr val="596B76"/>
                </a:solidFill>
              </a:defRPr>
            </a:lvl8pPr>
            <a:lvl9pPr>
              <a:defRPr sz="135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B76"/>
                </a:solidFill>
              </a:defRPr>
            </a:pPr>
            <a:r>
              <a:rPr sz="1350" b="0">
                <a:solidFill>
                  <a:srgbClr val="596B76"/>
                </a:solidFill>
              </a:rPr>
              <a:t>* Other wearable streams are generated but not fused. CGM and EHR tiers are not implemented.</a:t>
            </a:r>
          </a:p>
        </p:txBody>
      </p:sp>
    </p:spTree>
    <p:extLst>
      <p:ext uri="{BB962C8B-B14F-4D97-AF65-F5344CB8AC3E}">
        <p14:creationId xmlns:p14="http://schemas.microsoft.com/office/powerpoint/2010/main" val="1223515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79CE5B-8539-4C12-BA89-E5349023A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Synthetic data and leakage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949BA5-DF38-46BF-809C-F4A79328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E57E1F-C254-443B-8D94-B96FACA5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D657E9-CAC5-4E9F-8B5C-6EDC24FC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21450-AAE7-4686-815A-3C8BE6AB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1,200 synthetic patients × 6 cycles per generator 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16A92-C0AA-4884-A8F8-E59EBC4F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03C614-647C-4DFE-B715-27046D4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146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Three fixed seeds: 17, 29, 43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B3168-C9E3-419C-A98F-7748736D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104A1-AE05-4E1D-B83F-9B77E7DF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Patient-level split: 70% train, 15% validation, 15% held-out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A1FAB-BD6D-4BB7-985F-D0B257F0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33AF1-51E3-4ED2-8B62-CB7B25C3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9772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personal exports, credentialed data or external health records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2F2A63-8FD7-4795-9888-340DDC50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 generator carries latent traits and noisy observations; the evaluator separates patients across partitions.</a:t>
            </a:r>
          </a:p>
        </p:txBody>
      </p:sp>
    </p:spTree>
    <p:extLst>
      <p:ext uri="{BB962C8B-B14F-4D97-AF65-F5344CB8AC3E}">
        <p14:creationId xmlns:p14="http://schemas.microsoft.com/office/powerpoint/2010/main" val="575751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5F8C3-5105-4CCD-926E-F36D5518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Forecast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D40A2-1B64-4477-9225-E2FABC21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AC34F-4AD7-46FF-B420-F83CF49C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9CB38-6E01-4255-AA31-A3520F04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Risk score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A0210-B75F-4CEA-AABC-5B034661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BC26B-268D-4E39-9774-46DD7CB3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526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Tier 0: neutral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4D861-43B4-43B1-B5C2-D931F4F4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74665-90AA-403A-AE8A-F07E7B31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9560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Tier 1: resting-heart-rate offset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F9157-BEB6-4634-A276-A5A9C986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A762C-86D0-49A2-BF78-EE9EBFBC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4438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Tier 2: temperature rise relative to an early-cycle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38B1B-B8BB-4FAE-A32A-247352D3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38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Ovulation-day estimate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20BF4-5508-434A-BBEF-707DD68B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6EF4D-1BC4-49F8-B0E5-6DCF1D6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5265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Temperature coverline heuristic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C9623-13A3-442A-ACC3-884D3965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95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DCE38-47FA-4131-9FA4-E786FB8F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9560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Fallback: forecast day + 10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EA47D-EAA4-421A-974D-ED5890F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8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1">
                <a:solidFill>
                  <a:srgbClr val="0B7A75"/>
                </a:solidFill>
              </a:defRPr>
            </a:defPPr>
            <a:lvl1pPr>
              <a:defRPr sz="1725" b="1">
                <a:solidFill>
                  <a:srgbClr val="0B7A75"/>
                </a:solidFill>
              </a:defRPr>
            </a:lvl1pPr>
            <a:lvl2pPr>
              <a:defRPr sz="1725" b="1">
                <a:solidFill>
                  <a:srgbClr val="0B7A75"/>
                </a:solidFill>
              </a:defRPr>
            </a:lvl2pPr>
            <a:lvl3pPr>
              <a:defRPr sz="1725" b="1">
                <a:solidFill>
                  <a:srgbClr val="0B7A75"/>
                </a:solidFill>
              </a:defRPr>
            </a:lvl3pPr>
            <a:lvl4pPr>
              <a:defRPr sz="1725" b="1">
                <a:solidFill>
                  <a:srgbClr val="0B7A75"/>
                </a:solidFill>
              </a:defRPr>
            </a:lvl4pPr>
            <a:lvl5pPr>
              <a:defRPr sz="1725" b="1">
                <a:solidFill>
                  <a:srgbClr val="0B7A75"/>
                </a:solidFill>
              </a:defRPr>
            </a:lvl5pPr>
            <a:lvl6pPr>
              <a:defRPr sz="1725" b="1">
                <a:solidFill>
                  <a:srgbClr val="0B7A75"/>
                </a:solidFill>
              </a:defRPr>
            </a:lvl6pPr>
            <a:lvl7pPr>
              <a:defRPr sz="1725" b="1">
                <a:solidFill>
                  <a:srgbClr val="0B7A75"/>
                </a:solidFill>
              </a:defRPr>
            </a:lvl7pPr>
            <a:lvl8pPr>
              <a:defRPr sz="1725" b="1">
                <a:solidFill>
                  <a:srgbClr val="0B7A75"/>
                </a:solidFill>
              </a:defRPr>
            </a:lvl8pPr>
            <a:lvl9pPr>
              <a:defRPr sz="17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B7A75"/>
                </a:solidFill>
              </a:defRPr>
            </a:pPr>
            <a:r>
              <a:rPr sz="172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444B4-6584-4393-B959-53C88C3B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4152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72B3A"/>
                </a:solidFill>
              </a:defRPr>
            </a:defPPr>
            <a:lvl1pPr>
              <a:defRPr sz="1725" b="0">
                <a:solidFill>
                  <a:srgbClr val="172B3A"/>
                </a:solidFill>
              </a:defRPr>
            </a:lvl1pPr>
            <a:lvl2pPr>
              <a:defRPr sz="1725" b="0">
                <a:solidFill>
                  <a:srgbClr val="172B3A"/>
                </a:solidFill>
              </a:defRPr>
            </a:lvl2pPr>
            <a:lvl3pPr>
              <a:defRPr sz="1725" b="0">
                <a:solidFill>
                  <a:srgbClr val="172B3A"/>
                </a:solidFill>
              </a:defRPr>
            </a:lvl3pPr>
            <a:lvl4pPr>
              <a:defRPr sz="1725" b="0">
                <a:solidFill>
                  <a:srgbClr val="172B3A"/>
                </a:solidFill>
              </a:defRPr>
            </a:lvl4pPr>
            <a:lvl5pPr>
              <a:defRPr sz="1725" b="0">
                <a:solidFill>
                  <a:srgbClr val="172B3A"/>
                </a:solidFill>
              </a:defRPr>
            </a:lvl5pPr>
            <a:lvl6pPr>
              <a:defRPr sz="1725" b="0">
                <a:solidFill>
                  <a:srgbClr val="172B3A"/>
                </a:solidFill>
              </a:defRPr>
            </a:lvl6pPr>
            <a:lvl7pPr>
              <a:defRPr sz="1725" b="0">
                <a:solidFill>
                  <a:srgbClr val="172B3A"/>
                </a:solidFill>
              </a:defRPr>
            </a:lvl7pPr>
            <a:lvl8pPr>
              <a:defRPr sz="1725" b="0">
                <a:solidFill>
                  <a:srgbClr val="172B3A"/>
                </a:solidFill>
              </a:defRPr>
            </a:lvl8pPr>
            <a:lvl9pPr>
              <a:defRPr sz="172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72B3A"/>
                </a:solidFill>
              </a:defRPr>
            </a:pPr>
            <a:r>
              <a:rPr sz="1725" b="0">
                <a:solidFill>
                  <a:srgbClr val="172B3A"/>
                </a:solidFill>
              </a:rPr>
              <a:t>No EKF, conformal interval or hormone 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22AB2-29F9-4B0F-959F-C5EF92C8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596B76"/>
                </a:solidFill>
              </a:defRPr>
            </a:defPPr>
            <a:lvl1pPr>
              <a:defRPr sz="1575" b="0">
                <a:solidFill>
                  <a:srgbClr val="596B76"/>
                </a:solidFill>
              </a:defRPr>
            </a:lvl1pPr>
            <a:lvl2pPr>
              <a:defRPr sz="1575" b="0">
                <a:solidFill>
                  <a:srgbClr val="596B76"/>
                </a:solidFill>
              </a:defRPr>
            </a:lvl2pPr>
            <a:lvl3pPr>
              <a:defRPr sz="1575" b="0">
                <a:solidFill>
                  <a:srgbClr val="596B76"/>
                </a:solidFill>
              </a:defRPr>
            </a:lvl3pPr>
            <a:lvl4pPr>
              <a:defRPr sz="1575" b="0">
                <a:solidFill>
                  <a:srgbClr val="596B76"/>
                </a:solidFill>
              </a:defRPr>
            </a:lvl4pPr>
            <a:lvl5pPr>
              <a:defRPr sz="1575" b="0">
                <a:solidFill>
                  <a:srgbClr val="596B76"/>
                </a:solidFill>
              </a:defRPr>
            </a:lvl5pPr>
            <a:lvl6pPr>
              <a:defRPr sz="1575" b="0">
                <a:solidFill>
                  <a:srgbClr val="596B76"/>
                </a:solidFill>
              </a:defRPr>
            </a:lvl6pPr>
            <a:lvl7pPr>
              <a:defRPr sz="1575" b="0">
                <a:solidFill>
                  <a:srgbClr val="596B76"/>
                </a:solidFill>
              </a:defRPr>
            </a:lvl7pPr>
            <a:lvl8pPr>
              <a:defRPr sz="1575" b="0">
                <a:solidFill>
                  <a:srgbClr val="596B76"/>
                </a:solidFill>
              </a:defRPr>
            </a:lvl8pPr>
            <a:lvl9pPr>
              <a:defRPr sz="1575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596B76"/>
                </a:solidFill>
              </a:defRPr>
            </a:pPr>
            <a:r>
              <a:rPr sz="1575" b="0">
                <a:solidFill>
                  <a:srgbClr val="596B76"/>
                </a:solidFill>
              </a:rPr>
              <a:t>All settings are simulator assumptions. No clinical interpretation is supported.</a:t>
            </a:r>
          </a:p>
        </p:txBody>
      </p:sp>
    </p:spTree>
    <p:extLst>
      <p:ext uri="{BB962C8B-B14F-4D97-AF65-F5344CB8AC3E}">
        <p14:creationId xmlns:p14="http://schemas.microsoft.com/office/powerpoint/2010/main" val="1466376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A638F5-6D5B-486C-BF6A-09D79308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Safety and abstention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DC19F-70DB-414E-8193-899A23D4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3CFC5-8BDF-4E24-A763-3410AD9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4D2DB7-B1BB-4902-905E-F0F3706B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Planned safety layer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28859-8BDC-49A0-956C-83445B86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14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96F99-2ACF-47F4-9010-448CCE71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Review for thyroid/prolactin flags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048D1-40E6-43CB-9BAD-3BF84DDC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5D104-0747-48D9-89BF-7F8F46D5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384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Abstain for hormonal contraception and pregnancy-related states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AB3CC-BA6E-4B80-92B1-56F41EB72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0EA02-1137-4B83-A126-126E49C1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Abstain for age and sensor completeness conditions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2ADAA-1081-42B5-B629-6BF422C7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86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903EB-A06B-44E2-BE1D-F6E22C93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86250"/>
            <a:ext cx="462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Show risk-coverage and subgroup coverage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5428A-1332-485D-B049-0996D535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Current 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4ED9BA-1BA2-426B-B33D-70B6224A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409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These rules, coverage intervals and abstention logs are not implemented in G1. The dashboard is an XML parsing demo.</a:t>
            </a:r>
          </a:p>
        </p:txBody>
      </p:sp>
    </p:spTree>
    <p:extLst>
      <p:ext uri="{BB962C8B-B14F-4D97-AF65-F5344CB8AC3E}">
        <p14:creationId xmlns:p14="http://schemas.microsoft.com/office/powerpoint/2010/main" val="13507633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0BAD9-E4DB-4F0A-9166-E62B3B12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Synthetic held-out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0BD6B-FF94-4EE0-B5A2-C686080B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C34955-5DD4-483A-94D2-32337F26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95DBF-0E8B-4BF2-A473-330618E8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Tier 2 · forecast day 14 · held-out patients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C6EB9-9880-4F0F-A5E7-E5072B7C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Seed 97: AUROC 0.637 · AUPRC 0.598 · Brier 0.306 · event rate 0.506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56FE7-89E2-4E97-9AE0-BF4F93BCE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Seed 101: AUROC 0.638 · AUPRC 0.604 · Brier 0.316 · event rate 0.523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3D455-E0FD-4AC6-BB31-A41C778D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Seed 103: AUROC 0.663 · AUPRC 0.615 · Brier 0.309 · event rate 0.511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877E2-5C0B-4BA7-AE16-C42763B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57700"/>
            <a:ext cx="1009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Patient-cluster bootstrap 95% intervals for AUROC and AUPRC are in results.json. Synthetic generator performance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05E91-E330-4F87-A10F-46B22BC2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1">
                <a:solidFill>
                  <a:srgbClr val="0B7A75"/>
                </a:solidFill>
              </a:defRPr>
            </a:defPPr>
            <a:lvl1pPr>
              <a:defRPr sz="1425" b="1">
                <a:solidFill>
                  <a:srgbClr val="0B7A75"/>
                </a:solidFill>
              </a:defRPr>
            </a:lvl1pPr>
            <a:lvl2pPr>
              <a:defRPr sz="1425" b="1">
                <a:solidFill>
                  <a:srgbClr val="0B7A75"/>
                </a:solidFill>
              </a:defRPr>
            </a:lvl2pPr>
            <a:lvl3pPr>
              <a:defRPr sz="1425" b="1">
                <a:solidFill>
                  <a:srgbClr val="0B7A75"/>
                </a:solidFill>
              </a:defRPr>
            </a:lvl3pPr>
            <a:lvl4pPr>
              <a:defRPr sz="1425" b="1">
                <a:solidFill>
                  <a:srgbClr val="0B7A75"/>
                </a:solidFill>
              </a:defRPr>
            </a:lvl4pPr>
            <a:lvl5pPr>
              <a:defRPr sz="1425" b="1">
                <a:solidFill>
                  <a:srgbClr val="0B7A75"/>
                </a:solidFill>
              </a:defRPr>
            </a:lvl5pPr>
            <a:lvl6pPr>
              <a:defRPr sz="1425" b="1">
                <a:solidFill>
                  <a:srgbClr val="0B7A75"/>
                </a:solidFill>
              </a:defRPr>
            </a:lvl6pPr>
            <a:lvl7pPr>
              <a:defRPr sz="1425" b="1">
                <a:solidFill>
                  <a:srgbClr val="0B7A75"/>
                </a:solidFill>
              </a:defRPr>
            </a:lvl7pPr>
            <a:lvl8pPr>
              <a:defRPr sz="1425" b="1">
                <a:solidFill>
                  <a:srgbClr val="0B7A75"/>
                </a:solidFill>
              </a:defRPr>
            </a:lvl8pPr>
            <a:lvl9pPr>
              <a:defRPr sz="142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0B7A75"/>
                </a:solidFill>
              </a:defRPr>
            </a:pPr>
            <a:r>
              <a:rPr sz="1425" b="1">
                <a:solidFill>
                  <a:srgbClr val="0B7A75"/>
                </a:solidFill>
              </a:rPr>
              <a:t>No comparison with real-world published accuracy is made.</a:t>
            </a:r>
          </a:p>
        </p:txBody>
      </p:sp>
    </p:spTree>
    <p:extLst>
      <p:ext uri="{BB962C8B-B14F-4D97-AF65-F5344CB8AC3E}">
        <p14:creationId xmlns:p14="http://schemas.microsoft.com/office/powerpoint/2010/main" val="1343964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FF2A9-AD39-4083-87E3-DC4384F9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Illustrative counterfactuals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DB7EA-2F09-4AFC-B297-D83B9997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D1F0F-A634-4FBF-B959-F02DBBA3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4F389-936C-4A43-9262-12626B56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38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Planned scenario inputs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B2C51-AF6F-4832-AB3F-AB4BCD12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67A8F-C02C-465F-AAEE-225F8F23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336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Regular 7–8 hour sleep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9EA55-D326-4ADD-82FE-CA410E37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5DCE8-68E6-404C-9E63-36944A5B9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432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Daily 30-minute walk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D5DA4-9DB5-4177-8D07-701CD3B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FB59C-F55C-4B47-BDA3-0204C8676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Lower-glycaemic-index Indian food swap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F208E-C725-4130-AB84-0FB8F647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55D0D-0ABD-4B57-810B-055D84CD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624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Lower evening stress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97446-C259-4C9D-84F4-C0D1CB2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1">
                <a:solidFill>
                  <a:srgbClr val="0B7A75"/>
                </a:solidFill>
              </a:defRPr>
            </a:defPPr>
            <a:lvl1pPr>
              <a:defRPr sz="1650" b="1">
                <a:solidFill>
                  <a:srgbClr val="0B7A75"/>
                </a:solidFill>
              </a:defRPr>
            </a:lvl1pPr>
            <a:lvl2pPr>
              <a:defRPr sz="1650" b="1">
                <a:solidFill>
                  <a:srgbClr val="0B7A75"/>
                </a:solidFill>
              </a:defRPr>
            </a:lvl2pPr>
            <a:lvl3pPr>
              <a:defRPr sz="1650" b="1">
                <a:solidFill>
                  <a:srgbClr val="0B7A75"/>
                </a:solidFill>
              </a:defRPr>
            </a:lvl3pPr>
            <a:lvl4pPr>
              <a:defRPr sz="1650" b="1">
                <a:solidFill>
                  <a:srgbClr val="0B7A75"/>
                </a:solidFill>
              </a:defRPr>
            </a:lvl4pPr>
            <a:lvl5pPr>
              <a:defRPr sz="1650" b="1">
                <a:solidFill>
                  <a:srgbClr val="0B7A75"/>
                </a:solidFill>
              </a:defRPr>
            </a:lvl5pPr>
            <a:lvl6pPr>
              <a:defRPr sz="1650" b="1">
                <a:solidFill>
                  <a:srgbClr val="0B7A75"/>
                </a:solidFill>
              </a:defRPr>
            </a:lvl6pPr>
            <a:lvl7pPr>
              <a:defRPr sz="1650" b="1">
                <a:solidFill>
                  <a:srgbClr val="0B7A75"/>
                </a:solidFill>
              </a:defRPr>
            </a:lvl7pPr>
            <a:lvl8pPr>
              <a:defRPr sz="1650" b="1">
                <a:solidFill>
                  <a:srgbClr val="0B7A75"/>
                </a:solidFill>
              </a:defRPr>
            </a:lvl8pPr>
            <a:lvl9pPr>
              <a:defRPr sz="16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B7A75"/>
                </a:solidFill>
              </a:defRPr>
            </a:pPr>
            <a:r>
              <a:rPr sz="165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288628-4735-4F88-B81E-AC818094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4772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650" b="0">
                <a:solidFill>
                  <a:srgbClr val="172B3A"/>
                </a:solidFill>
              </a:defRPr>
            </a:defPPr>
            <a:lvl1pPr>
              <a:defRPr sz="1650" b="0">
                <a:solidFill>
                  <a:srgbClr val="172B3A"/>
                </a:solidFill>
              </a:defRPr>
            </a:lvl1pPr>
            <a:lvl2pPr>
              <a:defRPr sz="1650" b="0">
                <a:solidFill>
                  <a:srgbClr val="172B3A"/>
                </a:solidFill>
              </a:defRPr>
            </a:lvl2pPr>
            <a:lvl3pPr>
              <a:defRPr sz="1650" b="0">
                <a:solidFill>
                  <a:srgbClr val="172B3A"/>
                </a:solidFill>
              </a:defRPr>
            </a:lvl3pPr>
            <a:lvl4pPr>
              <a:defRPr sz="1650" b="0">
                <a:solidFill>
                  <a:srgbClr val="172B3A"/>
                </a:solidFill>
              </a:defRPr>
            </a:lvl4pPr>
            <a:lvl5pPr>
              <a:defRPr sz="1650" b="0">
                <a:solidFill>
                  <a:srgbClr val="172B3A"/>
                </a:solidFill>
              </a:defRPr>
            </a:lvl5pPr>
            <a:lvl6pPr>
              <a:defRPr sz="1650" b="0">
                <a:solidFill>
                  <a:srgbClr val="172B3A"/>
                </a:solidFill>
              </a:defRPr>
            </a:lvl6pPr>
            <a:lvl7pPr>
              <a:defRPr sz="1650" b="0">
                <a:solidFill>
                  <a:srgbClr val="172B3A"/>
                </a:solidFill>
              </a:defRPr>
            </a:lvl7pPr>
            <a:lvl8pPr>
              <a:defRPr sz="1650" b="0">
                <a:solidFill>
                  <a:srgbClr val="172B3A"/>
                </a:solidFill>
              </a:defRPr>
            </a:lvl8pPr>
            <a:lvl9pPr>
              <a:defRPr sz="165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172B3A"/>
                </a:solidFill>
              </a:defRPr>
            </a:pPr>
            <a:r>
              <a:rPr sz="1650" b="0">
                <a:solidFill>
                  <a:srgbClr val="172B3A"/>
                </a:solidFill>
              </a:rPr>
              <a:t>Illustrative 5% weight change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57B92-7552-43DF-ACB5-678F6B19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Current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D1110-5B36-4444-9C38-AEEAE46E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4191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counterfactual simulator or intervention effects are implemented. Future effect ranges would be assumptions, not treatment advice.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56F44-61DB-464F-AB76-5E8CA35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425" b="0">
                <a:solidFill>
                  <a:srgbClr val="596B76"/>
                </a:solidFill>
              </a:defRPr>
            </a:defPPr>
            <a:lvl1pPr>
              <a:defRPr sz="1425" b="0">
                <a:solidFill>
                  <a:srgbClr val="596B76"/>
                </a:solidFill>
              </a:defRPr>
            </a:lvl1pPr>
            <a:lvl2pPr>
              <a:defRPr sz="1425" b="0">
                <a:solidFill>
                  <a:srgbClr val="596B76"/>
                </a:solidFill>
              </a:defRPr>
            </a:lvl2pPr>
            <a:lvl3pPr>
              <a:defRPr sz="1425" b="0">
                <a:solidFill>
                  <a:srgbClr val="596B76"/>
                </a:solidFill>
              </a:defRPr>
            </a:lvl3pPr>
            <a:lvl4pPr>
              <a:defRPr sz="1425" b="0">
                <a:solidFill>
                  <a:srgbClr val="596B76"/>
                </a:solidFill>
              </a:defRPr>
            </a:lvl4pPr>
            <a:lvl5pPr>
              <a:defRPr sz="1425" b="0">
                <a:solidFill>
                  <a:srgbClr val="596B76"/>
                </a:solidFill>
              </a:defRPr>
            </a:lvl5pPr>
            <a:lvl6pPr>
              <a:defRPr sz="1425" b="0">
                <a:solidFill>
                  <a:srgbClr val="596B76"/>
                </a:solidFill>
              </a:defRPr>
            </a:lvl6pPr>
            <a:lvl7pPr>
              <a:defRPr sz="1425" b="0">
                <a:solidFill>
                  <a:srgbClr val="596B76"/>
                </a:solidFill>
              </a:defRPr>
            </a:lvl7pPr>
            <a:lvl8pPr>
              <a:defRPr sz="1425" b="0">
                <a:solidFill>
                  <a:srgbClr val="596B76"/>
                </a:solidFill>
              </a:defRPr>
            </a:lvl8pPr>
            <a:lvl9pPr>
              <a:defRPr sz="1425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96B76"/>
                </a:solidFill>
              </a:defRPr>
            </a:pPr>
            <a:r>
              <a:rPr sz="1425" b="0">
                <a:solidFill>
                  <a:srgbClr val="596B76"/>
                </a:solidFill>
              </a:rPr>
              <a:t>Planned label: illustrative assumption, not a treatment recommendation.</a:t>
            </a:r>
          </a:p>
        </p:txBody>
      </p:sp>
    </p:spTree>
    <p:extLst>
      <p:ext uri="{BB962C8B-B14F-4D97-AF65-F5344CB8AC3E}">
        <p14:creationId xmlns:p14="http://schemas.microsoft.com/office/powerpoint/2010/main" val="10588407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6A10B-DA93-4485-A62A-D2C136E7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Robustness and failure modes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B408E-DC9E-4B2B-8C2B-63D6FD9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286C9-0C9D-4E9E-9D0A-D52B5026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6C68BB-7BA2-4CC3-8D69-5EC2996D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BCF9D-30D8-4DEE-8CD2-7FF08A23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Current robustness sweeps are not 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16A4B-2DCC-4427-BCDD-3DC387A9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BBCEA1-F5A9-4BD6-94EE-20D7963F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wearable dropout, fever, travel or shift-work stress tests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15928-3766-4ED4-B238-CD306C87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8E4B7-290C-4A0E-B524-4D7396D8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No simulator-shift experiment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0B043-E64F-4497-B1D3-761F9CDF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B7A75"/>
                </a:solidFill>
              </a:defRPr>
            </a:defPPr>
            <a:lvl1pPr>
              <a:defRPr sz="1875" b="1">
                <a:solidFill>
                  <a:srgbClr val="0B7A75"/>
                </a:solidFill>
              </a:defRPr>
            </a:lvl1pPr>
            <a:lvl2pPr>
              <a:defRPr sz="1875" b="1">
                <a:solidFill>
                  <a:srgbClr val="0B7A75"/>
                </a:solidFill>
              </a:defRPr>
            </a:lvl2pPr>
            <a:lvl3pPr>
              <a:defRPr sz="1875" b="1">
                <a:solidFill>
                  <a:srgbClr val="0B7A75"/>
                </a:solidFill>
              </a:defRPr>
            </a:lvl3pPr>
            <a:lvl4pPr>
              <a:defRPr sz="1875" b="1">
                <a:solidFill>
                  <a:srgbClr val="0B7A75"/>
                </a:solidFill>
              </a:defRPr>
            </a:lvl4pPr>
            <a:lvl5pPr>
              <a:defRPr sz="1875" b="1">
                <a:solidFill>
                  <a:srgbClr val="0B7A75"/>
                </a:solidFill>
              </a:defRPr>
            </a:lvl5pPr>
            <a:lvl6pPr>
              <a:defRPr sz="1875" b="1">
                <a:solidFill>
                  <a:srgbClr val="0B7A75"/>
                </a:solidFill>
              </a:defRPr>
            </a:lvl6pPr>
            <a:lvl7pPr>
              <a:defRPr sz="1875" b="1">
                <a:solidFill>
                  <a:srgbClr val="0B7A75"/>
                </a:solidFill>
              </a:defRPr>
            </a:lvl7pPr>
            <a:lvl8pPr>
              <a:defRPr sz="1875" b="1">
                <a:solidFill>
                  <a:srgbClr val="0B7A75"/>
                </a:solidFill>
              </a:defRPr>
            </a:lvl8pPr>
            <a:lvl9pPr>
              <a:defRPr sz="18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B7A75"/>
                </a:solidFill>
              </a:defRPr>
            </a:pPr>
            <a:r>
              <a:rPr sz="18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ABE319-3385-49E0-B205-592A9633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9867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72B3A"/>
                </a:solidFill>
              </a:defRPr>
            </a:defPPr>
            <a:lvl1pPr>
              <a:defRPr sz="1875" b="0">
                <a:solidFill>
                  <a:srgbClr val="172B3A"/>
                </a:solidFill>
              </a:defRPr>
            </a:lvl1pPr>
            <a:lvl2pPr>
              <a:defRPr sz="1875" b="0">
                <a:solidFill>
                  <a:srgbClr val="172B3A"/>
                </a:solidFill>
              </a:defRPr>
            </a:lvl2pPr>
            <a:lvl3pPr>
              <a:defRPr sz="1875" b="0">
                <a:solidFill>
                  <a:srgbClr val="172B3A"/>
                </a:solidFill>
              </a:defRPr>
            </a:lvl3pPr>
            <a:lvl4pPr>
              <a:defRPr sz="1875" b="0">
                <a:solidFill>
                  <a:srgbClr val="172B3A"/>
                </a:solidFill>
              </a:defRPr>
            </a:lvl4pPr>
            <a:lvl5pPr>
              <a:defRPr sz="1875" b="0">
                <a:solidFill>
                  <a:srgbClr val="172B3A"/>
                </a:solidFill>
              </a:defRPr>
            </a:lvl5pPr>
            <a:lvl6pPr>
              <a:defRPr sz="1875" b="0">
                <a:solidFill>
                  <a:srgbClr val="172B3A"/>
                </a:solidFill>
              </a:defRPr>
            </a:lvl6pPr>
            <a:lvl7pPr>
              <a:defRPr sz="1875" b="0">
                <a:solidFill>
                  <a:srgbClr val="172B3A"/>
                </a:solidFill>
              </a:defRPr>
            </a:lvl7pPr>
            <a:lvl8pPr>
              <a:defRPr sz="1875" b="0">
                <a:solidFill>
                  <a:srgbClr val="172B3A"/>
                </a:solidFill>
              </a:defRPr>
            </a:lvl8pPr>
            <a:lvl9pPr>
              <a:defRPr sz="18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2B3A"/>
                </a:solidFill>
              </a:defRPr>
            </a:pPr>
            <a:r>
              <a:rPr sz="1875" b="0">
                <a:solidFill>
                  <a:srgbClr val="172B3A"/>
                </a:solidFill>
              </a:rPr>
              <a:t>Known limitation: generator labels and signals share the same simplified assumptions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104453-3965-46F2-ABBB-D09DCE9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 synthetic benchmark cannot establish performance under real sensor noise or clinical variation.</a:t>
            </a:r>
          </a:p>
        </p:txBody>
      </p:sp>
    </p:spTree>
    <p:extLst>
      <p:ext uri="{BB962C8B-B14F-4D97-AF65-F5344CB8AC3E}">
        <p14:creationId xmlns:p14="http://schemas.microsoft.com/office/powerpoint/2010/main" val="500527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322C5-2494-4560-A5C7-0DE61D80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Dashboard and Apple Health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647D3-DC2B-451D-B680-73A88F9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FCEDF-C63C-440D-95BA-B8D87083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AD2F96-CDEA-40C9-9BF6-FFC702CD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899CE-8E5B-44EB-AE33-4BAEA96F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3355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Streaming XML parser for a limited HealthKit export subset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E9295-78BC-4E61-A51A-ABF5DBC6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9B21A-A5DE-4634-92BB-AF9A55EF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1460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Synthetic export writer; upload the file in the Streamlit demo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B9ECF-E162-4823-A82E-461CA422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CEB99-7E42-4A1E-9E39-513A46FF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Canonical daily records include wrist temperature, resting HR, HRV, steps and period starts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A3DAA-D7CB-4EA7-B28C-0CE2762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D4224-6EF2-4008-A088-AF4F248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996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CSV adapter supports date, temp, rhr, hrv, steps, period_start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B7742B-1CF4-4882-AB0F-605EA0BF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 synthetic export is a schema-compatibility smoke test, n=1; it clinically validates nothing.</a:t>
            </a:r>
          </a:p>
        </p:txBody>
      </p:sp>
    </p:spTree>
    <p:extLst>
      <p:ext uri="{BB962C8B-B14F-4D97-AF65-F5344CB8AC3E}">
        <p14:creationId xmlns:p14="http://schemas.microsoft.com/office/powerpoint/2010/main" val="37868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F86CE-0AC3-4DEA-A67D-3F583C87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Related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60CFE3-ADCC-45E3-BF7E-95AAFC351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AD0EC-F638-46BF-B58A-788E510C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F90B46-92C5-4471-B923-CCC4D104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B7A75"/>
                </a:solidFill>
              </a:defRPr>
            </a:defPPr>
            <a:lvl1pPr>
              <a:defRPr sz="1575" b="1">
                <a:solidFill>
                  <a:srgbClr val="0B7A75"/>
                </a:solidFill>
              </a:defRPr>
            </a:lvl1pPr>
            <a:lvl2pPr>
              <a:defRPr sz="1575" b="1">
                <a:solidFill>
                  <a:srgbClr val="0B7A75"/>
                </a:solidFill>
              </a:defRPr>
            </a:lvl2pPr>
            <a:lvl3pPr>
              <a:defRPr sz="1575" b="1">
                <a:solidFill>
                  <a:srgbClr val="0B7A75"/>
                </a:solidFill>
              </a:defRPr>
            </a:lvl3pPr>
            <a:lvl4pPr>
              <a:defRPr sz="1575" b="1">
                <a:solidFill>
                  <a:srgbClr val="0B7A75"/>
                </a:solidFill>
              </a:defRPr>
            </a:lvl4pPr>
            <a:lvl5pPr>
              <a:defRPr sz="1575" b="1">
                <a:solidFill>
                  <a:srgbClr val="0B7A75"/>
                </a:solidFill>
              </a:defRPr>
            </a:lvl5pPr>
            <a:lvl6pPr>
              <a:defRPr sz="1575" b="1">
                <a:solidFill>
                  <a:srgbClr val="0B7A75"/>
                </a:solidFill>
              </a:defRPr>
            </a:lvl6pPr>
            <a:lvl7pPr>
              <a:defRPr sz="1575" b="1">
                <a:solidFill>
                  <a:srgbClr val="0B7A75"/>
                </a:solidFill>
              </a:defRPr>
            </a:lvl7pPr>
            <a:lvl8pPr>
              <a:defRPr sz="1575" b="1">
                <a:solidFill>
                  <a:srgbClr val="0B7A75"/>
                </a:solidFill>
              </a:defRPr>
            </a:lvl8pPr>
            <a:lvl9pPr>
              <a:defRPr sz="15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7A75"/>
                </a:solidFill>
              </a:defRPr>
            </a:pPr>
            <a:r>
              <a:rPr sz="15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AC37EE-2E44-415E-9141-A479A26B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192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B3A"/>
                </a:solidFill>
              </a:defRPr>
            </a:defPPr>
            <a:lvl1pPr>
              <a:defRPr sz="1575" b="0">
                <a:solidFill>
                  <a:srgbClr val="172B3A"/>
                </a:solidFill>
              </a:defRPr>
            </a:lvl1pPr>
            <a:lvl2pPr>
              <a:defRPr sz="1575" b="0">
                <a:solidFill>
                  <a:srgbClr val="172B3A"/>
                </a:solidFill>
              </a:defRPr>
            </a:lvl2pPr>
            <a:lvl3pPr>
              <a:defRPr sz="1575" b="0">
                <a:solidFill>
                  <a:srgbClr val="172B3A"/>
                </a:solidFill>
              </a:defRPr>
            </a:lvl3pPr>
            <a:lvl4pPr>
              <a:defRPr sz="1575" b="0">
                <a:solidFill>
                  <a:srgbClr val="172B3A"/>
                </a:solidFill>
              </a:defRPr>
            </a:lvl4pPr>
            <a:lvl5pPr>
              <a:defRPr sz="1575" b="0">
                <a:solidFill>
                  <a:srgbClr val="172B3A"/>
                </a:solidFill>
              </a:defRPr>
            </a:lvl5pPr>
            <a:lvl6pPr>
              <a:defRPr sz="1575" b="0">
                <a:solidFill>
                  <a:srgbClr val="172B3A"/>
                </a:solidFill>
              </a:defRPr>
            </a:lvl6pPr>
            <a:lvl7pPr>
              <a:defRPr sz="1575" b="0">
                <a:solidFill>
                  <a:srgbClr val="172B3A"/>
                </a:solidFill>
              </a:defRPr>
            </a:lvl7pPr>
            <a:lvl8pPr>
              <a:defRPr sz="1575" b="0">
                <a:solidFill>
                  <a:srgbClr val="172B3A"/>
                </a:solidFill>
              </a:defRPr>
            </a:lvl8pPr>
            <a:lvl9pPr>
              <a:defRPr sz="15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Teede et al. · PMOS naming consensus · The Lancet,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7CA0B-D6C7-44B9-A3D6-342DE01B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B7A75"/>
                </a:solidFill>
              </a:defRPr>
            </a:defPPr>
            <a:lvl1pPr>
              <a:defRPr sz="1575" b="1">
                <a:solidFill>
                  <a:srgbClr val="0B7A75"/>
                </a:solidFill>
              </a:defRPr>
            </a:lvl1pPr>
            <a:lvl2pPr>
              <a:defRPr sz="1575" b="1">
                <a:solidFill>
                  <a:srgbClr val="0B7A75"/>
                </a:solidFill>
              </a:defRPr>
            </a:lvl2pPr>
            <a:lvl3pPr>
              <a:defRPr sz="1575" b="1">
                <a:solidFill>
                  <a:srgbClr val="0B7A75"/>
                </a:solidFill>
              </a:defRPr>
            </a:lvl3pPr>
            <a:lvl4pPr>
              <a:defRPr sz="1575" b="1">
                <a:solidFill>
                  <a:srgbClr val="0B7A75"/>
                </a:solidFill>
              </a:defRPr>
            </a:lvl4pPr>
            <a:lvl5pPr>
              <a:defRPr sz="1575" b="1">
                <a:solidFill>
                  <a:srgbClr val="0B7A75"/>
                </a:solidFill>
              </a:defRPr>
            </a:lvl5pPr>
            <a:lvl6pPr>
              <a:defRPr sz="1575" b="1">
                <a:solidFill>
                  <a:srgbClr val="0B7A75"/>
                </a:solidFill>
              </a:defRPr>
            </a:lvl6pPr>
            <a:lvl7pPr>
              <a:defRPr sz="1575" b="1">
                <a:solidFill>
                  <a:srgbClr val="0B7A75"/>
                </a:solidFill>
              </a:defRPr>
            </a:lvl7pPr>
            <a:lvl8pPr>
              <a:defRPr sz="1575" b="1">
                <a:solidFill>
                  <a:srgbClr val="0B7A75"/>
                </a:solidFill>
              </a:defRPr>
            </a:lvl8pPr>
            <a:lvl9pPr>
              <a:defRPr sz="15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7A75"/>
                </a:solidFill>
              </a:defRPr>
            </a:pPr>
            <a:r>
              <a:rPr sz="15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CC200-819D-4262-9202-AA1242D0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B3A"/>
                </a:solidFill>
              </a:defRPr>
            </a:defPPr>
            <a:lvl1pPr>
              <a:defRPr sz="1575" b="0">
                <a:solidFill>
                  <a:srgbClr val="172B3A"/>
                </a:solidFill>
              </a:defRPr>
            </a:lvl1pPr>
            <a:lvl2pPr>
              <a:defRPr sz="1575" b="0">
                <a:solidFill>
                  <a:srgbClr val="172B3A"/>
                </a:solidFill>
              </a:defRPr>
            </a:lvl2pPr>
            <a:lvl3pPr>
              <a:defRPr sz="1575" b="0">
                <a:solidFill>
                  <a:srgbClr val="172B3A"/>
                </a:solidFill>
              </a:defRPr>
            </a:lvl3pPr>
            <a:lvl4pPr>
              <a:defRPr sz="1575" b="0">
                <a:solidFill>
                  <a:srgbClr val="172B3A"/>
                </a:solidFill>
              </a:defRPr>
            </a:lvl4pPr>
            <a:lvl5pPr>
              <a:defRPr sz="1575" b="0">
                <a:solidFill>
                  <a:srgbClr val="172B3A"/>
                </a:solidFill>
              </a:defRPr>
            </a:lvl5pPr>
            <a:lvl6pPr>
              <a:defRPr sz="1575" b="0">
                <a:solidFill>
                  <a:srgbClr val="172B3A"/>
                </a:solidFill>
              </a:defRPr>
            </a:lvl6pPr>
            <a:lvl7pPr>
              <a:defRPr sz="1575" b="0">
                <a:solidFill>
                  <a:srgbClr val="172B3A"/>
                </a:solidFill>
              </a:defRPr>
            </a:lvl7pPr>
            <a:lvl8pPr>
              <a:defRPr sz="1575" b="0">
                <a:solidFill>
                  <a:srgbClr val="172B3A"/>
                </a:solidFill>
              </a:defRPr>
            </a:lvl8pPr>
            <a:lvl9pPr>
              <a:defRPr sz="15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Teede et al. · 2023 international guideline · JCEM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C557F-8183-499C-BDBA-F34E9473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B7A75"/>
                </a:solidFill>
              </a:defRPr>
            </a:defPPr>
            <a:lvl1pPr>
              <a:defRPr sz="1575" b="1">
                <a:solidFill>
                  <a:srgbClr val="0B7A75"/>
                </a:solidFill>
              </a:defRPr>
            </a:lvl1pPr>
            <a:lvl2pPr>
              <a:defRPr sz="1575" b="1">
                <a:solidFill>
                  <a:srgbClr val="0B7A75"/>
                </a:solidFill>
              </a:defRPr>
            </a:lvl2pPr>
            <a:lvl3pPr>
              <a:defRPr sz="1575" b="1">
                <a:solidFill>
                  <a:srgbClr val="0B7A75"/>
                </a:solidFill>
              </a:defRPr>
            </a:lvl3pPr>
            <a:lvl4pPr>
              <a:defRPr sz="1575" b="1">
                <a:solidFill>
                  <a:srgbClr val="0B7A75"/>
                </a:solidFill>
              </a:defRPr>
            </a:lvl4pPr>
            <a:lvl5pPr>
              <a:defRPr sz="1575" b="1">
                <a:solidFill>
                  <a:srgbClr val="0B7A75"/>
                </a:solidFill>
              </a:defRPr>
            </a:lvl5pPr>
            <a:lvl6pPr>
              <a:defRPr sz="1575" b="1">
                <a:solidFill>
                  <a:srgbClr val="0B7A75"/>
                </a:solidFill>
              </a:defRPr>
            </a:lvl6pPr>
            <a:lvl7pPr>
              <a:defRPr sz="1575" b="1">
                <a:solidFill>
                  <a:srgbClr val="0B7A75"/>
                </a:solidFill>
              </a:defRPr>
            </a:lvl7pPr>
            <a:lvl8pPr>
              <a:defRPr sz="1575" b="1">
                <a:solidFill>
                  <a:srgbClr val="0B7A75"/>
                </a:solidFill>
              </a:defRPr>
            </a:lvl8pPr>
            <a:lvl9pPr>
              <a:defRPr sz="15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7A75"/>
                </a:solidFill>
              </a:defRPr>
            </a:pPr>
            <a:r>
              <a:rPr sz="15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938476-BD4D-4CD1-A0CC-9D852E15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813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B3A"/>
                </a:solidFill>
              </a:defRPr>
            </a:defPPr>
            <a:lvl1pPr>
              <a:defRPr sz="1575" b="0">
                <a:solidFill>
                  <a:srgbClr val="172B3A"/>
                </a:solidFill>
              </a:defRPr>
            </a:lvl1pPr>
            <a:lvl2pPr>
              <a:defRPr sz="1575" b="0">
                <a:solidFill>
                  <a:srgbClr val="172B3A"/>
                </a:solidFill>
              </a:defRPr>
            </a:lvl2pPr>
            <a:lvl3pPr>
              <a:defRPr sz="1575" b="0">
                <a:solidFill>
                  <a:srgbClr val="172B3A"/>
                </a:solidFill>
              </a:defRPr>
            </a:lvl3pPr>
            <a:lvl4pPr>
              <a:defRPr sz="1575" b="0">
                <a:solidFill>
                  <a:srgbClr val="172B3A"/>
                </a:solidFill>
              </a:defRPr>
            </a:lvl4pPr>
            <a:lvl5pPr>
              <a:defRPr sz="1575" b="0">
                <a:solidFill>
                  <a:srgbClr val="172B3A"/>
                </a:solidFill>
              </a:defRPr>
            </a:lvl5pPr>
            <a:lvl6pPr>
              <a:defRPr sz="1575" b="0">
                <a:solidFill>
                  <a:srgbClr val="172B3A"/>
                </a:solidFill>
              </a:defRPr>
            </a:lvl6pPr>
            <a:lvl7pPr>
              <a:defRPr sz="1575" b="0">
                <a:solidFill>
                  <a:srgbClr val="172B3A"/>
                </a:solidFill>
              </a:defRPr>
            </a:lvl7pPr>
            <a:lvl8pPr>
              <a:defRPr sz="1575" b="0">
                <a:solidFill>
                  <a:srgbClr val="172B3A"/>
                </a:solidFill>
              </a:defRPr>
            </a:lvl8pPr>
            <a:lvl9pPr>
              <a:defRPr sz="15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Lin et al. · cycle glucose variation using CGM · npj Digital Medicine, 2023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521CA-6ACF-44D8-A1F6-C9B05A19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1">
                <a:solidFill>
                  <a:srgbClr val="0B7A75"/>
                </a:solidFill>
              </a:defRPr>
            </a:defPPr>
            <a:lvl1pPr>
              <a:defRPr sz="1575" b="1">
                <a:solidFill>
                  <a:srgbClr val="0B7A75"/>
                </a:solidFill>
              </a:defRPr>
            </a:lvl1pPr>
            <a:lvl2pPr>
              <a:defRPr sz="1575" b="1">
                <a:solidFill>
                  <a:srgbClr val="0B7A75"/>
                </a:solidFill>
              </a:defRPr>
            </a:lvl2pPr>
            <a:lvl3pPr>
              <a:defRPr sz="1575" b="1">
                <a:solidFill>
                  <a:srgbClr val="0B7A75"/>
                </a:solidFill>
              </a:defRPr>
            </a:lvl3pPr>
            <a:lvl4pPr>
              <a:defRPr sz="1575" b="1">
                <a:solidFill>
                  <a:srgbClr val="0B7A75"/>
                </a:solidFill>
              </a:defRPr>
            </a:lvl4pPr>
            <a:lvl5pPr>
              <a:defRPr sz="1575" b="1">
                <a:solidFill>
                  <a:srgbClr val="0B7A75"/>
                </a:solidFill>
              </a:defRPr>
            </a:lvl5pPr>
            <a:lvl6pPr>
              <a:defRPr sz="1575" b="1">
                <a:solidFill>
                  <a:srgbClr val="0B7A75"/>
                </a:solidFill>
              </a:defRPr>
            </a:lvl6pPr>
            <a:lvl7pPr>
              <a:defRPr sz="1575" b="1">
                <a:solidFill>
                  <a:srgbClr val="0B7A75"/>
                </a:solidFill>
              </a:defRPr>
            </a:lvl7pPr>
            <a:lvl8pPr>
              <a:defRPr sz="1575" b="1">
                <a:solidFill>
                  <a:srgbClr val="0B7A75"/>
                </a:solidFill>
              </a:defRPr>
            </a:lvl8pPr>
            <a:lvl9pPr>
              <a:defRPr sz="1575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B7A75"/>
                </a:solidFill>
              </a:defRPr>
            </a:pPr>
            <a:r>
              <a:rPr sz="1575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0983F-F250-4631-B946-77FB57CC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75" b="0">
                <a:solidFill>
                  <a:srgbClr val="172B3A"/>
                </a:solidFill>
              </a:defRPr>
            </a:defPPr>
            <a:lvl1pPr>
              <a:defRPr sz="1575" b="0">
                <a:solidFill>
                  <a:srgbClr val="172B3A"/>
                </a:solidFill>
              </a:defRPr>
            </a:lvl1pPr>
            <a:lvl2pPr>
              <a:defRPr sz="1575" b="0">
                <a:solidFill>
                  <a:srgbClr val="172B3A"/>
                </a:solidFill>
              </a:defRPr>
            </a:lvl2pPr>
            <a:lvl3pPr>
              <a:defRPr sz="1575" b="0">
                <a:solidFill>
                  <a:srgbClr val="172B3A"/>
                </a:solidFill>
              </a:defRPr>
            </a:lvl3pPr>
            <a:lvl4pPr>
              <a:defRPr sz="1575" b="0">
                <a:solidFill>
                  <a:srgbClr val="172B3A"/>
                </a:solidFill>
              </a:defRPr>
            </a:lvl4pPr>
            <a:lvl5pPr>
              <a:defRPr sz="1575" b="0">
                <a:solidFill>
                  <a:srgbClr val="172B3A"/>
                </a:solidFill>
              </a:defRPr>
            </a:lvl5pPr>
            <a:lvl6pPr>
              <a:defRPr sz="1575" b="0">
                <a:solidFill>
                  <a:srgbClr val="172B3A"/>
                </a:solidFill>
              </a:defRPr>
            </a:lvl6pPr>
            <a:lvl7pPr>
              <a:defRPr sz="1575" b="0">
                <a:solidFill>
                  <a:srgbClr val="172B3A"/>
                </a:solidFill>
              </a:defRPr>
            </a:lvl7pPr>
            <a:lvl8pPr>
              <a:defRPr sz="1575" b="0">
                <a:solidFill>
                  <a:srgbClr val="172B3A"/>
                </a:solidFill>
              </a:defRPr>
            </a:lvl8pPr>
            <a:lvl9pPr>
              <a:defRPr sz="15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2B3A"/>
                </a:solidFill>
              </a:defRPr>
            </a:pPr>
            <a:r>
              <a:rPr sz="1575" b="0">
                <a:solidFill>
                  <a:srgbClr val="172B3A"/>
                </a:solidFill>
              </a:rPr>
              <a:t>Collins et al. · TRIPOD+AI reporting guidance · BMJ, 2024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33736-4EC1-4A9F-89DA-596E562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596B76"/>
                </a:solidFill>
              </a:defRPr>
            </a:defPPr>
            <a:lvl1pPr>
              <a:defRPr sz="1500" b="0">
                <a:solidFill>
                  <a:srgbClr val="596B76"/>
                </a:solidFill>
              </a:defRPr>
            </a:lvl1pPr>
            <a:lvl2pPr>
              <a:defRPr sz="1500" b="0">
                <a:solidFill>
                  <a:srgbClr val="596B76"/>
                </a:solidFill>
              </a:defRPr>
            </a:lvl2pPr>
            <a:lvl3pPr>
              <a:defRPr sz="1500" b="0">
                <a:solidFill>
                  <a:srgbClr val="596B76"/>
                </a:solidFill>
              </a:defRPr>
            </a:lvl3pPr>
            <a:lvl4pPr>
              <a:defRPr sz="1500" b="0">
                <a:solidFill>
                  <a:srgbClr val="596B76"/>
                </a:solidFill>
              </a:defRPr>
            </a:lvl4pPr>
            <a:lvl5pPr>
              <a:defRPr sz="1500" b="0">
                <a:solidFill>
                  <a:srgbClr val="596B76"/>
                </a:solidFill>
              </a:defRPr>
            </a:lvl5pPr>
            <a:lvl6pPr>
              <a:defRPr sz="1500" b="0">
                <a:solidFill>
                  <a:srgbClr val="596B76"/>
                </a:solidFill>
              </a:defRPr>
            </a:lvl6pPr>
            <a:lvl7pPr>
              <a:defRPr sz="1500" b="0">
                <a:solidFill>
                  <a:srgbClr val="596B76"/>
                </a:solidFill>
              </a:defRPr>
            </a:lvl7pPr>
            <a:lvl8pPr>
              <a:defRPr sz="1500" b="0">
                <a:solidFill>
                  <a:srgbClr val="596B76"/>
                </a:solidFill>
              </a:defRPr>
            </a:lvl8pPr>
            <a:lvl9pPr>
              <a:defRPr sz="15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B76"/>
                </a:solidFill>
              </a:defRPr>
            </a:pPr>
            <a:r>
              <a:rPr sz="1500" b="0">
                <a:solidFill>
                  <a:srgbClr val="596B76"/>
                </a:solidFill>
              </a:rPr>
              <a:t>These works inform terminology, future measurement choices and reporting. They do not validate this simulator.</a:t>
            </a:r>
          </a:p>
        </p:txBody>
      </p:sp>
    </p:spTree>
    <p:extLst>
      <p:ext uri="{BB962C8B-B14F-4D97-AF65-F5344CB8AC3E}">
        <p14:creationId xmlns:p14="http://schemas.microsoft.com/office/powerpoint/2010/main" val="8395006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9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7C3A64-E4F5-4344-B83B-EF686BBA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 b="1">
                <a:solidFill>
                  <a:srgbClr val="172B3A"/>
                </a:solidFill>
              </a:defRPr>
            </a:defPPr>
            <a:lvl1pPr>
              <a:defRPr sz="2550" b="1">
                <a:solidFill>
                  <a:srgbClr val="172B3A"/>
                </a:solidFill>
              </a:defRPr>
            </a:lvl1pPr>
            <a:lvl2pPr>
              <a:defRPr sz="2550" b="1">
                <a:solidFill>
                  <a:srgbClr val="172B3A"/>
                </a:solidFill>
              </a:defRPr>
            </a:lvl2pPr>
            <a:lvl3pPr>
              <a:defRPr sz="2550" b="1">
                <a:solidFill>
                  <a:srgbClr val="172B3A"/>
                </a:solidFill>
              </a:defRPr>
            </a:lvl3pPr>
            <a:lvl4pPr>
              <a:defRPr sz="2550" b="1">
                <a:solidFill>
                  <a:srgbClr val="172B3A"/>
                </a:solidFill>
              </a:defRPr>
            </a:lvl4pPr>
            <a:lvl5pPr>
              <a:defRPr sz="2550" b="1">
                <a:solidFill>
                  <a:srgbClr val="172B3A"/>
                </a:solidFill>
              </a:defRPr>
            </a:lvl5pPr>
            <a:lvl6pPr>
              <a:defRPr sz="2550" b="1">
                <a:solidFill>
                  <a:srgbClr val="172B3A"/>
                </a:solidFill>
              </a:defRPr>
            </a:lvl6pPr>
            <a:lvl7pPr>
              <a:defRPr sz="2550" b="1">
                <a:solidFill>
                  <a:srgbClr val="172B3A"/>
                </a:solidFill>
              </a:defRPr>
            </a:lvl7pPr>
            <a:lvl8pPr>
              <a:defRPr sz="2550" b="1">
                <a:solidFill>
                  <a:srgbClr val="172B3A"/>
                </a:solidFill>
              </a:defRPr>
            </a:lvl8pPr>
            <a:lvl9pPr>
              <a:defRPr sz="2550" b="1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2B3A"/>
                </a:solidFill>
              </a:defRPr>
            </a:pPr>
            <a:r>
              <a:rPr sz="2550" b="1">
                <a:solidFill>
                  <a:srgbClr val="172B3A"/>
                </a:solidFill>
              </a:rPr>
              <a:t>Limits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68972-EC64-43E0-94D9-F5A823DA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A75"/>
          </a:solidFill>
          <a:ln xmlns:a="http://schemas.openxmlformats.org/drawingml/2006/main" w="0">
            <a:solidFill>
              <a:srgbClr val="0B7A75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057F7-FDD1-42CC-B0B9-F50B07DC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00" b="0">
                <a:solidFill>
                  <a:srgbClr val="596B76"/>
                </a:solidFill>
              </a:defRPr>
            </a:defPPr>
            <a:lvl1pPr>
              <a:defRPr sz="900" b="0">
                <a:solidFill>
                  <a:srgbClr val="596B76"/>
                </a:solidFill>
              </a:defRPr>
            </a:lvl1pPr>
            <a:lvl2pPr>
              <a:defRPr sz="900" b="0">
                <a:solidFill>
                  <a:srgbClr val="596B76"/>
                </a:solidFill>
              </a:defRPr>
            </a:lvl2pPr>
            <a:lvl3pPr>
              <a:defRPr sz="900" b="0">
                <a:solidFill>
                  <a:srgbClr val="596B76"/>
                </a:solidFill>
              </a:defRPr>
            </a:lvl3pPr>
            <a:lvl4pPr>
              <a:defRPr sz="900" b="0">
                <a:solidFill>
                  <a:srgbClr val="596B76"/>
                </a:solidFill>
              </a:defRPr>
            </a:lvl4pPr>
            <a:lvl5pPr>
              <a:defRPr sz="900" b="0">
                <a:solidFill>
                  <a:srgbClr val="596B76"/>
                </a:solidFill>
              </a:defRPr>
            </a:lvl5pPr>
            <a:lvl6pPr>
              <a:defRPr sz="900" b="0">
                <a:solidFill>
                  <a:srgbClr val="596B76"/>
                </a:solidFill>
              </a:defRPr>
            </a:lvl6pPr>
            <a:lvl7pPr>
              <a:defRPr sz="900" b="0">
                <a:solidFill>
                  <a:srgbClr val="596B76"/>
                </a:solidFill>
              </a:defRPr>
            </a:lvl7pPr>
            <a:lvl8pPr>
              <a:defRPr sz="900" b="0">
                <a:solidFill>
                  <a:srgbClr val="596B76"/>
                </a:solidFill>
              </a:defRPr>
            </a:lvl8pPr>
            <a:lvl9pPr>
              <a:defRPr sz="900" b="0">
                <a:solidFill>
                  <a:srgbClr val="596B76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596B76"/>
                </a:solidFill>
              </a:defRPr>
            </a:pPr>
            <a:r>
              <a:rPr sz="900" b="0">
                <a:solidFill>
                  <a:srgbClr val="596B76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1309E-5F2D-4DA4-A793-DDF76C21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8922F-0850-41A7-831B-9D546C63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Add coupled reproductive and metabolic dynamics with a shared latent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0D081-F70A-4851-B790-A12E06D3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BF0ED3-C97F-4C18-B0AA-79C7401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Implement abstention, split conformal intervals and the alert-history budget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FCBD30-E244-4CE3-9646-D0417AFE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68A1E-C503-4332-AB5C-C9275B2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Add CGM/EHR tiers, counterfactuals and robustness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628CF-89BF-4926-B111-2014F9A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0B7A75"/>
                </a:solidFill>
              </a:defRPr>
            </a:defPPr>
            <a:lvl1pPr>
              <a:defRPr sz="1800" b="1">
                <a:solidFill>
                  <a:srgbClr val="0B7A75"/>
                </a:solidFill>
              </a:defRPr>
            </a:lvl1pPr>
            <a:lvl2pPr>
              <a:defRPr sz="1800" b="1">
                <a:solidFill>
                  <a:srgbClr val="0B7A75"/>
                </a:solidFill>
              </a:defRPr>
            </a:lvl2pPr>
            <a:lvl3pPr>
              <a:defRPr sz="1800" b="1">
                <a:solidFill>
                  <a:srgbClr val="0B7A75"/>
                </a:solidFill>
              </a:defRPr>
            </a:lvl3pPr>
            <a:lvl4pPr>
              <a:defRPr sz="1800" b="1">
                <a:solidFill>
                  <a:srgbClr val="0B7A75"/>
                </a:solidFill>
              </a:defRPr>
            </a:lvl4pPr>
            <a:lvl5pPr>
              <a:defRPr sz="1800" b="1">
                <a:solidFill>
                  <a:srgbClr val="0B7A75"/>
                </a:solidFill>
              </a:defRPr>
            </a:lvl5pPr>
            <a:lvl6pPr>
              <a:defRPr sz="1800" b="1">
                <a:solidFill>
                  <a:srgbClr val="0B7A75"/>
                </a:solidFill>
              </a:defRPr>
            </a:lvl6pPr>
            <a:lvl7pPr>
              <a:defRPr sz="1800" b="1">
                <a:solidFill>
                  <a:srgbClr val="0B7A75"/>
                </a:solidFill>
              </a:defRPr>
            </a:lvl7pPr>
            <a:lvl8pPr>
              <a:defRPr sz="1800" b="1">
                <a:solidFill>
                  <a:srgbClr val="0B7A75"/>
                </a:solidFill>
              </a:defRPr>
            </a:lvl8pPr>
            <a:lvl9pPr>
              <a:defRPr sz="180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B7A75"/>
                </a:solidFill>
              </a:defRPr>
            </a:pPr>
            <a:r>
              <a:rPr sz="1800" b="1">
                <a:solidFill>
                  <a:srgbClr val="0B7A7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285B5-EE56-4AC2-AEB0-49040FC6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19550"/>
            <a:ext cx="10058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72B3A"/>
                </a:solidFill>
              </a:defRPr>
            </a:defPPr>
            <a:lvl1pPr>
              <a:defRPr sz="1800" b="0">
                <a:solidFill>
                  <a:srgbClr val="172B3A"/>
                </a:solidFill>
              </a:defRPr>
            </a:lvl1pPr>
            <a:lvl2pPr>
              <a:defRPr sz="1800" b="0">
                <a:solidFill>
                  <a:srgbClr val="172B3A"/>
                </a:solidFill>
              </a:defRPr>
            </a:lvl2pPr>
            <a:lvl3pPr>
              <a:defRPr sz="1800" b="0">
                <a:solidFill>
                  <a:srgbClr val="172B3A"/>
                </a:solidFill>
              </a:defRPr>
            </a:lvl3pPr>
            <a:lvl4pPr>
              <a:defRPr sz="1800" b="0">
                <a:solidFill>
                  <a:srgbClr val="172B3A"/>
                </a:solidFill>
              </a:defRPr>
            </a:lvl4pPr>
            <a:lvl5pPr>
              <a:defRPr sz="1800" b="0">
                <a:solidFill>
                  <a:srgbClr val="172B3A"/>
                </a:solidFill>
              </a:defRPr>
            </a:lvl5pPr>
            <a:lvl6pPr>
              <a:defRPr sz="1800" b="0">
                <a:solidFill>
                  <a:srgbClr val="172B3A"/>
                </a:solidFill>
              </a:defRPr>
            </a:lvl6pPr>
            <a:lvl7pPr>
              <a:defRPr sz="1800" b="0">
                <a:solidFill>
                  <a:srgbClr val="172B3A"/>
                </a:solidFill>
              </a:defRPr>
            </a:lvl7pPr>
            <a:lvl8pPr>
              <a:defRPr sz="1800" b="0">
                <a:solidFill>
                  <a:srgbClr val="172B3A"/>
                </a:solidFill>
              </a:defRPr>
            </a:lvl8pPr>
            <a:lvl9pPr>
              <a:defRPr sz="1800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B3A"/>
                </a:solidFill>
              </a:defRPr>
            </a:pPr>
            <a:r>
              <a:rPr sz="1800" b="0">
                <a:solidFill>
                  <a:srgbClr val="172B3A"/>
                </a:solidFill>
              </a:rPr>
              <a:t>Seek clinician co-design and real-data validation before any clinical use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D91622-7DFA-426B-9546-A391A9B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1">
                <a:solidFill>
                  <a:srgbClr val="0B7A75"/>
                </a:solidFill>
              </a:defRPr>
            </a:defPPr>
            <a:lvl1pPr>
              <a:defRPr sz="1350" b="1">
                <a:solidFill>
                  <a:srgbClr val="0B7A75"/>
                </a:solidFill>
              </a:defRPr>
            </a:lvl1pPr>
            <a:lvl2pPr>
              <a:defRPr sz="1350" b="1">
                <a:solidFill>
                  <a:srgbClr val="0B7A75"/>
                </a:solidFill>
              </a:defRPr>
            </a:lvl2pPr>
            <a:lvl3pPr>
              <a:defRPr sz="1350" b="1">
                <a:solidFill>
                  <a:srgbClr val="0B7A75"/>
                </a:solidFill>
              </a:defRPr>
            </a:lvl3pPr>
            <a:lvl4pPr>
              <a:defRPr sz="1350" b="1">
                <a:solidFill>
                  <a:srgbClr val="0B7A75"/>
                </a:solidFill>
              </a:defRPr>
            </a:lvl4pPr>
            <a:lvl5pPr>
              <a:defRPr sz="1350" b="1">
                <a:solidFill>
                  <a:srgbClr val="0B7A75"/>
                </a:solidFill>
              </a:defRPr>
            </a:lvl5pPr>
            <a:lvl6pPr>
              <a:defRPr sz="1350" b="1">
                <a:solidFill>
                  <a:srgbClr val="0B7A75"/>
                </a:solidFill>
              </a:defRPr>
            </a:lvl6pPr>
            <a:lvl7pPr>
              <a:defRPr sz="1350" b="1">
                <a:solidFill>
                  <a:srgbClr val="0B7A75"/>
                </a:solidFill>
              </a:defRPr>
            </a:lvl7pPr>
            <a:lvl8pPr>
              <a:defRPr sz="1350" b="1">
                <a:solidFill>
                  <a:srgbClr val="0B7A75"/>
                </a:solidFill>
              </a:defRPr>
            </a:lvl8pPr>
            <a:lvl9pPr>
              <a:defRPr sz="1350" b="1">
                <a:solidFill>
                  <a:srgbClr val="0B7A75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B7A75"/>
                </a:solidFill>
              </a:defRPr>
            </a:pPr>
            <a:r>
              <a:rPr sz="1350" b="1">
                <a:solidFill>
                  <a:srgbClr val="0B7A75"/>
                </a:solidFill>
              </a:rPr>
              <a:t>Synthetic engineering prototype · no diagnosis · no treatment or reproductive planning advice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F13FED-ED36-4CD7-8DB4-6827A6C3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245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172B3A"/>
                </a:solidFill>
              </a:defRPr>
            </a:defPPr>
            <a:lvl1pPr>
              <a:defRPr sz="1275" b="0">
                <a:solidFill>
                  <a:srgbClr val="172B3A"/>
                </a:solidFill>
              </a:defRPr>
            </a:lvl1pPr>
            <a:lvl2pPr>
              <a:defRPr sz="1275" b="0">
                <a:solidFill>
                  <a:srgbClr val="172B3A"/>
                </a:solidFill>
              </a:defRPr>
            </a:lvl2pPr>
            <a:lvl3pPr>
              <a:defRPr sz="1275" b="0">
                <a:solidFill>
                  <a:srgbClr val="172B3A"/>
                </a:solidFill>
              </a:defRPr>
            </a:lvl3pPr>
            <a:lvl4pPr>
              <a:defRPr sz="1275" b="0">
                <a:solidFill>
                  <a:srgbClr val="172B3A"/>
                </a:solidFill>
              </a:defRPr>
            </a:lvl4pPr>
            <a:lvl5pPr>
              <a:defRPr sz="1275" b="0">
                <a:solidFill>
                  <a:srgbClr val="172B3A"/>
                </a:solidFill>
              </a:defRPr>
            </a:lvl5pPr>
            <a:lvl6pPr>
              <a:defRPr sz="1275" b="0">
                <a:solidFill>
                  <a:srgbClr val="172B3A"/>
                </a:solidFill>
              </a:defRPr>
            </a:lvl6pPr>
            <a:lvl7pPr>
              <a:defRPr sz="1275" b="0">
                <a:solidFill>
                  <a:srgbClr val="172B3A"/>
                </a:solidFill>
              </a:defRPr>
            </a:lvl7pPr>
            <a:lvl8pPr>
              <a:defRPr sz="1275" b="0">
                <a:solidFill>
                  <a:srgbClr val="172B3A"/>
                </a:solidFill>
              </a:defRPr>
            </a:lvl8pPr>
            <a:lvl9pPr>
              <a:defRPr sz="1275" b="0">
                <a:solidFill>
                  <a:srgbClr val="172B3A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2B3A"/>
                </a:solidFill>
              </a:defRPr>
            </a:pPr>
            <a:r>
              <a:rPr sz="1275" b="0">
                <a:solidFill>
                  <a:srgbClr val="172B3A"/>
                </a:solidFill>
              </a:rPr>
              <a:t>Not for diagnosis, contraception or conception planning.</a:t>
            </a:r>
          </a:p>
        </p:txBody>
      </p:sp>
    </p:spTree>
    <p:extLst>
      <p:ext uri="{BB962C8B-B14F-4D97-AF65-F5344CB8AC3E}">
        <p14:creationId xmlns:p14="http://schemas.microsoft.com/office/powerpoint/2010/main" val="1475741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2026-10-19T15:17:20.9440000Z</dcterms:created>
  <dcterms:modified xsi:type="dcterms:W3CDTF">2026-10-19T15:17:20.9440000Z</dcterms:modified>
</coreProperties>
</file>