
<file path=[Content_Types].xml><?xml version="1.0" encoding="utf-8"?>
<Types xmlns="http://schemas.openxmlformats.org/package/2006/content-types">
  <Default Extension="xml" ContentType="application/vnd.openxmlformats-package.core-properties+xml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3cc9093533764fcf" /><Relationship Type="http://schemas.openxmlformats.org/officeDocument/2006/relationships/extended-properties" Target="/docProps/app.xml" Id="R3e342aae72d54337" /><Relationship Type="http://schemas.openxmlformats.org/officeDocument/2006/relationships/officeDocument" Target="/ppt/presentation.xml" Id="R223dee47fa3e4248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bbaa731bb7e04ed4"/>
  </p:sldMasterIdLst>
  <p:notesMasterIdLst>
    <p:notesMasterId xmlns:r="http://schemas.openxmlformats.org/officeDocument/2006/relationships" r:id="Reab88ce803074734"/>
  </p:notesMasterIdLst>
  <p:sldIdLst>
    <p:sldId xmlns:r="http://schemas.openxmlformats.org/officeDocument/2006/relationships" id="256" r:id="Rd17fbc372a2e4a6e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dbaafe5fe7c34d44" /><Relationship Type="http://schemas.openxmlformats.org/officeDocument/2006/relationships/slideMaster" Target="/ppt/slideMasters/slideMaster1.xml" Id="Rbbaa731bb7e04ed4" /><Relationship Type="http://schemas.openxmlformats.org/officeDocument/2006/relationships/notesMaster" Target="/ppt/notesMasters/notesMaster1.xml" Id="Reab88ce803074734" /><Relationship Type="http://schemas.openxmlformats.org/officeDocument/2006/relationships/presProps" Target="/ppt/presProps.xml" Id="R3d720d01a6534757" /><Relationship Type="http://schemas.openxmlformats.org/officeDocument/2006/relationships/tableStyles" Target="/ppt/tableStyles.xml" Id="R3f5c36e5e60940f7" /><Relationship Type="http://schemas.openxmlformats.org/officeDocument/2006/relationships/slide" Target="/ppt/slides/slide1.xml" Id="Rd17fbc372a2e4a6e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62111da697a94468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Aptos"/>
        <a:ea typeface=""/>
        <a:cs typeface=""/>
      </a:majorFont>
      <a:minorFont>
        <a:latin typeface="Aptos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16dce15df8224a93" /><Relationship Type="http://schemas.openxmlformats.org/officeDocument/2006/relationships/notesMaster" Target="/ppt/notesMasters/notesMaster1.xml" Id="R600f48fd8b634877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Source: docs/claims.json. EHR-lite is implemented. XML parsing is a separate adapter demonstration and is not connected to scoring.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a071562eaff34d48" /></Relationships>
</file>

<file path=ppt/slideLayouts/_rels/slideLayout2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5fa9ff4ea5554efe" /></Relationships>
</file>

<file path=ppt/slideLayouts/_rels/slideLayout3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27a73215ee1b4e21" /></Relationships>
</file>

<file path=ppt/slideLayouts/_rels/slideLayout4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e7f55ce3e89c42bf" /></Relationships>
</file>

<file path=ppt/slideLayouts/_rels/slideLayout5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ab606e91f5334266" /></Relationships>
</file>

<file path=ppt/slideLayouts/_rels/slideLayout6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5190f3f29c39403d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D9409868-1DFF-4C94-932F-4238B1D2882E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1219200" y="2590800"/>
            <a:ext cx="97536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>
            <a:defPPr algn="ctr"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1pPr>
            <a:lvl2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2pPr>
            <a:lvl3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3pPr>
            <a:lvl4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4pPr>
            <a:lvl5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5pPr>
            <a:lvl6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6pPr>
            <a:lvl7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7pPr>
            <a:lvl8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8pPr>
            <a:lvl9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9pPr>
          </a:lstStyle>
          <a:p xmlns:a="http://schemas.openxmlformats.org/drawingml/2006/main"/>
        </p:txBody>
      </p:sp>
      <p:sp>
        <p:nvSpPr>
          <p:cNvPr id="2" name="Subtitle">
            <a:extLst xmlns:a="http://schemas.openxmlformats.org/drawingml/2006/main">
              <a:ext uri="{FF2B5EF4-FFF2-40B4-BE49-F238E27FC236}">
                <a16:creationId xmlns:a16="http://schemas.microsoft.com/office/drawing/2014/main" id="{9D5D2144-46C0-4A2D-BB97-A0F1B101F39F}"/>
              </a:ext>
            </a:extLst>
          </p:cNvPr>
          <p:cNvSpPr>
            <a:spLocks xmlns:a="http://schemas.openxmlformats.org/drawingml/2006/main" noGrp="1"/>
          </p:cNvSpPr>
          <p:nvPr>
            <p:ph type="subTitle" idx="1"/>
          </p:nvPr>
        </p:nvSpPr>
        <p:spPr>
          <a:xfrm xmlns:a="http://schemas.openxmlformats.org/drawingml/2006/main">
            <a:off x="1828800" y="3771900"/>
            <a:ext cx="853440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>
            <a:defPPr algn="ctr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/>
        </p:txBody>
      </p:sp>
    </p:spTree>
  </p:cSld>
</p:sldLayout>
</file>

<file path=ppt/slideLayouts/slideLayout2.xml><?xml version="1.0" encoding="utf-8"?>
<p:sldLayout xmlns:p="http://schemas.openxmlformats.org/presentationml/2006/main">
  <p:cSld name="Section Header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ection title">
            <a:extLst xmlns:a="http://schemas.openxmlformats.org/drawingml/2006/main">
              <a:ext uri="{FF2B5EF4-FFF2-40B4-BE49-F238E27FC236}">
                <a16:creationId xmlns:a16="http://schemas.microsoft.com/office/drawing/2014/main" id="{AE3619D5-D00E-4F4B-8C50-8368AD9AD9D7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1219200" y="2857500"/>
            <a:ext cx="9753600" cy="1143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>
            <a:defPPr algn="ctr"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1pPr>
            <a:lvl2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2pPr>
            <a:lvl3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3pPr>
            <a:lvl4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4pPr>
            <a:lvl5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5pPr>
            <a:lvl6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6pPr>
            <a:lvl7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7pPr>
            <a:lvl8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8pPr>
            <a:lvl9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9pPr>
          </a:lstStyle>
          <a:p xmlns:a="http://schemas.openxmlformats.org/drawingml/2006/main"/>
        </p:txBody>
      </p:sp>
    </p:spTree>
  </p:cSld>
</p:sldLayout>
</file>

<file path=ppt/slideLayouts/slideLayout3.xml><?xml version="1.0" encoding="utf-8"?>
<p:sldLayout xmlns:p="http://schemas.openxmlformats.org/presentationml/2006/main">
  <p:cSld name="Title and Body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77B481BB-CA1F-45F1-BED1-59FDB6301B4B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85800" y="533400"/>
            <a:ext cx="108204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1pPr>
            <a:lvl2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2pPr>
            <a:lvl3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3pPr>
            <a:lvl4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4pPr>
            <a:lvl5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5pPr>
            <a:lvl6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6pPr>
            <a:lvl7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7pPr>
            <a:lvl8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8pPr>
            <a:lvl9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9pPr>
          </a:lstStyle>
          <a:p xmlns:a="http://schemas.openxmlformats.org/drawingml/2006/main"/>
        </p:txBody>
      </p:sp>
      <p:sp>
        <p:nvSpPr>
          <p:cNvPr id="2" name="Body">
            <a:extLst xmlns:a="http://schemas.openxmlformats.org/drawingml/2006/main">
              <a:ext uri="{FF2B5EF4-FFF2-40B4-BE49-F238E27FC236}">
                <a16:creationId xmlns:a16="http://schemas.microsoft.com/office/drawing/2014/main" id="{CC7A8921-FA65-40CC-816B-2C59C8FE8865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85800" y="1905000"/>
            <a:ext cx="108204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533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838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143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4478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1752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057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2362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2667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/>
        </p:txBody>
      </p:sp>
    </p:spTree>
  </p:cSld>
</p:sldLayout>
</file>

<file path=ppt/slideLayouts/slideLayout4.xml><?xml version="1.0" encoding="utf-8"?>
<p:sldLayout xmlns:p="http://schemas.openxmlformats.org/presentationml/2006/main">
  <p:cSld name="Title and Two Colum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Title">
            <a:extLst xmlns:a="http://schemas.openxmlformats.org/drawingml/2006/main">
              <a:ext uri="{FF2B5EF4-FFF2-40B4-BE49-F238E27FC236}">
                <a16:creationId xmlns:a16="http://schemas.microsoft.com/office/drawing/2014/main" id="{9CC9B02E-22D5-44AC-B822-B110C0AA09F8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85800" y="533400"/>
            <a:ext cx="108204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1pPr>
            <a:lvl2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2pPr>
            <a:lvl3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3pPr>
            <a:lvl4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4pPr>
            <a:lvl5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5pPr>
            <a:lvl6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6pPr>
            <a:lvl7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7pPr>
            <a:lvl8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8pPr>
            <a:lvl9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9pPr>
          </a:lstStyle>
          <a:p xmlns:a="http://schemas.openxmlformats.org/drawingml/2006/main"/>
        </p:txBody>
      </p:sp>
      <p:sp>
        <p:nvSpPr>
          <p:cNvPr id="2" name="Left column">
            <a:extLst xmlns:a="http://schemas.openxmlformats.org/drawingml/2006/main">
              <a:ext uri="{FF2B5EF4-FFF2-40B4-BE49-F238E27FC236}">
                <a16:creationId xmlns:a16="http://schemas.microsoft.com/office/drawing/2014/main" id="{211D650B-B5CC-4C4E-AE02-1CE50588FC54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85800" y="1905000"/>
            <a:ext cx="50292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533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838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143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4478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1752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057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2362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2667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/>
        </p:txBody>
      </p:sp>
      <p:sp>
        <p:nvSpPr>
          <p:cNvPr id="3" name="Right column">
            <a:extLst xmlns:a="http://schemas.openxmlformats.org/drawingml/2006/main">
              <a:ext uri="{FF2B5EF4-FFF2-40B4-BE49-F238E27FC236}">
                <a16:creationId xmlns:a16="http://schemas.microsoft.com/office/drawing/2014/main" id="{632F2F95-AA2C-4A98-9BA0-323CEEBF254E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6477000" y="1905000"/>
            <a:ext cx="50292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533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838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143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4478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1752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057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2362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2667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/>
        </p:txBody>
      </p:sp>
    </p:spTree>
  </p:cSld>
</p:sldLayout>
</file>

<file path=ppt/slideLayouts/slideLayout5.xml><?xml version="1.0" encoding="utf-8"?>
<p:sldLayout xmlns:p="http://schemas.openxmlformats.org/presentationml/2006/main">
  <p:cSld name="Title and One Colum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DDAF5F51-6B6D-499C-8240-E0E89C268EFF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85800" y="533400"/>
            <a:ext cx="108204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1pPr>
            <a:lvl2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2pPr>
            <a:lvl3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3pPr>
            <a:lvl4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4pPr>
            <a:lvl5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5pPr>
            <a:lvl6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6pPr>
            <a:lvl7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7pPr>
            <a:lvl8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8pPr>
            <a:lvl9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9pPr>
          </a:lstStyle>
          <a:p xmlns:a="http://schemas.openxmlformats.org/drawingml/2006/main"/>
        </p:txBody>
      </p:sp>
      <p:sp>
        <p:nvSpPr>
          <p:cNvPr id="2" name="Left column">
            <a:extLst xmlns:a="http://schemas.openxmlformats.org/drawingml/2006/main">
              <a:ext uri="{FF2B5EF4-FFF2-40B4-BE49-F238E27FC236}">
                <a16:creationId xmlns:a16="http://schemas.microsoft.com/office/drawing/2014/main" id="{8976B003-4D31-4BFC-89F6-5EB0A81C6568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85800" y="1905000"/>
            <a:ext cx="50292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533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838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143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4478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1752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057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2362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2667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/>
        </p:txBody>
      </p:sp>
    </p:spTree>
  </p:cSld>
</p:sldLayout>
</file>

<file path=ppt/slideLayouts/slideLayout6.xml><?xml version="1.0" encoding="utf-8"?>
<p:sldLayout xmlns:p="http://schemas.openxmlformats.org/presentationml/2006/main" type="blank">
  <p:cSld name="Blank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de6acc8a071f49e1" /><Relationship Type="http://schemas.openxmlformats.org/officeDocument/2006/relationships/slideLayout" Target="/ppt/slideLayouts/slideLayout1.xml" Id="R439b1017d0e342ab" /><Relationship Type="http://schemas.openxmlformats.org/officeDocument/2006/relationships/slideLayout" Target="/ppt/slideLayouts/slideLayout2.xml" Id="Rf937e246e80343d7" /><Relationship Type="http://schemas.openxmlformats.org/officeDocument/2006/relationships/slideLayout" Target="/ppt/slideLayouts/slideLayout3.xml" Id="R04b685e25f074b62" /><Relationship Type="http://schemas.openxmlformats.org/officeDocument/2006/relationships/slideLayout" Target="/ppt/slideLayouts/slideLayout4.xml" Id="Rcd622b34e5f04237" /><Relationship Type="http://schemas.openxmlformats.org/officeDocument/2006/relationships/slideLayout" Target="/ppt/slideLayouts/slideLayout5.xml" Id="R04d0198504c54f64" /><Relationship Type="http://schemas.openxmlformats.org/officeDocument/2006/relationships/slideLayout" Target="/ppt/slideLayouts/slideLayout6.xml" Id="R7b0a5c14db7442aa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439b1017d0e342ab"/>
    <p:sldLayoutId xmlns:r="http://schemas.openxmlformats.org/officeDocument/2006/relationships" id="2147483650" r:id="Rf937e246e80343d7"/>
    <p:sldLayoutId xmlns:r="http://schemas.openxmlformats.org/officeDocument/2006/relationships" id="2147483651" r:id="R04b685e25f074b62"/>
    <p:sldLayoutId xmlns:r="http://schemas.openxmlformats.org/officeDocument/2006/relationships" id="2147483652" r:id="Rcd622b34e5f04237"/>
    <p:sldLayoutId xmlns:r="http://schemas.openxmlformats.org/officeDocument/2006/relationships" id="2147483653" r:id="R04d0198504c54f64"/>
    <p:sldLayoutId xmlns:r="http://schemas.openxmlformats.org/officeDocument/2006/relationships" id="2147483654" r:id="R7b0a5c14db7442aa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Aptos"/>
        <a:ea typeface=""/>
        <a:cs typeface=""/>
      </a:majorFont>
      <a:minorFont>
        <a:latin typeface="Aptos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5e226fb7bd7c41ba" /><Relationship Type="http://schemas.openxmlformats.org/officeDocument/2006/relationships/notesSlide" Target="/ppt/notesSlides/notesSlide1.xml" Id="Re9e5116090494613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FAFAF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cxnSp>
        <p:nvCxn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A986E577-96EE-414D-B724-E0EDAA7E6901}"/>
              </a:ext>
            </a:extLst>
          </p:cNvPr>
          <p:cNvCxnSpPr>
            <a:stCxn xmlns:a="http://schemas.openxmlformats.org/drawingml/2006/main" id="7" idx="1"/>
            <a:endCxn xmlns:a="http://schemas.openxmlformats.org/drawingml/2006/main" id="8" idx="3"/>
          </p:cNvCxnSpPr>
          <p:nvPr/>
        </p:nvCxnSpPr>
        <p:spPr>
          <a:xfrm xmlns:a="http://schemas.openxmlformats.org/drawingml/2006/main" flipH="1">
            <a:off x="7620000" y="5214938"/>
            <a:ext cx="714375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0E766E"/>
            </a:solidFill>
            <a:tailEnd type="arrow" w="med" len="med"/>
          </a:ln>
        </p:spPr>
      </p:cxnSp>
      <p:cxnSp>
        <p:nvCxn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B6C85AE4-7682-458E-9A1B-5CB2027BA227}"/>
              </a:ext>
            </a:extLst>
          </p:cNvPr>
          <p:cNvCxnSpPr>
            <a:stCxn xmlns:a="http://schemas.openxmlformats.org/drawingml/2006/main" id="6" idx="2"/>
            <a:endCxn xmlns:a="http://schemas.openxmlformats.org/drawingml/2006/main" id="7" idx="0"/>
          </p:cNvCxnSpPr>
          <p:nvPr/>
        </p:nvCxnSpPr>
        <p:spPr>
          <a:xfrm xmlns:a="http://schemas.openxmlformats.org/drawingml/2006/main">
            <a:off x="9906000" y="4000500"/>
            <a:ext cx="0" cy="714375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0E766E"/>
            </a:solidFill>
            <a:tailEnd type="arrow" w="med" len="med"/>
          </a:ln>
        </p:spPr>
      </p:cxnSp>
      <p:cxnSp>
        <p:nvCxn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0922161F-7480-4B03-9E79-BD3D03320E0E}"/>
              </a:ext>
            </a:extLst>
          </p:cNvPr>
          <p:cNvCxnSpPr>
            <a:stCxn xmlns:a="http://schemas.openxmlformats.org/drawingml/2006/main" id="5" idx="3"/>
            <a:endCxn xmlns:a="http://schemas.openxmlformats.org/drawingml/2006/main" id="6" idx="1"/>
          </p:cNvCxnSpPr>
          <p:nvPr/>
        </p:nvCxnSpPr>
        <p:spPr>
          <a:xfrm xmlns:a="http://schemas.openxmlformats.org/drawingml/2006/main">
            <a:off x="7620000" y="3429000"/>
            <a:ext cx="714375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0E766E"/>
            </a:solidFill>
            <a:tailEnd type="arrow" w="med" len="med"/>
          </a:ln>
        </p:spPr>
      </p:cxnSp>
      <p:cxnSp>
        <p:nvCxn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58D81981-5103-4EF5-B02B-CDF0282FA3F5}"/>
              </a:ext>
            </a:extLst>
          </p:cNvPr>
          <p:cNvCxnSpPr>
            <a:stCxn xmlns:a="http://schemas.openxmlformats.org/drawingml/2006/main" id="4" idx="3"/>
            <a:endCxn xmlns:a="http://schemas.openxmlformats.org/drawingml/2006/main" id="5" idx="1"/>
          </p:cNvCxnSpPr>
          <p:nvPr/>
        </p:nvCxnSpPr>
        <p:spPr>
          <a:xfrm xmlns:a="http://schemas.openxmlformats.org/drawingml/2006/main" flipV="1">
            <a:off x="3762375" y="3429000"/>
            <a:ext cx="714375" cy="738188"/>
          </a:xfrm>
          <a:prstGeom xmlns:a="http://schemas.openxmlformats.org/drawingml/2006/main" prst="bentConnector3">
            <a:avLst>
              <a:gd name="adj1" fmla="val 50000"/>
            </a:avLst>
          </a:prstGeom>
          <a:ln xmlns:a="http://schemas.openxmlformats.org/drawingml/2006/main" w="19050">
            <a:solidFill>
              <a:srgbClr val="0E766E"/>
            </a:solidFill>
            <a:tailEnd type="arrow" w="med" len="med"/>
          </a:ln>
        </p:spPr>
      </p:cxnSp>
      <p:cxnSp>
        <p:nvCxn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B7DA1782-D0BD-4C07-8CDF-F5EACCC93C29}"/>
              </a:ext>
            </a:extLst>
          </p:cNvPr>
          <p:cNvCxnSpPr>
            <a:stCxn xmlns:a="http://schemas.openxmlformats.org/drawingml/2006/main" id="3" idx="3"/>
            <a:endCxn xmlns:a="http://schemas.openxmlformats.org/drawingml/2006/main" id="5" idx="1"/>
          </p:cNvCxnSpPr>
          <p:nvPr/>
        </p:nvCxnSpPr>
        <p:spPr>
          <a:xfrm xmlns:a="http://schemas.openxmlformats.org/drawingml/2006/main">
            <a:off x="3762375" y="2738438"/>
            <a:ext cx="714375" cy="690563"/>
          </a:xfrm>
          <a:prstGeom xmlns:a="http://schemas.openxmlformats.org/drawingml/2006/main" prst="bentConnector3">
            <a:avLst>
              <a:gd name="adj1" fmla="val 50000"/>
            </a:avLst>
          </a:prstGeom>
          <a:ln xmlns:a="http://schemas.openxmlformats.org/drawingml/2006/main" w="19050">
            <a:solidFill>
              <a:srgbClr val="0E766E"/>
            </a:solidFill>
            <a:tailEnd type="arrow" w="med" len="med"/>
          </a:ln>
        </p:spPr>
      </p:cxn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D5CE0725-E2CF-4269-BE10-4255793158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57200"/>
            <a:ext cx="1097280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330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defPPr>
            <a:lvl1pPr>
              <a:defRPr sz="330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1pPr>
            <a:lvl2pPr>
              <a:defRPr sz="330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2pPr>
            <a:lvl3pPr>
              <a:defRPr sz="330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3pPr>
            <a:lvl4pPr>
              <a:defRPr sz="330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4pPr>
            <a:lvl5pPr>
              <a:defRPr sz="330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5pPr>
            <a:lvl6pPr>
              <a:defRPr sz="330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6pPr>
            <a:lvl7pPr>
              <a:defRPr sz="330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7pPr>
            <a:lvl8pPr>
              <a:defRPr sz="330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8pPr>
            <a:lvl9pPr>
              <a:defRPr sz="330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330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pPr>
            <a:r>
              <a:rPr sz="3300" b="0">
                <a:solidFill>
                  <a:srgbClr val="17242B"/>
                </a:solidFill>
                <a:latin typeface="Arial"/>
                <a:ea typeface="Arial"/>
                <a:cs typeface="Arial"/>
              </a:rPr>
              <a:t>CycleTwin architecture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DAE13209-0E1D-427F-94E7-32749EF518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257300"/>
            <a:ext cx="1097280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80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defPPr>
            <a:lvl1pPr>
              <a:defRPr sz="180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1pPr>
            <a:lvl2pPr>
              <a:defRPr sz="180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2pPr>
            <a:lvl3pPr>
              <a:defRPr sz="180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3pPr>
            <a:lvl4pPr>
              <a:defRPr sz="180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4pPr>
            <a:lvl5pPr>
              <a:defRPr sz="180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5pPr>
            <a:lvl6pPr>
              <a:defRPr sz="180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6pPr>
            <a:lvl7pPr>
              <a:defRPr sz="180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7pPr>
            <a:lvl8pPr>
              <a:defRPr sz="180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8pPr>
            <a:lvl9pPr>
              <a:defRPr sz="180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80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65757B"/>
                </a:solidFill>
                <a:latin typeface="Arial"/>
                <a:ea typeface="Arial"/>
                <a:cs typeface="Arial"/>
              </a:rPr>
              <a:t>Synthetic inputs and one persisted fitted prediction path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68B15B66-080B-43D7-93EF-9CB8645E3E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" y="2238375"/>
            <a:ext cx="3143250" cy="10001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8F4F1"/>
          </a:solidFill>
          <a:ln xmlns:a="http://schemas.openxmlformats.org/drawingml/2006/main" w="9525">
            <a:solidFill>
              <a:srgbClr val="C8DCD5"/>
            </a:solidFill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800">
                <a:solidFill>
                  <a:srgbClr val="17242B"/>
                </a:solidFill>
                <a:latin typeface="Arial"/>
                <a:ea typeface="Arial"/>
                <a:cs typeface="Arial"/>
              </a:defRPr>
            </a:defPPr>
            <a:lvl1pPr>
              <a:defRPr sz="180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1pPr>
            <a:lvl2pPr>
              <a:defRPr sz="180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2pPr>
            <a:lvl3pPr>
              <a:defRPr sz="180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3pPr>
            <a:lvl4pPr>
              <a:defRPr sz="180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4pPr>
            <a:lvl5pPr>
              <a:defRPr sz="180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5pPr>
            <a:lvl6pPr>
              <a:defRPr sz="180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6pPr>
            <a:lvl7pPr>
              <a:defRPr sz="180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7pPr>
            <a:lvl8pPr>
              <a:defRPr sz="180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8pPr>
            <a:lvl9pPr>
              <a:defRPr sz="180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800">
                <a:solidFill>
                  <a:srgbClr val="17242B"/>
                </a:solidFill>
                <a:latin typeface="Arial"/>
                <a:ea typeface="Arial"/>
                <a:cs typeface="Arial"/>
              </a:defRPr>
            </a:pPr>
            <a:r>
              <a:rPr sz="1800">
                <a:solidFill>
                  <a:srgbClr val="17242B"/>
                </a:solidFill>
                <a:latin typeface="Arial"/>
                <a:ea typeface="Arial"/>
                <a:cs typeface="Arial"/>
              </a:rPr>
              <a:t>Synthetic static EHR-lite</a:t>
            </a:r>
          </a:p>
          <a:p xmlns:a="http://schemas.openxmlformats.org/drawingml/2006/main">
            <a:pPr>
              <a:defRPr sz="1800">
                <a:solidFill>
                  <a:srgbClr val="17242B"/>
                </a:solidFill>
                <a:latin typeface="Arial"/>
                <a:ea typeface="Arial"/>
                <a:cs typeface="Arial"/>
              </a:defRPr>
            </a:pPr>
            <a:r>
              <a:rPr sz="1800">
                <a:solidFill>
                  <a:srgbClr val="17242B"/>
                </a:solidFill>
                <a:latin typeface="Arial"/>
                <a:ea typeface="Arial"/>
                <a:cs typeface="Arial"/>
              </a:rPr>
              <a:t>Oracle-adjacent internals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F1749150-EE08-402C-8430-162E4B5D10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" y="3667125"/>
            <a:ext cx="3143250" cy="10001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8F4F1"/>
          </a:solidFill>
          <a:ln xmlns:a="http://schemas.openxmlformats.org/drawingml/2006/main" w="9525">
            <a:solidFill>
              <a:srgbClr val="C8DCD5"/>
            </a:solidFill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800">
                <a:solidFill>
                  <a:srgbClr val="17242B"/>
                </a:solidFill>
                <a:latin typeface="Arial"/>
                <a:ea typeface="Arial"/>
                <a:cs typeface="Arial"/>
              </a:defRPr>
            </a:defPPr>
            <a:lvl1pPr>
              <a:defRPr sz="180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1pPr>
            <a:lvl2pPr>
              <a:defRPr sz="180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2pPr>
            <a:lvl3pPr>
              <a:defRPr sz="180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3pPr>
            <a:lvl4pPr>
              <a:defRPr sz="180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4pPr>
            <a:lvl5pPr>
              <a:defRPr sz="180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5pPr>
            <a:lvl6pPr>
              <a:defRPr sz="180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6pPr>
            <a:lvl7pPr>
              <a:defRPr sz="180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7pPr>
            <a:lvl8pPr>
              <a:defRPr sz="180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8pPr>
            <a:lvl9pPr>
              <a:defRPr sz="180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800">
                <a:solidFill>
                  <a:srgbClr val="17242B"/>
                </a:solidFill>
                <a:latin typeface="Arial"/>
                <a:ea typeface="Arial"/>
                <a:cs typeface="Arial"/>
              </a:defRPr>
            </a:pPr>
            <a:r>
              <a:rPr sz="1800">
                <a:solidFill>
                  <a:srgbClr val="17242B"/>
                </a:solidFill>
                <a:latin typeface="Arial"/>
                <a:ea typeface="Arial"/>
                <a:cs typeface="Arial"/>
              </a:rPr>
              <a:t>Synthetic nightly data</a:t>
            </a:r>
          </a:p>
          <a:p xmlns:a="http://schemas.openxmlformats.org/drawingml/2006/main">
            <a:pPr>
              <a:defRPr sz="1800">
                <a:solidFill>
                  <a:srgbClr val="17242B"/>
                </a:solidFill>
                <a:latin typeface="Arial"/>
                <a:ea typeface="Arial"/>
                <a:cs typeface="Arial"/>
              </a:defRPr>
            </a:pPr>
            <a:r>
              <a:rPr sz="1800">
                <a:solidFill>
                  <a:srgbClr val="17242B"/>
                </a:solidFill>
                <a:latin typeface="Arial"/>
                <a:ea typeface="Arial"/>
                <a:cs typeface="Arial"/>
              </a:rPr>
              <a:t>Calendar and wearables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B038305E-0510-4F07-8F6F-E2055BF3A8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76750" y="2857500"/>
            <a:ext cx="3143250" cy="1143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8F4F1"/>
          </a:solidFill>
          <a:ln xmlns:a="http://schemas.openxmlformats.org/drawingml/2006/main" w="9525">
            <a:solidFill>
              <a:srgbClr val="C8DCD5"/>
            </a:solidFill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800">
                <a:solidFill>
                  <a:srgbClr val="17242B"/>
                </a:solidFill>
                <a:latin typeface="Arial"/>
                <a:ea typeface="Arial"/>
                <a:cs typeface="Arial"/>
              </a:defRPr>
            </a:defPPr>
            <a:lvl1pPr>
              <a:defRPr sz="180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1pPr>
            <a:lvl2pPr>
              <a:defRPr sz="180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2pPr>
            <a:lvl3pPr>
              <a:defRPr sz="180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3pPr>
            <a:lvl4pPr>
              <a:defRPr sz="180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4pPr>
            <a:lvl5pPr>
              <a:defRPr sz="180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5pPr>
            <a:lvl6pPr>
              <a:defRPr sz="180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6pPr>
            <a:lvl7pPr>
              <a:defRPr sz="180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7pPr>
            <a:lvl8pPr>
              <a:defRPr sz="180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8pPr>
            <a:lvl9pPr>
              <a:defRPr sz="180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800">
                <a:solidFill>
                  <a:srgbClr val="17242B"/>
                </a:solidFill>
                <a:latin typeface="Arial"/>
                <a:ea typeface="Arial"/>
                <a:cs typeface="Arial"/>
              </a:defRPr>
            </a:pPr>
            <a:r>
              <a:rPr sz="1800">
                <a:solidFill>
                  <a:srgbClr val="17242B"/>
                </a:solidFill>
                <a:latin typeface="Arial"/>
                <a:ea typeface="Arial"/>
                <a:cs typeface="Arial"/>
              </a:rPr>
              <a:t>Shared feature builder</a:t>
            </a:r>
          </a:p>
          <a:p xmlns:a="http://schemas.openxmlformats.org/drawingml/2006/main">
            <a:pPr>
              <a:defRPr sz="1800">
                <a:solidFill>
                  <a:srgbClr val="17242B"/>
                </a:solidFill>
                <a:latin typeface="Arial"/>
                <a:ea typeface="Arial"/>
                <a:cs typeface="Arial"/>
              </a:defRPr>
            </a:pPr>
            <a:r>
              <a:rPr sz="1800">
                <a:solidFill>
                  <a:srgbClr val="17242B"/>
                </a:solidFill>
                <a:latin typeface="Arial"/>
                <a:ea typeface="Arial"/>
                <a:cs typeface="Arial"/>
              </a:rPr>
              <a:t>Training median and scaling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A0455A91-9603-4930-98A0-E7637BE581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34375" y="2857500"/>
            <a:ext cx="3143250" cy="1143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8F4F1"/>
          </a:solidFill>
          <a:ln xmlns:a="http://schemas.openxmlformats.org/drawingml/2006/main" w="9525">
            <a:solidFill>
              <a:srgbClr val="C8DCD5"/>
            </a:solidFill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800">
                <a:solidFill>
                  <a:srgbClr val="17242B"/>
                </a:solidFill>
                <a:latin typeface="Arial"/>
                <a:ea typeface="Arial"/>
                <a:cs typeface="Arial"/>
              </a:defRPr>
            </a:defPPr>
            <a:lvl1pPr>
              <a:defRPr sz="180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1pPr>
            <a:lvl2pPr>
              <a:defRPr sz="180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2pPr>
            <a:lvl3pPr>
              <a:defRPr sz="180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3pPr>
            <a:lvl4pPr>
              <a:defRPr sz="180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4pPr>
            <a:lvl5pPr>
              <a:defRPr sz="180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5pPr>
            <a:lvl6pPr>
              <a:defRPr sz="180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6pPr>
            <a:lvl7pPr>
              <a:defRPr sz="180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7pPr>
            <a:lvl8pPr>
              <a:defRPr sz="180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8pPr>
            <a:lvl9pPr>
              <a:defRPr sz="180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800">
                <a:solidFill>
                  <a:srgbClr val="17242B"/>
                </a:solidFill>
                <a:latin typeface="Arial"/>
                <a:ea typeface="Arial"/>
                <a:cs typeface="Arial"/>
              </a:defRPr>
            </a:pPr>
            <a:r>
              <a:rPr sz="1800">
                <a:solidFill>
                  <a:srgbClr val="17242B"/>
                </a:solidFill>
                <a:latin typeface="Arial"/>
                <a:ea typeface="Arial"/>
                <a:cs typeface="Arial"/>
              </a:rPr>
              <a:t>Persisted logistic model</a:t>
            </a:r>
          </a:p>
          <a:p xmlns:a="http://schemas.openxmlformats.org/drawingml/2006/main">
            <a:pPr>
              <a:defRPr sz="1800">
                <a:solidFill>
                  <a:srgbClr val="17242B"/>
                </a:solidFill>
                <a:latin typeface="Arial"/>
                <a:ea typeface="Arial"/>
                <a:cs typeface="Arial"/>
              </a:defRPr>
            </a:pPr>
            <a:r>
              <a:rPr sz="1800">
                <a:solidFill>
                  <a:srgbClr val="17242B"/>
                </a:solidFill>
                <a:latin typeface="Arial"/>
                <a:ea typeface="Arial"/>
                <a:cs typeface="Arial"/>
              </a:rPr>
              <a:t>Validation calibration and threshold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84B06BD6-CEF7-4DA0-B98D-1C4748806D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34375" y="4714875"/>
            <a:ext cx="3143250" cy="10001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8F4F1"/>
          </a:solidFill>
          <a:ln xmlns:a="http://schemas.openxmlformats.org/drawingml/2006/main" w="9525">
            <a:solidFill>
              <a:srgbClr val="C8DCD5"/>
            </a:solidFill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800">
                <a:solidFill>
                  <a:srgbClr val="17242B"/>
                </a:solidFill>
                <a:latin typeface="Arial"/>
                <a:ea typeface="Arial"/>
                <a:cs typeface="Arial"/>
              </a:defRPr>
            </a:defPPr>
            <a:lvl1pPr>
              <a:defRPr sz="180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1pPr>
            <a:lvl2pPr>
              <a:defRPr sz="180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2pPr>
            <a:lvl3pPr>
              <a:defRPr sz="180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3pPr>
            <a:lvl4pPr>
              <a:defRPr sz="180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4pPr>
            <a:lvl5pPr>
              <a:defRPr sz="180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5pPr>
            <a:lvl6pPr>
              <a:defRPr sz="180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6pPr>
            <a:lvl7pPr>
              <a:defRPr sz="180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7pPr>
            <a:lvl8pPr>
              <a:defRPr sz="180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8pPr>
            <a:lvl9pPr>
              <a:defRPr sz="180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800">
                <a:solidFill>
                  <a:srgbClr val="17242B"/>
                </a:solidFill>
                <a:latin typeface="Arial"/>
                <a:ea typeface="Arial"/>
                <a:cs typeface="Arial"/>
              </a:defRPr>
            </a:pPr>
            <a:r>
              <a:rPr sz="1800">
                <a:solidFill>
                  <a:srgbClr val="17242B"/>
                </a:solidFill>
                <a:latin typeface="Arial"/>
                <a:ea typeface="Arial"/>
                <a:cs typeface="Arial"/>
              </a:rPr>
              <a:t>Fail-closed safety gate</a:t>
            </a:r>
          </a:p>
          <a:p xmlns:a="http://schemas.openxmlformats.org/drawingml/2006/main">
            <a:pPr>
              <a:defRPr sz="1800">
                <a:solidFill>
                  <a:srgbClr val="17242B"/>
                </a:solidFill>
                <a:latin typeface="Arial"/>
                <a:ea typeface="Arial"/>
                <a:cs typeface="Arial"/>
              </a:defRPr>
            </a:pPr>
            <a:r>
              <a:rPr sz="1800">
                <a:solidFill>
                  <a:srgbClr val="17242B"/>
                </a:solidFill>
                <a:latin typeface="Arial"/>
                <a:ea typeface="Arial"/>
                <a:cs typeface="Arial"/>
              </a:rPr>
              <a:t>Withhold personal outputs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36548C94-3078-487C-B0F5-C8C10B3B23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76750" y="4714875"/>
            <a:ext cx="3143250" cy="10001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8F4F1"/>
          </a:solidFill>
          <a:ln xmlns:a="http://schemas.openxmlformats.org/drawingml/2006/main" w="9525">
            <a:solidFill>
              <a:srgbClr val="C8DCD5"/>
            </a:solidFill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800">
                <a:solidFill>
                  <a:srgbClr val="17242B"/>
                </a:solidFill>
                <a:latin typeface="Arial"/>
                <a:ea typeface="Arial"/>
                <a:cs typeface="Arial"/>
              </a:defRPr>
            </a:defPPr>
            <a:lvl1pPr>
              <a:defRPr sz="180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1pPr>
            <a:lvl2pPr>
              <a:defRPr sz="180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2pPr>
            <a:lvl3pPr>
              <a:defRPr sz="180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3pPr>
            <a:lvl4pPr>
              <a:defRPr sz="180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4pPr>
            <a:lvl5pPr>
              <a:defRPr sz="180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5pPr>
            <a:lvl6pPr>
              <a:defRPr sz="180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6pPr>
            <a:lvl7pPr>
              <a:defRPr sz="180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7pPr>
            <a:lvl8pPr>
              <a:defRPr sz="180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8pPr>
            <a:lvl9pPr>
              <a:defRPr sz="180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800">
                <a:solidFill>
                  <a:srgbClr val="17242B"/>
                </a:solidFill>
                <a:latin typeface="Arial"/>
                <a:ea typeface="Arial"/>
                <a:cs typeface="Arial"/>
              </a:defRPr>
            </a:pPr>
            <a:r>
              <a:rPr sz="1800">
                <a:solidFill>
                  <a:srgbClr val="17242B"/>
                </a:solidFill>
                <a:latin typeface="Arial"/>
                <a:ea typeface="Arial"/>
                <a:cs typeface="Arial"/>
              </a:rPr>
              <a:t>Doctor / Kushi dashboard</a:t>
            </a:r>
          </a:p>
          <a:p xmlns:a="http://schemas.openxmlformats.org/drawingml/2006/main">
            <a:pPr>
              <a:defRPr sz="1800">
                <a:solidFill>
                  <a:srgbClr val="17242B"/>
                </a:solidFill>
                <a:latin typeface="Arial"/>
                <a:ea typeface="Arial"/>
                <a:cs typeface="Arial"/>
              </a:defRPr>
            </a:pPr>
            <a:r>
              <a:rPr sz="1800">
                <a:solidFill>
                  <a:srgbClr val="17242B"/>
                </a:solidFill>
                <a:latin typeface="Arial"/>
                <a:ea typeface="Arial"/>
                <a:cs typeface="Arial"/>
              </a:rPr>
              <a:t>Probability and exact contributions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C2FE4AD4-37A4-47AE-9FD5-CB93DE98CA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" y="5191125"/>
            <a:ext cx="3143250" cy="762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1F2EF"/>
          </a:solidFill>
          <a:ln xmlns:a="http://schemas.openxmlformats.org/drawingml/2006/main" w="9525">
            <a:solidFill>
              <a:srgbClr val="C8DCD5"/>
            </a:solidFill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650">
                <a:solidFill>
                  <a:srgbClr val="17242B"/>
                </a:solidFill>
                <a:latin typeface="Arial"/>
                <a:ea typeface="Arial"/>
                <a:cs typeface="Arial"/>
              </a:defRPr>
            </a:defPPr>
            <a:lvl1pPr>
              <a:defRPr sz="165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1pPr>
            <a:lvl2pPr>
              <a:defRPr sz="165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2pPr>
            <a:lvl3pPr>
              <a:defRPr sz="165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3pPr>
            <a:lvl4pPr>
              <a:defRPr sz="165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4pPr>
            <a:lvl5pPr>
              <a:defRPr sz="165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5pPr>
            <a:lvl6pPr>
              <a:defRPr sz="165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6pPr>
            <a:lvl7pPr>
              <a:defRPr sz="165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7pPr>
            <a:lvl8pPr>
              <a:defRPr sz="165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8pPr>
            <a:lvl9pPr>
              <a:defRPr sz="165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650">
                <a:solidFill>
                  <a:srgbClr val="17242B"/>
                </a:solidFill>
                <a:latin typeface="Arial"/>
                <a:ea typeface="Arial"/>
                <a:cs typeface="Arial"/>
              </a:defRPr>
            </a:pPr>
            <a:r>
              <a:rPr sz="1650">
                <a:solidFill>
                  <a:srgbClr val="17242B"/>
                </a:solidFill>
                <a:latin typeface="Arial"/>
                <a:ea typeface="Arial"/>
                <a:cs typeface="Arial"/>
              </a:rPr>
              <a:t>Separate illustrative twin</a:t>
            </a:r>
          </a:p>
          <a:p xmlns:a="http://schemas.openxmlformats.org/drawingml/2006/main">
            <a:pPr>
              <a:defRPr sz="1650">
                <a:solidFill>
                  <a:srgbClr val="17242B"/>
                </a:solidFill>
                <a:latin typeface="Arial"/>
                <a:ea typeface="Arial"/>
                <a:cs typeface="Arial"/>
              </a:defRPr>
            </a:pPr>
            <a:r>
              <a:rPr sz="1650">
                <a:solidFill>
                  <a:srgbClr val="17242B"/>
                </a:solidFill>
                <a:latin typeface="Arial"/>
                <a:ea typeface="Arial"/>
                <a:cs typeface="Arial"/>
              </a:rPr>
              <a:t>No contribution to fitted score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2135E5B5-B0BD-4D35-90FA-2974C3B947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43650"/>
            <a:ext cx="109728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35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defPPr>
            <a:lvl1pPr>
              <a:defRPr sz="135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1pPr>
            <a:lvl2pPr>
              <a:defRPr sz="135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2pPr>
            <a:lvl3pPr>
              <a:defRPr sz="135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3pPr>
            <a:lvl4pPr>
              <a:defRPr sz="135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4pPr>
            <a:lvl5pPr>
              <a:defRPr sz="135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5pPr>
            <a:lvl6pPr>
              <a:defRPr sz="135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6pPr>
            <a:lvl7pPr>
              <a:defRPr sz="135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7pPr>
            <a:lvl8pPr>
              <a:defRPr sz="135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8pPr>
            <a:lvl9pPr>
              <a:defRPr sz="135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35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65757B"/>
                </a:solidFill>
                <a:latin typeface="Arial"/>
                <a:ea typeface="Arial"/>
                <a:cs typeface="Arial"/>
              </a:rPr>
              <a:t>Synthetic research prototype. Not for diagnosis, contraception or conception planning.</a:t>
            </a:r>
          </a:p>
        </p:txBody>
      </p:sp>
    </p:spTree>
    <p:extLst>
      <p:ext uri="{BB962C8B-B14F-4D97-AF65-F5344CB8AC3E}">
        <p14:creationId xmlns:p14="http://schemas.microsoft.com/office/powerpoint/2010/main" val="657242633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Aptos"/>
        <a:ea typeface=""/>
        <a:cs typeface=""/>
      </a:majorFont>
      <a:minorFont>
        <a:latin typeface="Aptos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2026-10-20T09:11:56.2320000Z</dcterms:created>
  <dcterms:modified xsi:type="dcterms:W3CDTF">2026-10-20T09:11:56.2320000Z</dcterms:modified>
</coreProperties>
</file>