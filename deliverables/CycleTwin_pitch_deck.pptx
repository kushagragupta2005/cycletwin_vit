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9afbbc4b804490e" /><Relationship Type="http://schemas.openxmlformats.org/officeDocument/2006/relationships/extended-properties" Target="/docProps/app.xml" Id="R40aaf5fa2ac84a65" /><Relationship Type="http://schemas.openxmlformats.org/officeDocument/2006/relationships/officeDocument" Target="/ppt/presentation.xml" Id="Rc9bb063d4358436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790b2d2a1a24979"/>
  </p:sldMasterIdLst>
  <p:notesMasterIdLst>
    <p:notesMasterId xmlns:r="http://schemas.openxmlformats.org/officeDocument/2006/relationships" r:id="R89f3a1a8781d47a8"/>
  </p:notesMasterIdLst>
  <p:sldIdLst>
    <p:sldId xmlns:r="http://schemas.openxmlformats.org/officeDocument/2006/relationships" id="256" r:id="Rb0b7e865ad584441"/>
    <p:sldId xmlns:r="http://schemas.openxmlformats.org/officeDocument/2006/relationships" id="257" r:id="Rf3b077f8c8f74acf"/>
    <p:sldId xmlns:r="http://schemas.openxmlformats.org/officeDocument/2006/relationships" id="258" r:id="R6f3aabea6f604271"/>
    <p:sldId xmlns:r="http://schemas.openxmlformats.org/officeDocument/2006/relationships" id="259" r:id="Ra4b724e346274e62"/>
    <p:sldId xmlns:r="http://schemas.openxmlformats.org/officeDocument/2006/relationships" id="260" r:id="Ra4a0e8941d3b4559"/>
    <p:sldId xmlns:r="http://schemas.openxmlformats.org/officeDocument/2006/relationships" id="261" r:id="Rc69a52ad8b944264"/>
    <p:sldId xmlns:r="http://schemas.openxmlformats.org/officeDocument/2006/relationships" id="262" r:id="R7a3cc8bd5ab243d7"/>
    <p:sldId xmlns:r="http://schemas.openxmlformats.org/officeDocument/2006/relationships" id="263" r:id="R4e421a0a1e324b5e"/>
    <p:sldId xmlns:r="http://schemas.openxmlformats.org/officeDocument/2006/relationships" id="264" r:id="R5a03459252ce4442"/>
    <p:sldId xmlns:r="http://schemas.openxmlformats.org/officeDocument/2006/relationships" id="265" r:id="Rcee5332784374974"/>
    <p:sldId xmlns:r="http://schemas.openxmlformats.org/officeDocument/2006/relationships" id="266" r:id="Rd7b216f046ae453e"/>
    <p:sldId xmlns:r="http://schemas.openxmlformats.org/officeDocument/2006/relationships" id="267" r:id="R40f40f173fd84e1f"/>
    <p:sldId xmlns:r="http://schemas.openxmlformats.org/officeDocument/2006/relationships" id="268" r:id="R86141ba557cb4fd4"/>
    <p:sldId xmlns:r="http://schemas.openxmlformats.org/officeDocument/2006/relationships" id="269" r:id="R816db6d482e84ddb"/>
    <p:sldId xmlns:r="http://schemas.openxmlformats.org/officeDocument/2006/relationships" id="270" r:id="Rf6c8f2886b00436f"/>
    <p:sldId xmlns:r="http://schemas.openxmlformats.org/officeDocument/2006/relationships" id="271" r:id="Red16a6721708408a"/>
    <p:sldId xmlns:r="http://schemas.openxmlformats.org/officeDocument/2006/relationships" id="272" r:id="Rdab79a5ea4384517"/>
    <p:sldId xmlns:r="http://schemas.openxmlformats.org/officeDocument/2006/relationships" id="273" r:id="Re5ee763207804ccf"/>
    <p:sldId xmlns:r="http://schemas.openxmlformats.org/officeDocument/2006/relationships" id="274" r:id="R29b7cf357e1a48b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90416ee17e94f78" /><Relationship Type="http://schemas.openxmlformats.org/officeDocument/2006/relationships/slideMaster" Target="/ppt/slideMasters/slideMaster1.xml" Id="Re790b2d2a1a24979" /><Relationship Type="http://schemas.openxmlformats.org/officeDocument/2006/relationships/notesMaster" Target="/ppt/notesMasters/notesMaster1.xml" Id="R89f3a1a8781d47a8" /><Relationship Type="http://schemas.openxmlformats.org/officeDocument/2006/relationships/presProps" Target="/ppt/presProps.xml" Id="Rc5a7105627324178" /><Relationship Type="http://schemas.openxmlformats.org/officeDocument/2006/relationships/tableStyles" Target="/ppt/tableStyles.xml" Id="Rced74aa621764c9c" /><Relationship Type="http://schemas.openxmlformats.org/officeDocument/2006/relationships/slide" Target="/ppt/slides/slide1.xml" Id="Rb0b7e865ad584441" /><Relationship Type="http://schemas.openxmlformats.org/officeDocument/2006/relationships/slide" Target="/ppt/slides/slide2.xml" Id="Rf3b077f8c8f74acf" /><Relationship Type="http://schemas.openxmlformats.org/officeDocument/2006/relationships/slide" Target="/ppt/slides/slide3.xml" Id="R6f3aabea6f604271" /><Relationship Type="http://schemas.openxmlformats.org/officeDocument/2006/relationships/slide" Target="/ppt/slides/slide4.xml" Id="Ra4b724e346274e62" /><Relationship Type="http://schemas.openxmlformats.org/officeDocument/2006/relationships/slide" Target="/ppt/slides/slide5.xml" Id="Ra4a0e8941d3b4559" /><Relationship Type="http://schemas.openxmlformats.org/officeDocument/2006/relationships/slide" Target="/ppt/slides/slide6.xml" Id="Rc69a52ad8b944264" /><Relationship Type="http://schemas.openxmlformats.org/officeDocument/2006/relationships/slide" Target="/ppt/slides/slide7.xml" Id="R7a3cc8bd5ab243d7" /><Relationship Type="http://schemas.openxmlformats.org/officeDocument/2006/relationships/slide" Target="/ppt/slides/slide8.xml" Id="R4e421a0a1e324b5e" /><Relationship Type="http://schemas.openxmlformats.org/officeDocument/2006/relationships/slide" Target="/ppt/slides/slide9.xml" Id="R5a03459252ce4442" /><Relationship Type="http://schemas.openxmlformats.org/officeDocument/2006/relationships/slide" Target="/ppt/slides/slide10.xml" Id="Rcee5332784374974" /><Relationship Type="http://schemas.openxmlformats.org/officeDocument/2006/relationships/slide" Target="/ppt/slides/slide11.xml" Id="Rd7b216f046ae453e" /><Relationship Type="http://schemas.openxmlformats.org/officeDocument/2006/relationships/slide" Target="/ppt/slides/slide12.xml" Id="R40f40f173fd84e1f" /><Relationship Type="http://schemas.openxmlformats.org/officeDocument/2006/relationships/slide" Target="/ppt/slides/slide13.xml" Id="R86141ba557cb4fd4" /><Relationship Type="http://schemas.openxmlformats.org/officeDocument/2006/relationships/slide" Target="/ppt/slides/slide14.xml" Id="R816db6d482e84ddb" /><Relationship Type="http://schemas.openxmlformats.org/officeDocument/2006/relationships/slide" Target="/ppt/slides/slide15.xml" Id="Rf6c8f2886b00436f" /><Relationship Type="http://schemas.openxmlformats.org/officeDocument/2006/relationships/slide" Target="/ppt/slides/slide16.xml" Id="Red16a6721708408a" /><Relationship Type="http://schemas.openxmlformats.org/officeDocument/2006/relationships/slide" Target="/ppt/slides/slide17.xml" Id="Rdab79a5ea4384517" /><Relationship Type="http://schemas.openxmlformats.org/officeDocument/2006/relationships/slide" Target="/ppt/slides/slide18.xml" Id="Re5ee763207804ccf" /><Relationship Type="http://schemas.openxmlformats.org/officeDocument/2006/relationships/slide" Target="/ppt/slides/slide19.xml" Id="R29b7cf357e1a48b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8b41582037b4c0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b3cdc47c6444fb6" /><Relationship Type="http://schemas.openxmlformats.org/officeDocument/2006/relationships/notesMaster" Target="/ppt/notesMasters/notesMaster1.xml" Id="Rdee813005d4c441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b79fd0e012e45e3" /><Relationship Type="http://schemas.openxmlformats.org/officeDocument/2006/relationships/notesMaster" Target="/ppt/notesMasters/notesMaster1.xml" Id="R1b10d8c9101442d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8a700244f98458b" /><Relationship Type="http://schemas.openxmlformats.org/officeDocument/2006/relationships/notesMaster" Target="/ppt/notesMasters/notesMaster1.xml" Id="R95a2a8dfb3704b4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7fc0fa8ef7343a9" /><Relationship Type="http://schemas.openxmlformats.org/officeDocument/2006/relationships/notesMaster" Target="/ppt/notesMasters/notesMaster1.xml" Id="R2d68b8944836405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e19a9c101434775" /><Relationship Type="http://schemas.openxmlformats.org/officeDocument/2006/relationships/notesMaster" Target="/ppt/notesMasters/notesMaster1.xml" Id="Rde56179b6b04418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33e6256ce764d07" /><Relationship Type="http://schemas.openxmlformats.org/officeDocument/2006/relationships/notesMaster" Target="/ppt/notesMasters/notesMaster1.xml" Id="R8f06e69bc81d4b2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252aabf9c9f49a3" /><Relationship Type="http://schemas.openxmlformats.org/officeDocument/2006/relationships/notesMaster" Target="/ppt/notesMasters/notesMaster1.xml" Id="R7b6cc3aa61cc4e8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bbaccd041be46a4" /><Relationship Type="http://schemas.openxmlformats.org/officeDocument/2006/relationships/notesMaster" Target="/ppt/notesMasters/notesMaster1.xml" Id="R6a6b250c5565428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a8555a3b474473f" /><Relationship Type="http://schemas.openxmlformats.org/officeDocument/2006/relationships/notesMaster" Target="/ppt/notesMasters/notesMaster1.xml" Id="R73f5884ae58a4d7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2821240891445f8" /><Relationship Type="http://schemas.openxmlformats.org/officeDocument/2006/relationships/notesMaster" Target="/ppt/notesMasters/notesMaster1.xml" Id="Rc90a1a4a73614b3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5ea5b38ae684eb5" /><Relationship Type="http://schemas.openxmlformats.org/officeDocument/2006/relationships/notesMaster" Target="/ppt/notesMasters/notesMaster1.xml" Id="R37efcb0c28f145e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4ce0d04733c4c92" /><Relationship Type="http://schemas.openxmlformats.org/officeDocument/2006/relationships/notesMaster" Target="/ppt/notesMasters/notesMaster1.xml" Id="R9d7be70a72d54d9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4e920fdef564bb6" /><Relationship Type="http://schemas.openxmlformats.org/officeDocument/2006/relationships/notesMaster" Target="/ppt/notesMasters/notesMaster1.xml" Id="R27a249691a0c4d4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59a8b42a5a64300" /><Relationship Type="http://schemas.openxmlformats.org/officeDocument/2006/relationships/notesMaster" Target="/ppt/notesMasters/notesMaster1.xml" Id="R7aba0e24539d490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bea0f74cb6e40a3" /><Relationship Type="http://schemas.openxmlformats.org/officeDocument/2006/relationships/notesMaster" Target="/ppt/notesMasters/notesMaster1.xml" Id="R66b744cbfc2c46c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b540ce5ed2c4c69" /><Relationship Type="http://schemas.openxmlformats.org/officeDocument/2006/relationships/notesMaster" Target="/ppt/notesMasters/notesMaster1.xml" Id="R5cd121063fac403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1e2f1aed35f418d" /><Relationship Type="http://schemas.openxmlformats.org/officeDocument/2006/relationships/notesMaster" Target="/ppt/notesMasters/notesMaster1.xml" Id="R827ee38bc0984b1c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d49eec36fd8a4d55" /><Relationship Type="http://schemas.openxmlformats.org/officeDocument/2006/relationships/notesMaster" Target="/ppt/notesMasters/notesMaster1.xml" Id="Rb46e100534ce487c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d7ad57db2f648a1" /><Relationship Type="http://schemas.openxmlformats.org/officeDocument/2006/relationships/notesMaster" Target="/ppt/notesMasters/notesMaster1.xml" Id="R17338322af88451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Cycle-by-cycle late or absent ovulation research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Monitoring irregular cycles without claiming a PMOS diagnosis Primary population-context source: https://pmc.ncbi.nlm.nih.gov/articles/PMC11581580/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Fictional synthetic persona - not a real patient - not performance evidence.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EHR-lite is implemented and explicitly oracle-adjacent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The dashboard loads the same persisted pipeline used by the benchmark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Every explicit operating choice uses train or validation data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Seed means describe the current generator, not clinical forecasting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Seed means describe the current generator, not clinical forecasting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Seed means describe the current generator, not clinical forecasting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Reserved seeds, unchanged train/validation choices, one guarded run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Reserved seeds, unchanged train/validation choices, one guarded run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Reserved seeds, unchanged train/validation choices, one guarded run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Predeclared temperature sensor tier, descriptive seed means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Decision-support research display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Missing safety information causes abstention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Clear boundaries around simulated physiology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All declared Kushi scenarios remain visible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Synthetic recovery is not prospective evidence in women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Public source, inspectable artifacts and explicit next work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f8b3141d2d4cf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ed19e0709f645d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bde2a3afe8e436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1a7798391c443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bbb8a8354441a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52fd16a86a4dc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7B7257A-5BA9-4E0B-9D6F-822778C74CD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A6A6414-3A23-4174-BBD7-319C6D26D2B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8EFAD8AB-2A31-4009-B228-16FDC8748E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B7A3AF7-3DDF-4E15-85E2-0FD6D248DB8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E37C3A4A-9C89-49D0-8B14-ACB223DBCC1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755ADF87-B941-4C63-B6E3-7C88A7D3DED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A9E02E5-C34A-4BEA-83A2-4833435EA0E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F72C1941-8C2C-41F4-9D4C-141B4718D52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CCE4DAC-B8F7-44F9-BA34-C22D408E415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668E95D-38E8-4D92-812B-32D55A7FC73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8e5dbf27b44484f" /><Relationship Type="http://schemas.openxmlformats.org/officeDocument/2006/relationships/slideLayout" Target="/ppt/slideLayouts/slideLayout1.xml" Id="Rc36698932a56470a" /><Relationship Type="http://schemas.openxmlformats.org/officeDocument/2006/relationships/slideLayout" Target="/ppt/slideLayouts/slideLayout2.xml" Id="Rd49742e450584047" /><Relationship Type="http://schemas.openxmlformats.org/officeDocument/2006/relationships/slideLayout" Target="/ppt/slideLayouts/slideLayout3.xml" Id="R32b5b05ad8344d1b" /><Relationship Type="http://schemas.openxmlformats.org/officeDocument/2006/relationships/slideLayout" Target="/ppt/slideLayouts/slideLayout4.xml" Id="R321e015962ef4df9" /><Relationship Type="http://schemas.openxmlformats.org/officeDocument/2006/relationships/slideLayout" Target="/ppt/slideLayouts/slideLayout5.xml" Id="Rcb71399b5a6547b7" /><Relationship Type="http://schemas.openxmlformats.org/officeDocument/2006/relationships/slideLayout" Target="/ppt/slideLayouts/slideLayout6.xml" Id="R02c0a1f2378548e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36698932a56470a"/>
    <p:sldLayoutId xmlns:r="http://schemas.openxmlformats.org/officeDocument/2006/relationships" id="2147483650" r:id="Rd49742e450584047"/>
    <p:sldLayoutId xmlns:r="http://schemas.openxmlformats.org/officeDocument/2006/relationships" id="2147483651" r:id="R32b5b05ad8344d1b"/>
    <p:sldLayoutId xmlns:r="http://schemas.openxmlformats.org/officeDocument/2006/relationships" id="2147483652" r:id="R321e015962ef4df9"/>
    <p:sldLayoutId xmlns:r="http://schemas.openxmlformats.org/officeDocument/2006/relationships" id="2147483653" r:id="Rcb71399b5a6547b7"/>
    <p:sldLayoutId xmlns:r="http://schemas.openxmlformats.org/officeDocument/2006/relationships" id="2147483654" r:id="R02c0a1f2378548e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8dde10c29744ff0" /><Relationship Type="http://schemas.openxmlformats.org/officeDocument/2006/relationships/notesSlide" Target="/ppt/notesSlides/notesSlide1.xml" Id="R64f590920c4f439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4b6fae48f064b37" /><Relationship Type="http://schemas.openxmlformats.org/officeDocument/2006/relationships/notesSlide" Target="/ppt/notesSlides/notesSlide2.xml" Id="R657586ad628341a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226a2017912422d" /><Relationship Type="http://schemas.openxmlformats.org/officeDocument/2006/relationships/notesSlide" Target="/ppt/notesSlides/notesSlide3.xml" Id="R18186756eeba4d7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c8f282a4ba24cf9" /><Relationship Type="http://schemas.openxmlformats.org/officeDocument/2006/relationships/notesSlide" Target="/ppt/notesSlides/notesSlide4.xml" Id="R7414e145225f4c3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8b835ebeea64e8f" /><Relationship Type="http://schemas.openxmlformats.org/officeDocument/2006/relationships/notesSlide" Target="/ppt/notesSlides/notesSlide5.xml" Id="R6fbeb8f46d9f4af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67a0306a9524317" /><Relationship Type="http://schemas.openxmlformats.org/officeDocument/2006/relationships/notesSlide" Target="/ppt/notesSlides/notesSlide6.xml" Id="Re549243132524ab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6ac8c318bf14ca2" /><Relationship Type="http://schemas.openxmlformats.org/officeDocument/2006/relationships/notesSlide" Target="/ppt/notesSlides/notesSlide7.xml" Id="Rfece44c4eaca46a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52aec7cc4b545a4" /><Relationship Type="http://schemas.openxmlformats.org/officeDocument/2006/relationships/notesSlide" Target="/ppt/notesSlides/notesSlide8.xml" Id="R102a3c0fd64b4c2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86ad021821b4235" /><Relationship Type="http://schemas.openxmlformats.org/officeDocument/2006/relationships/notesSlide" Target="/ppt/notesSlides/notesSlide9.xml" Id="Rbdaea25aa1404ad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baf512066124a3e" /><Relationship Type="http://schemas.openxmlformats.org/officeDocument/2006/relationships/notesSlide" Target="/ppt/notesSlides/notesSlide10.xml" Id="R350b60b2127c4bb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d5edc12410a4a96" /><Relationship Type="http://schemas.openxmlformats.org/officeDocument/2006/relationships/notesSlide" Target="/ppt/notesSlides/notesSlide11.xml" Id="R9c481674795f48d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44106bab5584124" /><Relationship Type="http://schemas.openxmlformats.org/officeDocument/2006/relationships/notesSlide" Target="/ppt/notesSlides/notesSlide12.xml" Id="R3953bcce75fe4cb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1ce1da17a244419" /><Relationship Type="http://schemas.openxmlformats.org/officeDocument/2006/relationships/notesSlide" Target="/ppt/notesSlides/notesSlide13.xml" Id="R5c9ab2997450415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cbe78ae8c364821" /><Relationship Type="http://schemas.openxmlformats.org/officeDocument/2006/relationships/notesSlide" Target="/ppt/notesSlides/notesSlide14.xml" Id="R54f9bfb5a89a4a2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69b53bfdd324ea6" /><Relationship Type="http://schemas.openxmlformats.org/officeDocument/2006/relationships/notesSlide" Target="/ppt/notesSlides/notesSlide15.xml" Id="R3efdeeed18404bf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2466c73ec9f4ab2" /><Relationship Type="http://schemas.openxmlformats.org/officeDocument/2006/relationships/notesSlide" Target="/ppt/notesSlides/notesSlide16.xml" Id="Rf2b3f1f33d89401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da0a99fc52c4bc5" /><Relationship Type="http://schemas.openxmlformats.org/officeDocument/2006/relationships/notesSlide" Target="/ppt/notesSlides/notesSlide17.xml" Id="R987683776913430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15916233c564b9c" /><Relationship Type="http://schemas.openxmlformats.org/officeDocument/2006/relationships/notesSlide" Target="/ppt/notesSlides/notesSlide18.xml" Id="Rfe12b22eb16c43d8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87284bb263d4274" /><Relationship Type="http://schemas.openxmlformats.org/officeDocument/2006/relationships/notesSlide" Target="/ppt/notesSlides/notesSlide19.xml" Id="R04c05c82856f4fe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2D3317-ECB8-4000-83C1-B2849D8CD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5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CycleTwin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8C8765-D51B-4CD6-A141-3E57D8D66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Cycle-by-cycle late or absent ovulation research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59AAA9-2D7B-4439-A466-692B543B7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Team CycleTwin / VIT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38590D-F0D3-43E0-94D4-89CD54394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2900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A fitted synthetic forecasting workflow with explicit safety gates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5A67B1-19E7-49A5-867D-B9C53ADE9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672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Meet Kushi: fictional persona, never performance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215865-1D78-45E4-8C57-F33454477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6463068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0717AC-87BF-475F-A768-0B4DFB994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research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D6CEFD-EDBC-4F77-A9FC-1460FAF95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Monitoring irregular cycles without claiming a PMOS diagnosis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949DFB-C6C9-4EB4-B8A5-DC52DE8C0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Target: generated ovulation after the configured cutoff, or generated absence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25558F-2B8A-40B7-B379-C2AF90F22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2900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India context: 7.2% by NIH criteria and 19.6% by Rotterdam criteria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243CA2-00B3-4E39-8CCE-1A360E4C8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672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Published prevalence depends on definition. It is not the simulator mixture or model accuracy.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1ABBC0-1885-493C-9B58-FDAD2DF64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56511931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4BA0DF-E4B6-4148-9DAA-E6023C2D6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Meet Kushi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DE6557-DD59-41F5-8CE7-5CA2FF666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Fictional synthetic persona - not a real patient - not performance evidence.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0F510C-ED30-440C-8754-3DB64F2C0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21 years, year 3 B.Tech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D8D4B6-4117-47A0-8B5B-8CF59632A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Hostel life, exam-season sleep debt, mother with type 2 diabetes, smartwatch wearer.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186AC4-2BBD-4D11-920B-F2C2DC5CB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Actual generated past lengths: 41, 38, 41, 38, 44, 51 days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36C90F-8200-4D1D-B459-E8AE02EB3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Selection uses generator truth and a declared seed, never predicted risk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6AF496-940F-4AE0-B095-8BAA99487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53058238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28F9AA-28F2-44B9-988E-8C5FD35B1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Static and dynamic input streams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49C4F8-FFA4-48BC-8355-FC1E51B0B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EHR-lite is implemented and explicitly oracle-adjacent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62AEE9-2063-4458-8D1A-3B0E4347B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Static: generated IR latent, androgen, age, BMI and family history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DF2B89-A35B-4773-9A1C-DC37ACD19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2900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Dynamic: calendar history, RHR, HRV, steps, sleep and temperature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CCAD74-3386-4370-95E0-90CCBC60F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672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No measured hormone values. The XML parser demonstrates input shape only.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C3E90B-B785-4B74-A04A-CB63265E4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70113938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EAA54B-CA4D-401A-B03C-1CFF4BE5BFD5}"/>
              </a:ext>
            </a:extLst>
          </p:cNvPr>
          <p:cNvCxnSpPr>
            <a:stCxn xmlns:a="http://schemas.openxmlformats.org/drawingml/2006/main" id="7" idx="1"/>
            <a:endCxn xmlns:a="http://schemas.openxmlformats.org/drawingml/2006/main" id="8" idx="3"/>
          </p:cNvCxnSpPr>
          <p:nvPr/>
        </p:nvCxnSpPr>
        <p:spPr>
          <a:xfrm xmlns:a="http://schemas.openxmlformats.org/drawingml/2006/main" flipH="1">
            <a:off x="7620000" y="5214938"/>
            <a:ext cx="7143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0CF32A-972F-45B1-A1C1-31F497BDAA8A}"/>
              </a:ext>
            </a:extLst>
          </p:cNvPr>
          <p:cNvCxnSpPr>
            <a:stCxn xmlns:a="http://schemas.openxmlformats.org/drawingml/2006/main" id="6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>
            <a:off x="9906000" y="4000500"/>
            <a:ext cx="0" cy="7143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DAF564-759F-4D9B-B1C2-757878CF9BE7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7620000" y="3429000"/>
            <a:ext cx="7143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201750-2DDB-4E3C-8211-7CB52AE8D7D4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 flipV="1">
            <a:off x="3762375" y="3429000"/>
            <a:ext cx="714375" cy="738188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73810D-D43A-4C4B-80A2-38D6EFD03FE0}"/>
              </a:ext>
            </a:extLst>
          </p:cNvPr>
          <p:cNvCxnSpPr>
            <a:stCxn xmlns:a="http://schemas.openxmlformats.org/drawingml/2006/main" id="3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762375" y="2738438"/>
            <a:ext cx="714375" cy="690563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444ADC-42D5-4386-ADB5-47BDD41FD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One fitted prediction path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9ACBA2-B4FC-44F1-B0BC-978901F74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The dashboard loads the same persisted pipeline used by the benchmark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5ED2D5-26D9-4F14-A3F2-B890BF603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23837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Synthetic static EHR-lite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Oracle-adjacent internals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2F2571-3BF1-44BA-9B9C-4989C8BDD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66712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Synthetic nightly data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Calendar and wearables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B4EA99-9E20-4953-A11C-0C2631856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57500"/>
            <a:ext cx="3143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Shared feature builder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Training median and scaling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6D158C-49EF-4522-9B14-8C492CE80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857500"/>
            <a:ext cx="3143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Persisted logistic model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Validation calibration and threshold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08F0D5-EE8B-4A08-8CE1-B1F52E6CF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71487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Fail-closed safety gate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Withhold personal outputs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1A3F62-D8EB-4963-8C1F-450351095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71487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Doctor / Kushi dashboard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Probability and exact contributions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A12A15-E8F1-4108-8EA8-064ED66EA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191125"/>
            <a:ext cx="31432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EF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42B"/>
                </a:solidFill>
                <a:latin typeface="Arial"/>
                <a:ea typeface="Arial"/>
                <a:cs typeface="Arial"/>
              </a:rPr>
              <a:t>Separate illustrative twin</a:t>
            </a:r>
          </a:p>
          <a:p xmlns:a="http://schemas.openxmlformats.org/drawingml/2006/main">
            <a: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42B"/>
                </a:solidFill>
                <a:latin typeface="Arial"/>
                <a:ea typeface="Arial"/>
                <a:cs typeface="Arial"/>
              </a:rPr>
              <a:t>No contribution to fitted score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3D72A1-59A4-46F5-9023-122661AFE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31035530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813F33-FB29-4C6C-B9B0-953AE1377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Training and selection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120687-0605-41A0-8BE2-63EDDA66F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Every explicit operating choice uses train or validation data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946365-170C-424E-90C4-A354A7954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Patient counts per development seed: train 840, validation 180, test 180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E3501C-D5FA-4002-865D-79FD511C9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Training medians and scaling, logistic regression, validation Platt calibration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239011-D688-4853-9958-957950E5B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Validation Brier-gain rule selects richer features or calendar fallback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84126C-36C1-4D5C-9137-AC96AFDC6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Validation F1 chooses the threshold. Test outcomes never choose that threshold.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79A12A-2F13-4F60-A37D-46E11EAC8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73448550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7F69D9-884D-47BC-A94F-72FA52655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Synthetic development evidence: day 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5D24AC-25E0-42EA-B861-747B49249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Seed means describe the current generator, not clinical forecasting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526EC0-110B-4A89-B7CA-148199969EB9}"/>
              </a:ext>
            </a:extLst>
          </p:cNvPr>
          <p:cNvGraphicFramePr/>
          <p:nvPr/>
        </p:nvGraphicFramePr>
        <p:xfrm>
          <a:off xmlns:a="http://schemas.openxmlformats.org/drawingml/2006/main" x="609600" y="204787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33500"/>
                <a:gridCol w="1333500"/>
                <a:gridCol w="2619375"/>
                <a:gridCol w="2619375"/>
                <a:gridCol w="3067050"/>
              </a:tblGrid>
              <a:tr h="7810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Day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AUROC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Brier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day MAE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5.004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5.004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5.004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5.004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E995F7-9FE9-48EA-A79C-AE6B647F5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68705244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E14204-5E5E-4683-BF2F-9EEDD55BF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Synthetic development evidence: day 14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362410-02A5-4A93-9BD3-ECB0A1A66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Seed means describe the current generator, not clinical forecasting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C035D1-9278-4BCD-89CF-9DD5191D8C27}"/>
              </a:ext>
            </a:extLst>
          </p:cNvPr>
          <p:cNvGraphicFramePr/>
          <p:nvPr/>
        </p:nvGraphicFramePr>
        <p:xfrm>
          <a:off xmlns:a="http://schemas.openxmlformats.org/drawingml/2006/main" x="609600" y="204787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33500"/>
                <a:gridCol w="1333500"/>
                <a:gridCol w="2619375"/>
                <a:gridCol w="2619375"/>
                <a:gridCol w="3067050"/>
              </a:tblGrid>
              <a:tr h="7810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Day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AUROC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Brier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day MAE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5.132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5.132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0.850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0.157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6.069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0.843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5.565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D1F934-FAE3-4DB7-AA54-F72658203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86891555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976D6A-9F72-4154-B0E1-80E223204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Synthetic development evidence: day 18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85BA45-4F49-4786-A130-9A84C8CA3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Seed means describe the current generator, not clinical forecasting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04C0CF-DA2B-4F1E-92E6-6A5E77FB02B4}"/>
              </a:ext>
            </a:extLst>
          </p:cNvPr>
          <p:cNvGraphicFramePr/>
          <p:nvPr/>
        </p:nvGraphicFramePr>
        <p:xfrm>
          <a:off xmlns:a="http://schemas.openxmlformats.org/drawingml/2006/main" x="609600" y="204787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33500"/>
                <a:gridCol w="1333500"/>
                <a:gridCol w="2619375"/>
                <a:gridCol w="2619375"/>
                <a:gridCol w="3067050"/>
              </a:tblGrid>
              <a:tr h="7810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Day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AUROC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Brier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day MAE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5.439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5.439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0.906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0.119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5.267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0.907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0.119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5.267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3D4248-BAFD-40C0-B241-0ECA3E9B1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209253550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033A89-68B6-4169-A0AF-D1D1FFBF5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Frozen synthetic evidence: day 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1FB5A6-A321-4BC2-A0AD-7379FE9EC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Reserved seeds, unchanged train/validation choices, one guarded run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4AE26F-52D6-48F5-909A-00A26600BE4F}"/>
              </a:ext>
            </a:extLst>
          </p:cNvPr>
          <p:cNvGraphicFramePr/>
          <p:nvPr/>
        </p:nvGraphicFramePr>
        <p:xfrm>
          <a:off xmlns:a="http://schemas.openxmlformats.org/drawingml/2006/main" x="609600" y="204787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33500"/>
                <a:gridCol w="1333500"/>
                <a:gridCol w="2619375"/>
                <a:gridCol w="2619375"/>
                <a:gridCol w="3067050"/>
              </a:tblGrid>
              <a:tr h="7810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Day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AUROC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Brier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day MAE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5.142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5.142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5.142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5.142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F42E38-4720-408A-AE58-030366D6C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24047284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DD32B4-0ED0-4EED-B307-775234A8B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Frozen synthetic evidence: day 14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28F2FA-7C96-4E8F-B8F5-8D48FEF7F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Reserved seeds, unchanged train/validation choices, one guarded run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FD1C9B-1256-4715-B033-63225C51A08A}"/>
              </a:ext>
            </a:extLst>
          </p:cNvPr>
          <p:cNvGraphicFramePr/>
          <p:nvPr/>
        </p:nvGraphicFramePr>
        <p:xfrm>
          <a:off xmlns:a="http://schemas.openxmlformats.org/drawingml/2006/main" x="609600" y="204787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33500"/>
                <a:gridCol w="1333500"/>
                <a:gridCol w="2619375"/>
                <a:gridCol w="2619375"/>
                <a:gridCol w="3067050"/>
              </a:tblGrid>
              <a:tr h="7810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Day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AUROC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Brier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day MAE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5.251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5.251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0.855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0.155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6.790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0.850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0.158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6.319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067411-2BA8-4092-9406-E96D95B11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41881353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78EF7C-78B9-4485-B669-F52241C4E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Frozen synthetic evidence: day 18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BA9155-EFBF-4DB2-94C2-0F555449E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Reserved seeds, unchanged train/validation choices, one guarded run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ECBAB0-B746-4484-BF96-ECCB12259A8D}"/>
              </a:ext>
            </a:extLst>
          </p:cNvPr>
          <p:cNvGraphicFramePr/>
          <p:nvPr/>
        </p:nvGraphicFramePr>
        <p:xfrm>
          <a:off xmlns:a="http://schemas.openxmlformats.org/drawingml/2006/main" x="609600" y="204787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33500"/>
                <a:gridCol w="1333500"/>
                <a:gridCol w="2619375"/>
                <a:gridCol w="2619375"/>
                <a:gridCol w="3067050"/>
              </a:tblGrid>
              <a:tr h="7810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Day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AUROC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Brier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day MAE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5.570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5.570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0.907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0.117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5.449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0.907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0.117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5.449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ED51CB-3DD4-4138-A200-7DC49D7EB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72092671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29FE21-EF32-4405-AFB8-B2011FAEB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Evidence at the latest sensor snapshot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D46BE9-A61E-4FF9-B14D-3019B9441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Predeclared temperature sensor tier, descriptive seed means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8139B3-C0EA-4BEA-87DB-E72867CA1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Synthetic day 18, Tier 2: AUROC 0.907, Brier 0.117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2F5459-B057-4B38-88E3-B22444154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3,240 synthetic test cycles across 3 frozen seeds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07B831-F078-4691-BF30-66FEC1844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A separate frozen evaluation artifact is available.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4BE5F6-2650-48F2-860A-E90EB0EB3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Current AUPRC is custom and tie-sensitive. Standard average precision is a reporting follow-up.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E6CC01-B88A-4170-B022-2FFC6DFA6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81360205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4A4172-8B54-48B6-9895-33B570252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What the clinician view shows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1D1E1F-37BD-4D38-93DD-CBA168964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Decision-support research display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EC1438-3F85-4423-91F7-04104E226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Fitted probability beside its own validation threshold and held-out model evidence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551EEF-5A28-46D0-85E5-C1B4D5A9C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Exact additive feature contributions and explicit imputation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4F60D9-919A-4ECB-A9D2-51CB5A175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Heuristic day estimate and conditional, illustrative day band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9A9240-CB1D-4D56-B151-77AABB953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Data-quality ribbon and the reason for any withholding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4BF900-A930-419B-9F51-3A18296E3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52614796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C34D15-8AA6-48B1-8CB2-4525F30E1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Guardrails live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8DE68D-CB04-48F8-BDB2-B3279641C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Missing safety information causes abstention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4D0B33-DD51-4154-9FD7-3FA64EC48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Contraception, thyroid and prolactin flags, age and pregnancy-related states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262AC6-98F5-4DFB-945A-31ABFFD4C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Early post-menarche, perimenopause and insufficient observed temperature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52D960-FA22-4DF3-BC9F-D8F1FBD1F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Withholding removes personal scores, intervals, explanations, sandbox outputs and alerts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4F5C36-B8DB-49C7-BD9B-5738B2885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workflow is synthetic and its safety effectiveness has not been clinically evaluated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33996F-D9D7-4998-889F-61474E807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97829340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4AF523-1D62-4595-8DFB-21956EF8B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twin and assumption sandbox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80E8FC-4F17-4187-96E9-54F009859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Clear boundaries around simulated physiology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DC076A-7865-438E-A67F-E984D277F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Reproductive and metabolic equations generate an illustrative state trajectory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40A98A-46AC-4124-AAD4-8ABC4F6A1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twin does not affect the logistic score or its reported performance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0E2E4D-EE67-49A7-B1AD-74E369748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sandbox edits invented model inputs. It does not predict a treatment effect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528A1D-9748-4388-918D-B7919283E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Glucose threshold crossings are simulated counts, not an evaluated glucose forecast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525831-B638-4FA1-A209-5957F6B1B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45117595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844C27-DC3B-450F-B406-21882636E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Where it fails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667AC2-6D7F-4925-8ADA-B91FCE59D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All declared Kushi scenarios remain visible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C9D365-F878-43AD-91A6-948107334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Display the fixed scenario seeds with misses, false alarms or withholding unchanged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0EDB90-D99F-4698-B7B4-55DE60C40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Different snapshots can fall back to calendar even when sensors are available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D6DBC8-9A5D-4AE6-81F6-4BCE0D2C8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A class set containing both outcomes does not identify one result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1B8CEC-009D-4B8D-A68E-1F62DFD8F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Robustness, state-estimator and conformal coverage evidence remain separate work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06E869-CB18-4DF3-919B-5C862AC8B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24384287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AF7159-B387-449C-82B6-37C44C475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Validity limits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4A8556-5CBE-4410-83A2-F41A078C0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recovery is not prospective evidence in women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66C213-3113-4D5F-B012-445A289A7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Labels and sensor changes share generator assumptions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81D700-FBED-463E-9EDD-A9E429921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EHR-lite includes a label-generating internal latent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A12C18-D282-41DF-9A10-5B5121B7D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Old test seeds were reused during development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83C382-BD90-4B2A-BD88-5CB94F2B4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current benchmark does not evaluate the complete sequential alert policy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20A687-63AA-4706-B145-9C0BFCD2D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11412587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18B72C-F609-4B28-9CEA-3414D0930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Reproducible demonstration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11438A-3780-49EB-ACB8-18EEDE749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Public source, inspectable artifacts and explicit next work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4C0D3C-8F9A-4F1F-8209-BF3F5410D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README, model cards and the audit link every claim to evidence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DB6408-D799-49E2-A4F2-46CA07A96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Persisted inference reproduces the benchmark and exposes exact feature calculations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E96C21-21D3-4F13-91A4-7C197F32F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required video remains a human recording and upload task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730F6C-9DD1-49D3-8320-779C367BD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Clinical validation, clinician feedback and sim-to-real evaluation remain outstanding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B0CB51-0E62-49FD-AD1B-F40765284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206192087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2026-10-20T08:43:47.9400000Z</dcterms:created>
  <dcterms:modified xsi:type="dcterms:W3CDTF">2026-10-20T08:43:47.9400000Z</dcterms:modified>
</coreProperties>
</file>