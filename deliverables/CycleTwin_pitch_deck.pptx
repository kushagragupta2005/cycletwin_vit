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9dd17b8780414e05" /><Relationship Type="http://schemas.openxmlformats.org/officeDocument/2006/relationships/extended-properties" Target="/docProps/app.xml" Id="Rf8b7620b5e0f42d6" /><Relationship Type="http://schemas.openxmlformats.org/officeDocument/2006/relationships/officeDocument" Target="/ppt/presentation.xml" Id="R0608418f932d4a0b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b1aaad957f7e40ba"/>
  </p:sldMasterIdLst>
  <p:notesMasterIdLst>
    <p:notesMasterId xmlns:r="http://schemas.openxmlformats.org/officeDocument/2006/relationships" r:id="R7bbf377c7b094852"/>
  </p:notesMasterIdLst>
  <p:sldIdLst>
    <p:sldId xmlns:r="http://schemas.openxmlformats.org/officeDocument/2006/relationships" id="256" r:id="R188a46439faa4970"/>
    <p:sldId xmlns:r="http://schemas.openxmlformats.org/officeDocument/2006/relationships" id="257" r:id="R51968984b8de40e5"/>
    <p:sldId xmlns:r="http://schemas.openxmlformats.org/officeDocument/2006/relationships" id="258" r:id="Rf0a59c20a7b443da"/>
    <p:sldId xmlns:r="http://schemas.openxmlformats.org/officeDocument/2006/relationships" id="259" r:id="Rdea6b45de0864fa8"/>
    <p:sldId xmlns:r="http://schemas.openxmlformats.org/officeDocument/2006/relationships" id="260" r:id="R7e55ee121dda4550"/>
    <p:sldId xmlns:r="http://schemas.openxmlformats.org/officeDocument/2006/relationships" id="261" r:id="Ra66b23b2e8e54136"/>
    <p:sldId xmlns:r="http://schemas.openxmlformats.org/officeDocument/2006/relationships" id="262" r:id="Rfb12ad8c9d99489f"/>
    <p:sldId xmlns:r="http://schemas.openxmlformats.org/officeDocument/2006/relationships" id="263" r:id="R6e921056773e4600"/>
    <p:sldId xmlns:r="http://schemas.openxmlformats.org/officeDocument/2006/relationships" id="264" r:id="Ra6c3bb2e375e410a"/>
    <p:sldId xmlns:r="http://schemas.openxmlformats.org/officeDocument/2006/relationships" id="265" r:id="Rb5e8a280ea814f68"/>
    <p:sldId xmlns:r="http://schemas.openxmlformats.org/officeDocument/2006/relationships" id="266" r:id="Rab76cffa7d38438d"/>
    <p:sldId xmlns:r="http://schemas.openxmlformats.org/officeDocument/2006/relationships" id="267" r:id="Re181c0ff593a43a1"/>
    <p:sldId xmlns:r="http://schemas.openxmlformats.org/officeDocument/2006/relationships" id="268" r:id="Rb322b2e7966440a5"/>
    <p:sldId xmlns:r="http://schemas.openxmlformats.org/officeDocument/2006/relationships" id="269" r:id="R90d7c0ed01c04629"/>
    <p:sldId xmlns:r="http://schemas.openxmlformats.org/officeDocument/2006/relationships" id="270" r:id="Ree40ffc9281c41a4"/>
    <p:sldId xmlns:r="http://schemas.openxmlformats.org/officeDocument/2006/relationships" id="271" r:id="R977b2a7dcc7e40e2"/>
    <p:sldId xmlns:r="http://schemas.openxmlformats.org/officeDocument/2006/relationships" id="272" r:id="R9bd7c6728eb64b9c"/>
    <p:sldId xmlns:r="http://schemas.openxmlformats.org/officeDocument/2006/relationships" id="273" r:id="R9cf604d4171348d5"/>
    <p:sldId xmlns:r="http://schemas.openxmlformats.org/officeDocument/2006/relationships" id="274" r:id="R358adbe4e3d7497f"/>
    <p:sldId xmlns:r="http://schemas.openxmlformats.org/officeDocument/2006/relationships" id="275" r:id="Rce650b1007d94c8b"/>
    <p:sldId xmlns:r="http://schemas.openxmlformats.org/officeDocument/2006/relationships" id="276" r:id="Ra94ad3574dc34fab"/>
    <p:sldId xmlns:r="http://schemas.openxmlformats.org/officeDocument/2006/relationships" id="277" r:id="Rd4ec4cdfb1aa4593"/>
    <p:sldId xmlns:r="http://schemas.openxmlformats.org/officeDocument/2006/relationships" id="278" r:id="R5dbe51e47040463a"/>
    <p:sldId xmlns:r="http://schemas.openxmlformats.org/officeDocument/2006/relationships" id="279" r:id="Rab4df056a5124648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ea850ee769a7446b" /><Relationship Type="http://schemas.openxmlformats.org/officeDocument/2006/relationships/slideMaster" Target="/ppt/slideMasters/slideMaster1.xml" Id="Rb1aaad957f7e40ba" /><Relationship Type="http://schemas.openxmlformats.org/officeDocument/2006/relationships/notesMaster" Target="/ppt/notesMasters/notesMaster1.xml" Id="R7bbf377c7b094852" /><Relationship Type="http://schemas.openxmlformats.org/officeDocument/2006/relationships/presProps" Target="/ppt/presProps.xml" Id="Rdda327512a9c4359" /><Relationship Type="http://schemas.openxmlformats.org/officeDocument/2006/relationships/tableStyles" Target="/ppt/tableStyles.xml" Id="Rf6642d8b8eaa4589" /><Relationship Type="http://schemas.openxmlformats.org/officeDocument/2006/relationships/slide" Target="/ppt/slides/slide1.xml" Id="R188a46439faa4970" /><Relationship Type="http://schemas.openxmlformats.org/officeDocument/2006/relationships/slide" Target="/ppt/slides/slide2.xml" Id="R51968984b8de40e5" /><Relationship Type="http://schemas.openxmlformats.org/officeDocument/2006/relationships/slide" Target="/ppt/slides/slide3.xml" Id="Rf0a59c20a7b443da" /><Relationship Type="http://schemas.openxmlformats.org/officeDocument/2006/relationships/slide" Target="/ppt/slides/slide4.xml" Id="Rdea6b45de0864fa8" /><Relationship Type="http://schemas.openxmlformats.org/officeDocument/2006/relationships/slide" Target="/ppt/slides/slide5.xml" Id="R7e55ee121dda4550" /><Relationship Type="http://schemas.openxmlformats.org/officeDocument/2006/relationships/slide" Target="/ppt/slides/slide6.xml" Id="Ra66b23b2e8e54136" /><Relationship Type="http://schemas.openxmlformats.org/officeDocument/2006/relationships/slide" Target="/ppt/slides/slide7.xml" Id="Rfb12ad8c9d99489f" /><Relationship Type="http://schemas.openxmlformats.org/officeDocument/2006/relationships/slide" Target="/ppt/slides/slide8.xml" Id="R6e921056773e4600" /><Relationship Type="http://schemas.openxmlformats.org/officeDocument/2006/relationships/slide" Target="/ppt/slides/slide9.xml" Id="Ra6c3bb2e375e410a" /><Relationship Type="http://schemas.openxmlformats.org/officeDocument/2006/relationships/slide" Target="/ppt/slides/slide10.xml" Id="Rb5e8a280ea814f68" /><Relationship Type="http://schemas.openxmlformats.org/officeDocument/2006/relationships/slide" Target="/ppt/slides/slide11.xml" Id="Rab76cffa7d38438d" /><Relationship Type="http://schemas.openxmlformats.org/officeDocument/2006/relationships/slide" Target="/ppt/slides/slide12.xml" Id="Re181c0ff593a43a1" /><Relationship Type="http://schemas.openxmlformats.org/officeDocument/2006/relationships/slide" Target="/ppt/slides/slide13.xml" Id="Rb322b2e7966440a5" /><Relationship Type="http://schemas.openxmlformats.org/officeDocument/2006/relationships/slide" Target="/ppt/slides/slide14.xml" Id="R90d7c0ed01c04629" /><Relationship Type="http://schemas.openxmlformats.org/officeDocument/2006/relationships/slide" Target="/ppt/slides/slide15.xml" Id="Ree40ffc9281c41a4" /><Relationship Type="http://schemas.openxmlformats.org/officeDocument/2006/relationships/slide" Target="/ppt/slides/slide16.xml" Id="R977b2a7dcc7e40e2" /><Relationship Type="http://schemas.openxmlformats.org/officeDocument/2006/relationships/slide" Target="/ppt/slides/slide17.xml" Id="R9bd7c6728eb64b9c" /><Relationship Type="http://schemas.openxmlformats.org/officeDocument/2006/relationships/slide" Target="/ppt/slides/slide18.xml" Id="R9cf604d4171348d5" /><Relationship Type="http://schemas.openxmlformats.org/officeDocument/2006/relationships/slide" Target="/ppt/slides/slide19.xml" Id="R358adbe4e3d7497f" /><Relationship Type="http://schemas.openxmlformats.org/officeDocument/2006/relationships/slide" Target="/ppt/slides/slide20.xml" Id="Rce650b1007d94c8b" /><Relationship Type="http://schemas.openxmlformats.org/officeDocument/2006/relationships/slide" Target="/ppt/slides/slide21.xml" Id="Ra94ad3574dc34fab" /><Relationship Type="http://schemas.openxmlformats.org/officeDocument/2006/relationships/slide" Target="/ppt/slides/slide22.xml" Id="Rd4ec4cdfb1aa4593" /><Relationship Type="http://schemas.openxmlformats.org/officeDocument/2006/relationships/slide" Target="/ppt/slides/slide23.xml" Id="R5dbe51e47040463a" /><Relationship Type="http://schemas.openxmlformats.org/officeDocument/2006/relationships/slide" Target="/ppt/slides/slide24.xml" Id="Rab4df056a5124648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e6a5653c9c6d494a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5ed2b79fd3dd4365" /><Relationship Type="http://schemas.openxmlformats.org/officeDocument/2006/relationships/notesMaster" Target="/ppt/notesMasters/notesMaster1.xml" Id="R83a08112634347b4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a5bce8eb52ed4d9c" /><Relationship Type="http://schemas.openxmlformats.org/officeDocument/2006/relationships/notesMaster" Target="/ppt/notesMasters/notesMaster1.xml" Id="R04b06e0399654306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e22f5eeb75924b68" /><Relationship Type="http://schemas.openxmlformats.org/officeDocument/2006/relationships/notesMaster" Target="/ppt/notesMasters/notesMaster1.xml" Id="Rcdab0238694e4e30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ccab96d6c95d4791" /><Relationship Type="http://schemas.openxmlformats.org/officeDocument/2006/relationships/notesMaster" Target="/ppt/notesMasters/notesMaster1.xml" Id="R39544ccc114b48d4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eba1d44c59bb4a74" /><Relationship Type="http://schemas.openxmlformats.org/officeDocument/2006/relationships/notesMaster" Target="/ppt/notesMasters/notesMaster1.xml" Id="R9c227631aeeb4ea3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0636bc90e71048b2" /><Relationship Type="http://schemas.openxmlformats.org/officeDocument/2006/relationships/notesMaster" Target="/ppt/notesMasters/notesMaster1.xml" Id="R7855424349ef4397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8e39cf0f7f5448a0" /><Relationship Type="http://schemas.openxmlformats.org/officeDocument/2006/relationships/notesMaster" Target="/ppt/notesMasters/notesMaster1.xml" Id="R8c8a0731993a4c0a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5293ec9cd14046fb" /><Relationship Type="http://schemas.openxmlformats.org/officeDocument/2006/relationships/notesMaster" Target="/ppt/notesMasters/notesMaster1.xml" Id="R15d50fcd253d421b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7ae3fdf5dfdb43b4" /><Relationship Type="http://schemas.openxmlformats.org/officeDocument/2006/relationships/notesMaster" Target="/ppt/notesMasters/notesMaster1.xml" Id="R7232066ce25143e7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022e71f4d98043fe" /><Relationship Type="http://schemas.openxmlformats.org/officeDocument/2006/relationships/notesMaster" Target="/ppt/notesMasters/notesMaster1.xml" Id="Rbcc15252cc5e4c6a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452b8c03648a4d91" /><Relationship Type="http://schemas.openxmlformats.org/officeDocument/2006/relationships/notesMaster" Target="/ppt/notesMasters/notesMaster1.xml" Id="Rb306d046e99245c5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fd15f22ae07446e6" /><Relationship Type="http://schemas.openxmlformats.org/officeDocument/2006/relationships/notesMaster" Target="/ppt/notesMasters/notesMaster1.xml" Id="R4ab9b86f53e043f2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c26b96c9327b499b" /><Relationship Type="http://schemas.openxmlformats.org/officeDocument/2006/relationships/notesMaster" Target="/ppt/notesMasters/notesMaster1.xml" Id="Rdf867689c04c41c6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375ede879cd04847" /><Relationship Type="http://schemas.openxmlformats.org/officeDocument/2006/relationships/notesMaster" Target="/ppt/notesMasters/notesMaster1.xml" Id="Ra3de2dd234244674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4e4e9b1ec30a4240" /><Relationship Type="http://schemas.openxmlformats.org/officeDocument/2006/relationships/notesMaster" Target="/ppt/notesMasters/notesMaster1.xml" Id="R84b62617477a4a56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4868e04487f7441c" /><Relationship Type="http://schemas.openxmlformats.org/officeDocument/2006/relationships/notesMaster" Target="/ppt/notesMasters/notesMaster1.xml" Id="Ra503b11b3be04a1d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00a3f84ccd0c470a" /><Relationship Type="http://schemas.openxmlformats.org/officeDocument/2006/relationships/notesMaster" Target="/ppt/notesMasters/notesMaster1.xml" Id="R9f97183f837445cd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3b95f9b676614ecb" /><Relationship Type="http://schemas.openxmlformats.org/officeDocument/2006/relationships/notesMaster" Target="/ppt/notesMasters/notesMaster1.xml" Id="R8b30f4734a8545cf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7fef3294f3db41d1" /><Relationship Type="http://schemas.openxmlformats.org/officeDocument/2006/relationships/notesMaster" Target="/ppt/notesMasters/notesMaster1.xml" Id="R151330ca69444a57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f4037c79f1cd4f40" /><Relationship Type="http://schemas.openxmlformats.org/officeDocument/2006/relationships/notesMaster" Target="/ppt/notesMasters/notesMaster1.xml" Id="Rb718e8028a6c4eaf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9561712d11284936" /><Relationship Type="http://schemas.openxmlformats.org/officeDocument/2006/relationships/notesMaster" Target="/ppt/notesMasters/notesMaster1.xml" Id="Rc4030e36efba4774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9aa4bfeec0244730" /><Relationship Type="http://schemas.openxmlformats.org/officeDocument/2006/relationships/notesMaster" Target="/ppt/notesMasters/notesMaster1.xml" Id="R3802ba83c21e4ad3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8475c5b6d4ad43f8" /><Relationship Type="http://schemas.openxmlformats.org/officeDocument/2006/relationships/notesMaster" Target="/ppt/notesMasters/notesMaster1.xml" Id="Re1fa77c503b54250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809b788a5dbb4ea0" /><Relationship Type="http://schemas.openxmlformats.org/officeDocument/2006/relationships/notesMaster" Target="/ppt/notesMasters/notesMaster1.xml" Id="R179dfb46fc4845ba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docs/claims.json, generated by scripts/build_claims.py. All project metrics are synthetic development results. Cycle-by-cycle late or absent ovulation research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docs/claims.json, generated by scripts/build_claims.py. All project metrics are synthetic development results. Monitoring irregular cycles without claiming a PMOS diagnosis Primary population-context source: https://pmc.ncbi.nlm.nih.gov/articles/PMC11581580/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docs/claims.json, generated by scripts/build_claims.py. All project metrics are synthetic development results. Fictional synthetic persona - not a real patient - not performance evidence.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docs/claims.json, generated by scripts/build_claims.py. All project metrics are synthetic development results. EHR-lite is implemented and explicitly oracle-adjacent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docs/claims.json, generated by scripts/build_claims.py. All project metrics are synthetic development results. The dashboard loads the same persisted pipeline used by the benchmark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docs/claims.json, generated by scripts/build_claims.py. All project metrics are synthetic development results. Every explicit operating choice uses train or validation data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docs/claims.json, generated by scripts/build_claims.py. All project metrics are synthetic development results. Seed means describe the current generator, not clinical forecasting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docs/claims.json, generated by scripts/build_claims.py. All project metrics are synthetic development results. Seed means describe the current generator, not clinical forecasting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docs/claims.json, generated by scripts/build_claims.py. All project metrics are synthetic development results. Seed means describe the current generator, not clinical forecasting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docs/claims.json, generated by scripts/build_claims.py. All project metrics are synthetic development results. Reserved seeds, unchanged train/validation choices, one guarded run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docs/claims.json, generated by scripts/build_claims.py. All project metrics are synthetic development results. Reserved seeds, unchanged train/validation choices, one guarded run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docs/claims.json, generated by scripts/build_claims.py. All project metrics are synthetic development results. Reserved seeds, unchanged train/validation choices, one guarded run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docs/claims.json, generated by scripts/build_claims.py. All project metrics are synthetic development results. Predeclared temperature sensor tier, descriptive seed means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docs/claims.json, generated by scripts/build_claims.py. All project metrics are synthetic development results. Earliest safe threshold crossing only; all values are synthetic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docs/claims.json, generated by scripts/build_claims.py. All project metrics are synthetic development results. Fixed Tier-2 day-18 model and threshold under predeclared perturbations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docs/claims.json, generated by scripts/build_claims.py. All project metrics are synthetic development results. Train-only calendar/static prior plus temperature, RHR and HRV likelihoods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docs/claims.json, generated by scripts/build_claims.py. All project metrics are synthetic development results. Post-freeze, noisy simulator proxies; neither clinical labs nor measured hormones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docs/claims.json, generated by scripts/build_claims.py. All project metrics are synthetic development results. One persisted frozen Tier-2 model on the build host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docs/claims.json, generated by scripts/build_claims.py. All project metrics are synthetic development results. Decision-support research display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docs/claims.json, generated by scripts/build_claims.py. All project metrics are synthetic development results. Missing safety information causes abstention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docs/claims.json, generated by scripts/build_claims.py. All project metrics are synthetic development results. Clear boundaries around simulated physiology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docs/claims.json, generated by scripts/build_claims.py. All project metrics are synthetic development results. All declared Kushi scenarios remain visible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docs/claims.json, generated by scripts/build_claims.py. All project metrics are synthetic development results. Synthetic recovery is not prospective evidence in women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docs/claims.json, generated by scripts/build_claims.py. All project metrics are synthetic development results. Public source, inspectable artifacts and explicit next work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c49963d557d4b07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fd059eeebf944ce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4bf44d19f3943a4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40ede26e5f54b2f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e758928eac04d26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ca41a6e31434d16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2D4BBB5F-DE53-453E-B903-BE86F18BC36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E69FE28F-77FA-491B-9938-E5B7C4210675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2D30B18B-9E5F-4D24-9D64-25490F3C212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07E2D8DD-E04B-4883-B879-B4612716CFC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83432764-8CB9-439D-8E9D-1C8DA360600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2568C371-3EE5-4BE4-88D3-0D47C1F602A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9DB31D53-171D-4D4E-9470-BBAD7667181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7BA29AC9-DD3E-4995-B1C1-1460D630B2F5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784018AC-6E89-4161-B8EB-A916F7CD9CA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4E6EBC6B-6328-4559-88E3-E0A3F21C9D3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4d69171a5d4844f6" /><Relationship Type="http://schemas.openxmlformats.org/officeDocument/2006/relationships/slideLayout" Target="/ppt/slideLayouts/slideLayout1.xml" Id="R51d3527a60e74256" /><Relationship Type="http://schemas.openxmlformats.org/officeDocument/2006/relationships/slideLayout" Target="/ppt/slideLayouts/slideLayout2.xml" Id="R4dad274505734a1a" /><Relationship Type="http://schemas.openxmlformats.org/officeDocument/2006/relationships/slideLayout" Target="/ppt/slideLayouts/slideLayout3.xml" Id="R4ef9ea46dae942f3" /><Relationship Type="http://schemas.openxmlformats.org/officeDocument/2006/relationships/slideLayout" Target="/ppt/slideLayouts/slideLayout4.xml" Id="R8348300ce05745a7" /><Relationship Type="http://schemas.openxmlformats.org/officeDocument/2006/relationships/slideLayout" Target="/ppt/slideLayouts/slideLayout5.xml" Id="Ref1e56100d1b4d80" /><Relationship Type="http://schemas.openxmlformats.org/officeDocument/2006/relationships/slideLayout" Target="/ppt/slideLayouts/slideLayout6.xml" Id="Re402036bab434c4b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1d3527a60e74256"/>
    <p:sldLayoutId xmlns:r="http://schemas.openxmlformats.org/officeDocument/2006/relationships" id="2147483650" r:id="R4dad274505734a1a"/>
    <p:sldLayoutId xmlns:r="http://schemas.openxmlformats.org/officeDocument/2006/relationships" id="2147483651" r:id="R4ef9ea46dae942f3"/>
    <p:sldLayoutId xmlns:r="http://schemas.openxmlformats.org/officeDocument/2006/relationships" id="2147483652" r:id="R8348300ce05745a7"/>
    <p:sldLayoutId xmlns:r="http://schemas.openxmlformats.org/officeDocument/2006/relationships" id="2147483653" r:id="Ref1e56100d1b4d80"/>
    <p:sldLayoutId xmlns:r="http://schemas.openxmlformats.org/officeDocument/2006/relationships" id="2147483654" r:id="Re402036bab434c4b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b5234624aa849b7" /><Relationship Type="http://schemas.openxmlformats.org/officeDocument/2006/relationships/notesSlide" Target="/ppt/notesSlides/notesSlide1.xml" Id="Rec7db81aff934ad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5153ee783074240" /><Relationship Type="http://schemas.openxmlformats.org/officeDocument/2006/relationships/notesSlide" Target="/ppt/notesSlides/notesSlide2.xml" Id="R68e133f8bc0240a6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89985887a7d48a7" /><Relationship Type="http://schemas.openxmlformats.org/officeDocument/2006/relationships/notesSlide" Target="/ppt/notesSlides/notesSlide3.xml" Id="R7a824ca5dc0e4124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0e7152835634710" /><Relationship Type="http://schemas.openxmlformats.org/officeDocument/2006/relationships/notesSlide" Target="/ppt/notesSlides/notesSlide4.xml" Id="R30eaa14b69704198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1038e47eb1e47de" /><Relationship Type="http://schemas.openxmlformats.org/officeDocument/2006/relationships/notesSlide" Target="/ppt/notesSlides/notesSlide5.xml" Id="Rc5311ba4fbfa4eba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d9314a692e7492b" /><Relationship Type="http://schemas.openxmlformats.org/officeDocument/2006/relationships/notesSlide" Target="/ppt/notesSlides/notesSlide6.xml" Id="Ra27cfb05104246c2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904dd092e974e7b" /><Relationship Type="http://schemas.openxmlformats.org/officeDocument/2006/relationships/notesSlide" Target="/ppt/notesSlides/notesSlide7.xml" Id="R41526a5cd7164b84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6b5bbe91e3446f8" /><Relationship Type="http://schemas.openxmlformats.org/officeDocument/2006/relationships/notesSlide" Target="/ppt/notesSlides/notesSlide8.xml" Id="Ra18c85660b2b4f30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0041ad5a6684a24" /><Relationship Type="http://schemas.openxmlformats.org/officeDocument/2006/relationships/notesSlide" Target="/ppt/notesSlides/notesSlide9.xml" Id="Raa57dcba6a334e51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f4fed047a724e80" /><Relationship Type="http://schemas.openxmlformats.org/officeDocument/2006/relationships/notesSlide" Target="/ppt/notesSlides/notesSlide10.xml" Id="R590b90f9374541de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9804880421b43d1" /><Relationship Type="http://schemas.openxmlformats.org/officeDocument/2006/relationships/notesSlide" Target="/ppt/notesSlides/notesSlide11.xml" Id="R88bc76684bc048a7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534741d30894921" /><Relationship Type="http://schemas.openxmlformats.org/officeDocument/2006/relationships/notesSlide" Target="/ppt/notesSlides/notesSlide12.xml" Id="Ra020c74b85a84627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fb3922c6b4c4306" /><Relationship Type="http://schemas.openxmlformats.org/officeDocument/2006/relationships/notesSlide" Target="/ppt/notesSlides/notesSlide13.xml" Id="R9530bc716aa24742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cc15c8215684bdd" /><Relationship Type="http://schemas.openxmlformats.org/officeDocument/2006/relationships/notesSlide" Target="/ppt/notesSlides/notesSlide14.xml" Id="Rc4c775158c564960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06895445d24466d" /><Relationship Type="http://schemas.openxmlformats.org/officeDocument/2006/relationships/notesSlide" Target="/ppt/notesSlides/notesSlide15.xml" Id="R6b2a28bb32314aec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48acf06d8044f21" /><Relationship Type="http://schemas.openxmlformats.org/officeDocument/2006/relationships/notesSlide" Target="/ppt/notesSlides/notesSlide16.xml" Id="Rd85d7e86c8b94ad4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aa7d6d815ea4b87" /><Relationship Type="http://schemas.openxmlformats.org/officeDocument/2006/relationships/notesSlide" Target="/ppt/notesSlides/notesSlide17.xml" Id="Rfa971709dd964f3b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ee436a859334b5a" /><Relationship Type="http://schemas.openxmlformats.org/officeDocument/2006/relationships/notesSlide" Target="/ppt/notesSlides/notesSlide18.xml" Id="Rd25f8136205a4c48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1902c0d19ff42ea" /><Relationship Type="http://schemas.openxmlformats.org/officeDocument/2006/relationships/notesSlide" Target="/ppt/notesSlides/notesSlide19.xml" Id="R7ddd0c733aa44ee3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19c9eb3e8714faf" /><Relationship Type="http://schemas.openxmlformats.org/officeDocument/2006/relationships/notesSlide" Target="/ppt/notesSlides/notesSlide20.xml" Id="R9a8fb594d5044ee2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eb6c897067f4fe0" /><Relationship Type="http://schemas.openxmlformats.org/officeDocument/2006/relationships/notesSlide" Target="/ppt/notesSlides/notesSlide21.xml" Id="Rad3e11db790b403a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002487b9dda4459" /><Relationship Type="http://schemas.openxmlformats.org/officeDocument/2006/relationships/notesSlide" Target="/ppt/notesSlides/notesSlide22.xml" Id="Rfd5235cbeef54113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8fbdb22975940f0" /><Relationship Type="http://schemas.openxmlformats.org/officeDocument/2006/relationships/notesSlide" Target="/ppt/notesSlides/notesSlide23.xml" Id="Re2feac29fc3d44f8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1710bd11e5e497c" /><Relationship Type="http://schemas.openxmlformats.org/officeDocument/2006/relationships/notesSlide" Target="/ppt/notesSlides/notesSlide24.xml" Id="R85ea37768fc64ef2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A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B18721A-5AC0-4D89-9256-92895F8DE8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5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5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5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5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5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5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5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5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5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5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5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5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CycleTwin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D7894E4-6E73-4E41-8117-FDE6CEF2A5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57300"/>
            <a:ext cx="10972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Cycle-by-cycle late or absent ovulation research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7B1529E-154B-4EF4-9484-CEAFEB919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190750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0E766E"/>
                </a:solidFill>
                <a:latin typeface="Arial"/>
                <a:ea typeface="Arial"/>
                <a:cs typeface="Arial"/>
              </a:rPr>
              <a:t>Team CycleTwin / VIT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1D4E8BD-0E1E-4B82-9F91-66A1C838E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429000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A fitted synthetic forecasting workflow with explicit safety gates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01A6C7C-3AF2-4078-B17A-0D690648B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667250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Meet Kushi: fictional persona, never performance evidence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8143B64-D9C2-4E4D-9182-5011D3F96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Synthetic research prototype. Not for diagnosis, contraception or conception planning.</a:t>
            </a:r>
          </a:p>
        </p:txBody>
      </p:sp>
    </p:spTree>
    <p:extLst>
      <p:ext uri="{BB962C8B-B14F-4D97-AF65-F5344CB8AC3E}">
        <p14:creationId xmlns:p14="http://schemas.microsoft.com/office/powerpoint/2010/main" val="852272427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A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2160DB3-9EAC-498C-9A5B-A7C38CD478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330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The research problem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B4647DA-2BED-4B6A-BB65-86AC7FF7A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57300"/>
            <a:ext cx="10972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Monitoring irregular cycles without claiming a PMOS diagnosis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39F3812-356B-4958-B81F-32C2D47F94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190750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0E766E"/>
                </a:solidFill>
                <a:latin typeface="Arial"/>
                <a:ea typeface="Arial"/>
                <a:cs typeface="Arial"/>
              </a:rPr>
              <a:t>Target: generated ovulation after the configured cutoff, or generated absence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75A3388-4E37-45B6-8968-C892C4795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429000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India context: 7.2% by NIH criteria and 19.6% by Rotterdam criteria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3ED7FE8-91F3-4770-8A6D-2C0996EBE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667250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Published prevalence depends on definition. It is not the simulator mixture or model accuracy.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BBEACA1-21AE-49A2-B4CC-51D20ACEE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Synthetic research prototype. Not for diagnosis, contraception or conception planning.</a:t>
            </a:r>
          </a:p>
        </p:txBody>
      </p:sp>
    </p:spTree>
    <p:extLst>
      <p:ext uri="{BB962C8B-B14F-4D97-AF65-F5344CB8AC3E}">
        <p14:creationId xmlns:p14="http://schemas.microsoft.com/office/powerpoint/2010/main" val="457391054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A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45CAB8A-2195-4462-8FB4-B6E40C6CF9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330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Meet Kushi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BED2DE4-7A30-40DF-B8CF-EF66D5F45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57300"/>
            <a:ext cx="10972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Fictional synthetic persona - not a real patient - not performance evidence.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787612D-6833-4886-93F8-8CCDE32AD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190750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0E766E"/>
                </a:solidFill>
                <a:latin typeface="Arial"/>
                <a:ea typeface="Arial"/>
                <a:cs typeface="Arial"/>
              </a:rPr>
              <a:t>21 years, year 3 B.Tech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9E02A95-6683-441C-846E-8312FD06D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119438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Hostel life, exam-season sleep debt, mother with type 2 diabetes, smartwatch wearer.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7EF65EA-A493-4760-838B-56CC7A781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048125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Actual generated past lengths: 41, 38, 41, 38, 44, 51 days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E7DA9B8-9810-40F2-8230-1BA3CA4B7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976813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Selection uses generator truth and a declared seed, never predicted risk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7AEE777-7D43-421B-9CF0-BED7C2D83D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Synthetic research prototype. Not for diagnosis, contraception or conception planning.</a:t>
            </a:r>
          </a:p>
        </p:txBody>
      </p:sp>
    </p:spTree>
    <p:extLst>
      <p:ext uri="{BB962C8B-B14F-4D97-AF65-F5344CB8AC3E}">
        <p14:creationId xmlns:p14="http://schemas.microsoft.com/office/powerpoint/2010/main" val="541574163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A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7E1EF6F-3A1D-40E6-A3F1-5084A56935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330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Static and dynamic input streams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77AB112-CEAA-462A-A3FC-0941BCD101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57300"/>
            <a:ext cx="10972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EHR-lite is implemented and explicitly oracle-adjacent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58308E6-7EEB-4461-99F7-8B311C17C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190750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0E766E"/>
                </a:solidFill>
                <a:latin typeface="Arial"/>
                <a:ea typeface="Arial"/>
                <a:cs typeface="Arial"/>
              </a:rPr>
              <a:t>Static: generated IR latent, androgen, age, BMI and family history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506E515-1677-406C-92AA-FC7D06A85E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429000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Dynamic: calendar history, RHR, HRV, steps, sleep and temperature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07C32B8-0867-41A7-B24B-EF79F3D8E8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667250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No measured hormone values. The XML parser demonstrates input shape only.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6FBF50D-6DD6-4DCD-B9A1-FB01E839B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Synthetic research prototype. Not for diagnosis, contraception or conception planning.</a:t>
            </a:r>
          </a:p>
        </p:txBody>
      </p:sp>
    </p:spTree>
    <p:extLst>
      <p:ext uri="{BB962C8B-B14F-4D97-AF65-F5344CB8AC3E}">
        <p14:creationId xmlns:p14="http://schemas.microsoft.com/office/powerpoint/2010/main" val="1443381721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A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C49562F-ACC6-4399-9719-564E6E89773F}"/>
              </a:ext>
            </a:extLst>
          </p:cNvPr>
          <p:cNvCxnSpPr>
            <a:stCxn xmlns:a="http://schemas.openxmlformats.org/drawingml/2006/main" id="7" idx="1"/>
            <a:endCxn xmlns:a="http://schemas.openxmlformats.org/drawingml/2006/main" id="8" idx="3"/>
          </p:cNvCxnSpPr>
          <p:nvPr/>
        </p:nvCxnSpPr>
        <p:spPr>
          <a:xfrm xmlns:a="http://schemas.openxmlformats.org/drawingml/2006/main" flipH="1">
            <a:off x="7620000" y="5214938"/>
            <a:ext cx="71437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0E766E"/>
            </a:solidFill>
            <a:tailEnd type="arrow" w="med" len="med"/>
          </a:ln>
        </p:spPr>
      </p:cxnSp>
      <p:cxnSp>
        <p:nvCxn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637B75C-57F4-4CDD-B89C-DE24EE5E2F88}"/>
              </a:ext>
            </a:extLst>
          </p:cNvPr>
          <p:cNvCxnSpPr>
            <a:stCxn xmlns:a="http://schemas.openxmlformats.org/drawingml/2006/main" id="6" idx="2"/>
            <a:endCxn xmlns:a="http://schemas.openxmlformats.org/drawingml/2006/main" id="7" idx="0"/>
          </p:cNvCxnSpPr>
          <p:nvPr/>
        </p:nvCxnSpPr>
        <p:spPr>
          <a:xfrm xmlns:a="http://schemas.openxmlformats.org/drawingml/2006/main">
            <a:off x="9906000" y="4000500"/>
            <a:ext cx="0" cy="71437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0E766E"/>
            </a:solidFill>
            <a:tailEnd type="arrow" w="med" len="med"/>
          </a:ln>
        </p:spPr>
      </p:cxnSp>
      <p:cxnSp>
        <p:nvCxn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2D9C4E2-99EB-4B89-8832-D3EE67C6C203}"/>
              </a:ext>
            </a:extLst>
          </p:cNvPr>
          <p:cNvCxnSpPr>
            <a:stCxn xmlns:a="http://schemas.openxmlformats.org/drawingml/2006/main" id="5" idx="3"/>
            <a:endCxn xmlns:a="http://schemas.openxmlformats.org/drawingml/2006/main" id="6" idx="1"/>
          </p:cNvCxnSpPr>
          <p:nvPr/>
        </p:nvCxnSpPr>
        <p:spPr>
          <a:xfrm xmlns:a="http://schemas.openxmlformats.org/drawingml/2006/main">
            <a:off x="7620000" y="3429000"/>
            <a:ext cx="71437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0E766E"/>
            </a:solidFill>
            <a:tailEnd type="arrow" w="med" len="med"/>
          </a:ln>
        </p:spPr>
      </p:cxnSp>
      <p:cxnSp>
        <p:nvCxn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4298D20-A91C-47AF-B566-4235A2AAE3C2}"/>
              </a:ext>
            </a:extLst>
          </p:cNvPr>
          <p:cNvCxnSpPr>
            <a:stCxn xmlns:a="http://schemas.openxmlformats.org/drawingml/2006/main" id="4" idx="3"/>
            <a:endCxn xmlns:a="http://schemas.openxmlformats.org/drawingml/2006/main" id="5" idx="1"/>
          </p:cNvCxnSpPr>
          <p:nvPr/>
        </p:nvCxnSpPr>
        <p:spPr>
          <a:xfrm xmlns:a="http://schemas.openxmlformats.org/drawingml/2006/main" flipV="1">
            <a:off x="3762375" y="3429000"/>
            <a:ext cx="714375" cy="738188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19050">
            <a:solidFill>
              <a:srgbClr val="0E766E"/>
            </a:solidFill>
            <a:tailEnd type="arrow" w="med" len="med"/>
          </a:ln>
        </p:spPr>
      </p:cxnSp>
      <p:cxnSp>
        <p:nvCxn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4ACFF25-D172-43A9-B7FD-64A143C4BF5B}"/>
              </a:ext>
            </a:extLst>
          </p:cNvPr>
          <p:cNvCxnSpPr>
            <a:stCxn xmlns:a="http://schemas.openxmlformats.org/drawingml/2006/main" id="3" idx="3"/>
            <a:endCxn xmlns:a="http://schemas.openxmlformats.org/drawingml/2006/main" id="5" idx="1"/>
          </p:cNvCxnSpPr>
          <p:nvPr/>
        </p:nvCxnSpPr>
        <p:spPr>
          <a:xfrm xmlns:a="http://schemas.openxmlformats.org/drawingml/2006/main">
            <a:off x="3762375" y="2738438"/>
            <a:ext cx="714375" cy="690563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19050">
            <a:solidFill>
              <a:srgbClr val="0E766E"/>
            </a:solidFill>
            <a:tailEnd type="arrow" w="med" len="med"/>
          </a:ln>
        </p:spPr>
      </p:cxn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183FBF1-2226-4EF2-9736-09C66F77A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330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One fitted prediction path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D294192-8A10-4E6F-8322-A5AFA21B0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57300"/>
            <a:ext cx="10972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The dashboard loads the same persisted pipeline used by the benchmark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650AF72-B2CD-49C4-A365-162C46CE0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238375"/>
            <a:ext cx="3143250" cy="1000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4F1"/>
          </a:solidFill>
          <a:ln xmlns:a="http://schemas.openxmlformats.org/drawingml/2006/main" w="9525">
            <a:solidFill>
              <a:srgbClr val="C8DCD5"/>
            </a:solidFill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1800">
                <a:solidFill>
                  <a:srgbClr val="17242B"/>
                </a:solidFill>
                <a:latin typeface="Arial"/>
                <a:ea typeface="Arial"/>
                <a:cs typeface="Arial"/>
              </a:rPr>
              <a:t>Synthetic static EHR-lite</a:t>
            </a:r>
          </a:p>
          <a:p xmlns:a="http://schemas.openxmlformats.org/drawingml/2006/main">
            <a: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1800">
                <a:solidFill>
                  <a:srgbClr val="17242B"/>
                </a:solidFill>
                <a:latin typeface="Arial"/>
                <a:ea typeface="Arial"/>
                <a:cs typeface="Arial"/>
              </a:rPr>
              <a:t>Oracle-adjacent internals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DF1473A-FD3D-4CE3-953E-F8223A124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667125"/>
            <a:ext cx="3143250" cy="1000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4F1"/>
          </a:solidFill>
          <a:ln xmlns:a="http://schemas.openxmlformats.org/drawingml/2006/main" w="9525">
            <a:solidFill>
              <a:srgbClr val="C8DCD5"/>
            </a:solidFill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1800">
                <a:solidFill>
                  <a:srgbClr val="17242B"/>
                </a:solidFill>
                <a:latin typeface="Arial"/>
                <a:ea typeface="Arial"/>
                <a:cs typeface="Arial"/>
              </a:rPr>
              <a:t>Synthetic nightly data</a:t>
            </a:r>
          </a:p>
          <a:p xmlns:a="http://schemas.openxmlformats.org/drawingml/2006/main">
            <a: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1800">
                <a:solidFill>
                  <a:srgbClr val="17242B"/>
                </a:solidFill>
                <a:latin typeface="Arial"/>
                <a:ea typeface="Arial"/>
                <a:cs typeface="Arial"/>
              </a:rPr>
              <a:t>Calendar and wearables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6D7A2A4-DCCB-4939-8CD5-E85B73F5F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857500"/>
            <a:ext cx="314325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4F1"/>
          </a:solidFill>
          <a:ln xmlns:a="http://schemas.openxmlformats.org/drawingml/2006/main" w="9525">
            <a:solidFill>
              <a:srgbClr val="C8DCD5"/>
            </a:solidFill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1800">
                <a:solidFill>
                  <a:srgbClr val="17242B"/>
                </a:solidFill>
                <a:latin typeface="Arial"/>
                <a:ea typeface="Arial"/>
                <a:cs typeface="Arial"/>
              </a:rPr>
              <a:t>Shared feature builder</a:t>
            </a:r>
          </a:p>
          <a:p xmlns:a="http://schemas.openxmlformats.org/drawingml/2006/main">
            <a: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1800">
                <a:solidFill>
                  <a:srgbClr val="17242B"/>
                </a:solidFill>
                <a:latin typeface="Arial"/>
                <a:ea typeface="Arial"/>
                <a:cs typeface="Arial"/>
              </a:rPr>
              <a:t>Training median and scaling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C67BAD4-FC8B-49C5-847D-1BD79D2ED9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857500"/>
            <a:ext cx="314325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4F1"/>
          </a:solidFill>
          <a:ln xmlns:a="http://schemas.openxmlformats.org/drawingml/2006/main" w="9525">
            <a:solidFill>
              <a:srgbClr val="C8DCD5"/>
            </a:solidFill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1800">
                <a:solidFill>
                  <a:srgbClr val="17242B"/>
                </a:solidFill>
                <a:latin typeface="Arial"/>
                <a:ea typeface="Arial"/>
                <a:cs typeface="Arial"/>
              </a:rPr>
              <a:t>Persisted logistic model</a:t>
            </a:r>
          </a:p>
          <a:p xmlns:a="http://schemas.openxmlformats.org/drawingml/2006/main">
            <a: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1800">
                <a:solidFill>
                  <a:srgbClr val="17242B"/>
                </a:solidFill>
                <a:latin typeface="Arial"/>
                <a:ea typeface="Arial"/>
                <a:cs typeface="Arial"/>
              </a:rPr>
              <a:t>Validation calibration and threshold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52014A8-0DE6-4151-AA5F-28405DB45F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714875"/>
            <a:ext cx="3143250" cy="1000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4F1"/>
          </a:solidFill>
          <a:ln xmlns:a="http://schemas.openxmlformats.org/drawingml/2006/main" w="9525">
            <a:solidFill>
              <a:srgbClr val="C8DCD5"/>
            </a:solidFill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1800">
                <a:solidFill>
                  <a:srgbClr val="17242B"/>
                </a:solidFill>
                <a:latin typeface="Arial"/>
                <a:ea typeface="Arial"/>
                <a:cs typeface="Arial"/>
              </a:rPr>
              <a:t>Fail-closed safety gate</a:t>
            </a:r>
          </a:p>
          <a:p xmlns:a="http://schemas.openxmlformats.org/drawingml/2006/main">
            <a: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1800">
                <a:solidFill>
                  <a:srgbClr val="17242B"/>
                </a:solidFill>
                <a:latin typeface="Arial"/>
                <a:ea typeface="Arial"/>
                <a:cs typeface="Arial"/>
              </a:rPr>
              <a:t>Withhold personal outputs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B254BD6-845C-4123-A580-702545EDE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4714875"/>
            <a:ext cx="3143250" cy="1000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4F1"/>
          </a:solidFill>
          <a:ln xmlns:a="http://schemas.openxmlformats.org/drawingml/2006/main" w="9525">
            <a:solidFill>
              <a:srgbClr val="C8DCD5"/>
            </a:solidFill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1800">
                <a:solidFill>
                  <a:srgbClr val="17242B"/>
                </a:solidFill>
                <a:latin typeface="Arial"/>
                <a:ea typeface="Arial"/>
                <a:cs typeface="Arial"/>
              </a:rPr>
              <a:t>Doctor / Kushi dashboard</a:t>
            </a:r>
          </a:p>
          <a:p xmlns:a="http://schemas.openxmlformats.org/drawingml/2006/main">
            <a: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1800">
                <a:solidFill>
                  <a:srgbClr val="17242B"/>
                </a:solidFill>
                <a:latin typeface="Arial"/>
                <a:ea typeface="Arial"/>
                <a:cs typeface="Arial"/>
              </a:rPr>
              <a:t>Probability and exact contributions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34FDE39-B4CE-4E95-9FFF-1FA5FAD7C4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191125"/>
            <a:ext cx="314325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EF"/>
          </a:solidFill>
          <a:ln xmlns:a="http://schemas.openxmlformats.org/drawingml/2006/main" w="9525">
            <a:solidFill>
              <a:srgbClr val="C8DCD5"/>
            </a:solidFill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65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165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165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165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165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165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165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165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165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165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1650">
                <a:solidFill>
                  <a:srgbClr val="17242B"/>
                </a:solidFill>
                <a:latin typeface="Arial"/>
                <a:ea typeface="Arial"/>
                <a:cs typeface="Arial"/>
              </a:rPr>
              <a:t>Separate illustrative twin</a:t>
            </a:r>
          </a:p>
          <a:p xmlns:a="http://schemas.openxmlformats.org/drawingml/2006/main">
            <a:pPr>
              <a:defRPr sz="165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1650">
                <a:solidFill>
                  <a:srgbClr val="17242B"/>
                </a:solidFill>
                <a:latin typeface="Arial"/>
                <a:ea typeface="Arial"/>
                <a:cs typeface="Arial"/>
              </a:rPr>
              <a:t>No contribution to fitted score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043B252-CCEF-4A41-BF36-6D4A8C069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Synthetic research prototype. Not for diagnosis, contraception or conception planning.</a:t>
            </a:r>
          </a:p>
        </p:txBody>
      </p:sp>
    </p:spTree>
    <p:extLst>
      <p:ext uri="{BB962C8B-B14F-4D97-AF65-F5344CB8AC3E}">
        <p14:creationId xmlns:p14="http://schemas.microsoft.com/office/powerpoint/2010/main" val="836216206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A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6103007-9556-4170-AAA9-57902D669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330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Training and selection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C5888CB-8733-4F0A-96A7-8F3B9A825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57300"/>
            <a:ext cx="10972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Every explicit operating choice uses train or validation data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591BB30-C15C-499D-8DF5-54B269857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190750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0E766E"/>
                </a:solidFill>
                <a:latin typeface="Arial"/>
                <a:ea typeface="Arial"/>
                <a:cs typeface="Arial"/>
              </a:rPr>
              <a:t>Patient counts per development seed: train 840, validation 180, test 180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C17EAE1-150B-447A-9229-447B55BD7C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119438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Training medians and scaling, logistic regression, validation Platt calibration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E5B5A21-437E-4A63-9A01-8AF572234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048125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Validation Brier-gain rule selects richer features or calendar fallback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53630A1-48E5-438D-B2E2-842B407AD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976813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Validation F1 chooses the threshold. Test outcomes never choose that threshold.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6370220-BD39-4F85-9303-14A890A09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Synthetic research prototype. Not for diagnosis, contraception or conception planning.</a:t>
            </a:r>
          </a:p>
        </p:txBody>
      </p:sp>
    </p:spTree>
    <p:extLst>
      <p:ext uri="{BB962C8B-B14F-4D97-AF65-F5344CB8AC3E}">
        <p14:creationId xmlns:p14="http://schemas.microsoft.com/office/powerpoint/2010/main" val="1318278737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A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CF1F33D-5394-43EB-9363-7F1E04046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330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Synthetic development evidence: day 10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F54C113-E1E1-4545-8A6D-F766BEAFA7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57300"/>
            <a:ext cx="10972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Seed means describe the current generator, not clinical forecasting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6827532-3A52-4CBD-9E8E-3E07BDE814DE}"/>
              </a:ext>
            </a:extLst>
          </p:cNvPr>
          <p:cNvGraphicFramePr/>
          <p:nvPr/>
        </p:nvGraphicFramePr>
        <p:xfrm>
          <a:off xmlns:a="http://schemas.openxmlformats.org/drawingml/2006/main" x="609600" y="2047875"/>
          <a:ext xmlns:a="http://schemas.openxmlformats.org/drawingml/2006/main" cx="10972800" cy="39052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333500"/>
                <a:gridCol w="1333500"/>
                <a:gridCol w="2619375"/>
                <a:gridCol w="2619375"/>
                <a:gridCol w="3067050"/>
              </a:tblGrid>
              <a:tr h="78105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Day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E1E8E4"/>
                      </a:solidFill>
                    </a:lnL>
                    <a:lnR w="4763">
                      <a:solidFill>
                        <a:srgbClr val="E1E8E4"/>
                      </a:solidFill>
                    </a:lnR>
                    <a:lnT w="4763">
                      <a:solidFill>
                        <a:srgbClr val="E1E8E4"/>
                      </a:solidFill>
                    </a:lnT>
                    <a:lnB w="4763">
                      <a:solidFill>
                        <a:srgbClr val="E1E8E4"/>
                      </a:solidFill>
                    </a:lnB>
                    <a:solidFill>
                      <a:srgbClr val="0E76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Tier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T w="4763">
                      <a:solidFill>
                        <a:srgbClr val="E1E8E4"/>
                      </a:solidFill>
                    </a:lnT>
                    <a:lnB w="4763">
                      <a:solidFill>
                        <a:srgbClr val="E1E8E4"/>
                      </a:solidFill>
                    </a:lnB>
                    <a:solidFill>
                      <a:srgbClr val="0E76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Mean AUROC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T w="4763">
                      <a:solidFill>
                        <a:srgbClr val="E1E8E4"/>
                      </a:solidFill>
                    </a:lnT>
                    <a:lnB w="4763">
                      <a:solidFill>
                        <a:srgbClr val="E1E8E4"/>
                      </a:solidFill>
                    </a:lnB>
                    <a:solidFill>
                      <a:srgbClr val="0E76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Mean Brier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T w="4763">
                      <a:solidFill>
                        <a:srgbClr val="E1E8E4"/>
                      </a:solidFill>
                    </a:lnT>
                    <a:lnB w="4763">
                      <a:solidFill>
                        <a:srgbClr val="E1E8E4"/>
                      </a:solidFill>
                    </a:lnB>
                    <a:solidFill>
                      <a:srgbClr val="0E76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Mean day MAE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T w="4763">
                      <a:solidFill>
                        <a:srgbClr val="E1E8E4"/>
                      </a:solidFill>
                    </a:lnT>
                    <a:lnB w="4763">
                      <a:solidFill>
                        <a:srgbClr val="E1E8E4"/>
                      </a:solidFill>
                    </a:lnB>
                    <a:solidFill>
                      <a:srgbClr val="0E766E"/>
                    </a:solidFill>
                  </a:tcPr>
                </a:tc>
              </a:tr>
              <a:tr h="78105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E1E8E4"/>
                      </a:solidFill>
                    </a:lnL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0.838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0.163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5.004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8105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E1E8E4"/>
                      </a:solidFill>
                    </a:lnL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0.838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0.163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5.004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</a:tr>
              <a:tr h="78105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E1E8E4"/>
                      </a:solidFill>
                    </a:lnL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0.838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0.163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5.004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8105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E1E8E4"/>
                      </a:solidFill>
                    </a:lnL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0.838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0.163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5.004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</a:tr>
            </a:tbl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FCC5B33-7FC2-47B2-BD98-AB82D09EF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Synthetic research prototype. Not for diagnosis, contraception or conception planning.</a:t>
            </a:r>
          </a:p>
        </p:txBody>
      </p:sp>
    </p:spTree>
    <p:extLst>
      <p:ext uri="{BB962C8B-B14F-4D97-AF65-F5344CB8AC3E}">
        <p14:creationId xmlns:p14="http://schemas.microsoft.com/office/powerpoint/2010/main" val="1766262571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A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C3288E1-5FF5-4D57-9E9E-D2FDC5C7F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330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Synthetic development evidence: day 14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5BC3A3E-B879-4D39-84F5-D63F0DC38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57300"/>
            <a:ext cx="10972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Seed means describe the current generator, not clinical forecasting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0163A1C-97BA-4B1C-9B2E-6063609976AC}"/>
              </a:ext>
            </a:extLst>
          </p:cNvPr>
          <p:cNvGraphicFramePr/>
          <p:nvPr/>
        </p:nvGraphicFramePr>
        <p:xfrm>
          <a:off xmlns:a="http://schemas.openxmlformats.org/drawingml/2006/main" x="609600" y="2047875"/>
          <a:ext xmlns:a="http://schemas.openxmlformats.org/drawingml/2006/main" cx="10972800" cy="39052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333500"/>
                <a:gridCol w="1333500"/>
                <a:gridCol w="2619375"/>
                <a:gridCol w="2619375"/>
                <a:gridCol w="3067050"/>
              </a:tblGrid>
              <a:tr h="78105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Day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E1E8E4"/>
                      </a:solidFill>
                    </a:lnL>
                    <a:lnR w="4763">
                      <a:solidFill>
                        <a:srgbClr val="E1E8E4"/>
                      </a:solidFill>
                    </a:lnR>
                    <a:lnT w="4763">
                      <a:solidFill>
                        <a:srgbClr val="E1E8E4"/>
                      </a:solidFill>
                    </a:lnT>
                    <a:lnB w="4763">
                      <a:solidFill>
                        <a:srgbClr val="E1E8E4"/>
                      </a:solidFill>
                    </a:lnB>
                    <a:solidFill>
                      <a:srgbClr val="0E76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Tier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T w="4763">
                      <a:solidFill>
                        <a:srgbClr val="E1E8E4"/>
                      </a:solidFill>
                    </a:lnT>
                    <a:lnB w="4763">
                      <a:solidFill>
                        <a:srgbClr val="E1E8E4"/>
                      </a:solidFill>
                    </a:lnB>
                    <a:solidFill>
                      <a:srgbClr val="0E76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Mean AUROC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T w="4763">
                      <a:solidFill>
                        <a:srgbClr val="E1E8E4"/>
                      </a:solidFill>
                    </a:lnT>
                    <a:lnB w="4763">
                      <a:solidFill>
                        <a:srgbClr val="E1E8E4"/>
                      </a:solidFill>
                    </a:lnB>
                    <a:solidFill>
                      <a:srgbClr val="0E76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Mean Brier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T w="4763">
                      <a:solidFill>
                        <a:srgbClr val="E1E8E4"/>
                      </a:solidFill>
                    </a:lnT>
                    <a:lnB w="4763">
                      <a:solidFill>
                        <a:srgbClr val="E1E8E4"/>
                      </a:solidFill>
                    </a:lnB>
                    <a:solidFill>
                      <a:srgbClr val="0E76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Mean day MAE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T w="4763">
                      <a:solidFill>
                        <a:srgbClr val="E1E8E4"/>
                      </a:solidFill>
                    </a:lnT>
                    <a:lnB w="4763">
                      <a:solidFill>
                        <a:srgbClr val="E1E8E4"/>
                      </a:solidFill>
                    </a:lnB>
                    <a:solidFill>
                      <a:srgbClr val="0E766E"/>
                    </a:solidFill>
                  </a:tcPr>
                </a:tc>
              </a:tr>
              <a:tr h="78105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E1E8E4"/>
                      </a:solidFill>
                    </a:lnL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0.838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0.163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5.132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8105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E1E8E4"/>
                      </a:solidFill>
                    </a:lnL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0.838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0.163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5.132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</a:tr>
              <a:tr h="78105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E1E8E4"/>
                      </a:solidFill>
                    </a:lnL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0.850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0.157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6.069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8105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E1E8E4"/>
                      </a:solidFill>
                    </a:lnL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0.843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0.161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5.565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</a:tr>
            </a:tbl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3BD69DC-D4DB-4BCE-B2EF-D04C3A41E8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Synthetic research prototype. Not for diagnosis, contraception or conception planning.</a:t>
            </a:r>
          </a:p>
        </p:txBody>
      </p:sp>
    </p:spTree>
    <p:extLst>
      <p:ext uri="{BB962C8B-B14F-4D97-AF65-F5344CB8AC3E}">
        <p14:creationId xmlns:p14="http://schemas.microsoft.com/office/powerpoint/2010/main" val="494947188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A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69E4D3B-F3D5-460B-9BC8-E20E1F271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330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Synthetic development evidence: day 18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ADBF0D7-C9E8-49C6-9337-CF50F48BC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57300"/>
            <a:ext cx="10972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Seed means describe the current generator, not clinical forecasting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7557404-B765-43B4-A7B0-45D2E72FABED}"/>
              </a:ext>
            </a:extLst>
          </p:cNvPr>
          <p:cNvGraphicFramePr/>
          <p:nvPr/>
        </p:nvGraphicFramePr>
        <p:xfrm>
          <a:off xmlns:a="http://schemas.openxmlformats.org/drawingml/2006/main" x="609600" y="2047875"/>
          <a:ext xmlns:a="http://schemas.openxmlformats.org/drawingml/2006/main" cx="10972800" cy="39052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333500"/>
                <a:gridCol w="1333500"/>
                <a:gridCol w="2619375"/>
                <a:gridCol w="2619375"/>
                <a:gridCol w="3067050"/>
              </a:tblGrid>
              <a:tr h="78105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Day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E1E8E4"/>
                      </a:solidFill>
                    </a:lnL>
                    <a:lnR w="4763">
                      <a:solidFill>
                        <a:srgbClr val="E1E8E4"/>
                      </a:solidFill>
                    </a:lnR>
                    <a:lnT w="4763">
                      <a:solidFill>
                        <a:srgbClr val="E1E8E4"/>
                      </a:solidFill>
                    </a:lnT>
                    <a:lnB w="4763">
                      <a:solidFill>
                        <a:srgbClr val="E1E8E4"/>
                      </a:solidFill>
                    </a:lnB>
                    <a:solidFill>
                      <a:srgbClr val="0E76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Tier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T w="4763">
                      <a:solidFill>
                        <a:srgbClr val="E1E8E4"/>
                      </a:solidFill>
                    </a:lnT>
                    <a:lnB w="4763">
                      <a:solidFill>
                        <a:srgbClr val="E1E8E4"/>
                      </a:solidFill>
                    </a:lnB>
                    <a:solidFill>
                      <a:srgbClr val="0E76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Mean AUROC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T w="4763">
                      <a:solidFill>
                        <a:srgbClr val="E1E8E4"/>
                      </a:solidFill>
                    </a:lnT>
                    <a:lnB w="4763">
                      <a:solidFill>
                        <a:srgbClr val="E1E8E4"/>
                      </a:solidFill>
                    </a:lnB>
                    <a:solidFill>
                      <a:srgbClr val="0E76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Mean Brier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T w="4763">
                      <a:solidFill>
                        <a:srgbClr val="E1E8E4"/>
                      </a:solidFill>
                    </a:lnT>
                    <a:lnB w="4763">
                      <a:solidFill>
                        <a:srgbClr val="E1E8E4"/>
                      </a:solidFill>
                    </a:lnB>
                    <a:solidFill>
                      <a:srgbClr val="0E76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Mean day MAE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T w="4763">
                      <a:solidFill>
                        <a:srgbClr val="E1E8E4"/>
                      </a:solidFill>
                    </a:lnT>
                    <a:lnB w="4763">
                      <a:solidFill>
                        <a:srgbClr val="E1E8E4"/>
                      </a:solidFill>
                    </a:lnB>
                    <a:solidFill>
                      <a:srgbClr val="0E766E"/>
                    </a:solidFill>
                  </a:tcPr>
                </a:tc>
              </a:tr>
              <a:tr h="78105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18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E1E8E4"/>
                      </a:solidFill>
                    </a:lnL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0.838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0.163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5.439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8105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18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E1E8E4"/>
                      </a:solidFill>
                    </a:lnL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0.839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0.163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5.439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</a:tr>
              <a:tr h="78105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18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E1E8E4"/>
                      </a:solidFill>
                    </a:lnL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0.906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0.119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5.267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8105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18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E1E8E4"/>
                      </a:solidFill>
                    </a:lnL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0.907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0.119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5.267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</a:tr>
            </a:tbl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124B99E-9E85-41F6-A9D0-67C588BB94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Synthetic research prototype. Not for diagnosis, contraception or conception planning.</a:t>
            </a:r>
          </a:p>
        </p:txBody>
      </p:sp>
    </p:spTree>
    <p:extLst>
      <p:ext uri="{BB962C8B-B14F-4D97-AF65-F5344CB8AC3E}">
        <p14:creationId xmlns:p14="http://schemas.microsoft.com/office/powerpoint/2010/main" val="238269173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A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0C9CF7C-7C5D-419A-A8E5-E8180DE323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330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Frozen synthetic evidence: day 10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C6B1FCD-F58D-4028-9C13-2DD8ECE2A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57300"/>
            <a:ext cx="10972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Reserved seeds, unchanged train/validation choices, one guarded run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5A8D4B5-465B-41DA-950F-EE0D52DB3130}"/>
              </a:ext>
            </a:extLst>
          </p:cNvPr>
          <p:cNvGraphicFramePr/>
          <p:nvPr/>
        </p:nvGraphicFramePr>
        <p:xfrm>
          <a:off xmlns:a="http://schemas.openxmlformats.org/drawingml/2006/main" x="609600" y="2047875"/>
          <a:ext xmlns:a="http://schemas.openxmlformats.org/drawingml/2006/main" cx="10972800" cy="39052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333500"/>
                <a:gridCol w="1333500"/>
                <a:gridCol w="2619375"/>
                <a:gridCol w="2619375"/>
                <a:gridCol w="3067050"/>
              </a:tblGrid>
              <a:tr h="78105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Day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E1E8E4"/>
                      </a:solidFill>
                    </a:lnL>
                    <a:lnR w="4763">
                      <a:solidFill>
                        <a:srgbClr val="E1E8E4"/>
                      </a:solidFill>
                    </a:lnR>
                    <a:lnT w="4763">
                      <a:solidFill>
                        <a:srgbClr val="E1E8E4"/>
                      </a:solidFill>
                    </a:lnT>
                    <a:lnB w="4763">
                      <a:solidFill>
                        <a:srgbClr val="E1E8E4"/>
                      </a:solidFill>
                    </a:lnB>
                    <a:solidFill>
                      <a:srgbClr val="0E76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Tier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T w="4763">
                      <a:solidFill>
                        <a:srgbClr val="E1E8E4"/>
                      </a:solidFill>
                    </a:lnT>
                    <a:lnB w="4763">
                      <a:solidFill>
                        <a:srgbClr val="E1E8E4"/>
                      </a:solidFill>
                    </a:lnB>
                    <a:solidFill>
                      <a:srgbClr val="0E76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Mean AUROC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T w="4763">
                      <a:solidFill>
                        <a:srgbClr val="E1E8E4"/>
                      </a:solidFill>
                    </a:lnT>
                    <a:lnB w="4763">
                      <a:solidFill>
                        <a:srgbClr val="E1E8E4"/>
                      </a:solidFill>
                    </a:lnB>
                    <a:solidFill>
                      <a:srgbClr val="0E76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Mean Brier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T w="4763">
                      <a:solidFill>
                        <a:srgbClr val="E1E8E4"/>
                      </a:solidFill>
                    </a:lnT>
                    <a:lnB w="4763">
                      <a:solidFill>
                        <a:srgbClr val="E1E8E4"/>
                      </a:solidFill>
                    </a:lnB>
                    <a:solidFill>
                      <a:srgbClr val="0E76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Mean day MAE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T w="4763">
                      <a:solidFill>
                        <a:srgbClr val="E1E8E4"/>
                      </a:solidFill>
                    </a:lnT>
                    <a:lnB w="4763">
                      <a:solidFill>
                        <a:srgbClr val="E1E8E4"/>
                      </a:solidFill>
                    </a:lnB>
                    <a:solidFill>
                      <a:srgbClr val="0E766E"/>
                    </a:solidFill>
                  </a:tcPr>
                </a:tc>
              </a:tr>
              <a:tr h="78105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E1E8E4"/>
                      </a:solidFill>
                    </a:lnL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0.839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0.164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5.142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8105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E1E8E4"/>
                      </a:solidFill>
                    </a:lnL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0.839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0.164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5.142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</a:tr>
              <a:tr h="78105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E1E8E4"/>
                      </a:solidFill>
                    </a:lnL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0.839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0.164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5.142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8105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E1E8E4"/>
                      </a:solidFill>
                    </a:lnL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0.839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0.164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5.142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</a:tr>
            </a:tbl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885CD1B-6673-4EE4-9D9C-1DDFAC3514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Synthetic research prototype. Not for diagnosis, contraception or conception planning.</a:t>
            </a:r>
          </a:p>
        </p:txBody>
      </p:sp>
    </p:spTree>
    <p:extLst>
      <p:ext uri="{BB962C8B-B14F-4D97-AF65-F5344CB8AC3E}">
        <p14:creationId xmlns:p14="http://schemas.microsoft.com/office/powerpoint/2010/main" val="1848720890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A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16C77D4-73D0-4B90-88D4-1949CF6DA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330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Frozen synthetic evidence: day 14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4002263-A27E-4C6B-86B9-BDB7CAFA2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57300"/>
            <a:ext cx="10972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Reserved seeds, unchanged train/validation choices, one guarded run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361BC88-FFB8-4202-AEB7-F08F1245D49D}"/>
              </a:ext>
            </a:extLst>
          </p:cNvPr>
          <p:cNvGraphicFramePr/>
          <p:nvPr/>
        </p:nvGraphicFramePr>
        <p:xfrm>
          <a:off xmlns:a="http://schemas.openxmlformats.org/drawingml/2006/main" x="609600" y="2047875"/>
          <a:ext xmlns:a="http://schemas.openxmlformats.org/drawingml/2006/main" cx="10972800" cy="39052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333500"/>
                <a:gridCol w="1333500"/>
                <a:gridCol w="2619375"/>
                <a:gridCol w="2619375"/>
                <a:gridCol w="3067050"/>
              </a:tblGrid>
              <a:tr h="78105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Day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E1E8E4"/>
                      </a:solidFill>
                    </a:lnL>
                    <a:lnR w="4763">
                      <a:solidFill>
                        <a:srgbClr val="E1E8E4"/>
                      </a:solidFill>
                    </a:lnR>
                    <a:lnT w="4763">
                      <a:solidFill>
                        <a:srgbClr val="E1E8E4"/>
                      </a:solidFill>
                    </a:lnT>
                    <a:lnB w="4763">
                      <a:solidFill>
                        <a:srgbClr val="E1E8E4"/>
                      </a:solidFill>
                    </a:lnB>
                    <a:solidFill>
                      <a:srgbClr val="0E76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Tier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T w="4763">
                      <a:solidFill>
                        <a:srgbClr val="E1E8E4"/>
                      </a:solidFill>
                    </a:lnT>
                    <a:lnB w="4763">
                      <a:solidFill>
                        <a:srgbClr val="E1E8E4"/>
                      </a:solidFill>
                    </a:lnB>
                    <a:solidFill>
                      <a:srgbClr val="0E76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Mean AUROC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T w="4763">
                      <a:solidFill>
                        <a:srgbClr val="E1E8E4"/>
                      </a:solidFill>
                    </a:lnT>
                    <a:lnB w="4763">
                      <a:solidFill>
                        <a:srgbClr val="E1E8E4"/>
                      </a:solidFill>
                    </a:lnB>
                    <a:solidFill>
                      <a:srgbClr val="0E76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Mean Brier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T w="4763">
                      <a:solidFill>
                        <a:srgbClr val="E1E8E4"/>
                      </a:solidFill>
                    </a:lnT>
                    <a:lnB w="4763">
                      <a:solidFill>
                        <a:srgbClr val="E1E8E4"/>
                      </a:solidFill>
                    </a:lnB>
                    <a:solidFill>
                      <a:srgbClr val="0E76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Mean day MAE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T w="4763">
                      <a:solidFill>
                        <a:srgbClr val="E1E8E4"/>
                      </a:solidFill>
                    </a:lnT>
                    <a:lnB w="4763">
                      <a:solidFill>
                        <a:srgbClr val="E1E8E4"/>
                      </a:solidFill>
                    </a:lnB>
                    <a:solidFill>
                      <a:srgbClr val="0E766E"/>
                    </a:solidFill>
                  </a:tcPr>
                </a:tc>
              </a:tr>
              <a:tr h="78105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E1E8E4"/>
                      </a:solidFill>
                    </a:lnL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0.839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0.164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5.251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8105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E1E8E4"/>
                      </a:solidFill>
                    </a:lnL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0.839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0.164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5.251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</a:tr>
              <a:tr h="78105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E1E8E4"/>
                      </a:solidFill>
                    </a:lnL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0.855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0.155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6.790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8105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E1E8E4"/>
                      </a:solidFill>
                    </a:lnL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0.850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0.158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6.319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</a:tr>
            </a:tbl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991DFA8-B984-43E9-8833-04DBEB5AF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Synthetic research prototype. Not for diagnosis, contraception or conception planning.</a:t>
            </a:r>
          </a:p>
        </p:txBody>
      </p:sp>
    </p:spTree>
    <p:extLst>
      <p:ext uri="{BB962C8B-B14F-4D97-AF65-F5344CB8AC3E}">
        <p14:creationId xmlns:p14="http://schemas.microsoft.com/office/powerpoint/2010/main" val="109122764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A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CAD1545-786B-4CEA-8A00-FA15DCE25A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330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Frozen synthetic evidence: day 18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0B17499-4F0E-44E8-873C-535EF2AFCF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57300"/>
            <a:ext cx="10972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Reserved seeds, unchanged train/validation choices, one guarded run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7CDB106-5DF9-48E1-B14B-B8CC7E1E823B}"/>
              </a:ext>
            </a:extLst>
          </p:cNvPr>
          <p:cNvGraphicFramePr/>
          <p:nvPr/>
        </p:nvGraphicFramePr>
        <p:xfrm>
          <a:off xmlns:a="http://schemas.openxmlformats.org/drawingml/2006/main" x="609600" y="2047875"/>
          <a:ext xmlns:a="http://schemas.openxmlformats.org/drawingml/2006/main" cx="10972800" cy="39052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333500"/>
                <a:gridCol w="1333500"/>
                <a:gridCol w="2619375"/>
                <a:gridCol w="2619375"/>
                <a:gridCol w="3067050"/>
              </a:tblGrid>
              <a:tr h="78105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Day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E1E8E4"/>
                      </a:solidFill>
                    </a:lnL>
                    <a:lnR w="4763">
                      <a:solidFill>
                        <a:srgbClr val="E1E8E4"/>
                      </a:solidFill>
                    </a:lnR>
                    <a:lnT w="4763">
                      <a:solidFill>
                        <a:srgbClr val="E1E8E4"/>
                      </a:solidFill>
                    </a:lnT>
                    <a:lnB w="4763">
                      <a:solidFill>
                        <a:srgbClr val="E1E8E4"/>
                      </a:solidFill>
                    </a:lnB>
                    <a:solidFill>
                      <a:srgbClr val="0E76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Tier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T w="4763">
                      <a:solidFill>
                        <a:srgbClr val="E1E8E4"/>
                      </a:solidFill>
                    </a:lnT>
                    <a:lnB w="4763">
                      <a:solidFill>
                        <a:srgbClr val="E1E8E4"/>
                      </a:solidFill>
                    </a:lnB>
                    <a:solidFill>
                      <a:srgbClr val="0E76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Mean AUROC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T w="4763">
                      <a:solidFill>
                        <a:srgbClr val="E1E8E4"/>
                      </a:solidFill>
                    </a:lnT>
                    <a:lnB w="4763">
                      <a:solidFill>
                        <a:srgbClr val="E1E8E4"/>
                      </a:solidFill>
                    </a:lnB>
                    <a:solidFill>
                      <a:srgbClr val="0E76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Mean Brier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T w="4763">
                      <a:solidFill>
                        <a:srgbClr val="E1E8E4"/>
                      </a:solidFill>
                    </a:lnT>
                    <a:lnB w="4763">
                      <a:solidFill>
                        <a:srgbClr val="E1E8E4"/>
                      </a:solidFill>
                    </a:lnB>
                    <a:solidFill>
                      <a:srgbClr val="0E76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Mean day MAE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T w="4763">
                      <a:solidFill>
                        <a:srgbClr val="E1E8E4"/>
                      </a:solidFill>
                    </a:lnT>
                    <a:lnB w="4763">
                      <a:solidFill>
                        <a:srgbClr val="E1E8E4"/>
                      </a:solidFill>
                    </a:lnB>
                    <a:solidFill>
                      <a:srgbClr val="0E766E"/>
                    </a:solidFill>
                  </a:tcPr>
                </a:tc>
              </a:tr>
              <a:tr h="78105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18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E1E8E4"/>
                      </a:solidFill>
                    </a:lnL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0.839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0.164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5.570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8105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18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E1E8E4"/>
                      </a:solidFill>
                    </a:lnL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0.839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0.164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5.570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</a:tr>
              <a:tr h="78105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18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E1E8E4"/>
                      </a:solidFill>
                    </a:lnL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0.907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0.117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5.449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8105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18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E1E8E4"/>
                      </a:solidFill>
                    </a:lnL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0.907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0.117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5.449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</a:tr>
            </a:tbl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3BE4E61-AAF1-4239-A367-B55066D78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Synthetic research prototype. Not for diagnosis, contraception or conception planning.</a:t>
            </a:r>
          </a:p>
        </p:txBody>
      </p:sp>
    </p:spTree>
    <p:extLst>
      <p:ext uri="{BB962C8B-B14F-4D97-AF65-F5344CB8AC3E}">
        <p14:creationId xmlns:p14="http://schemas.microsoft.com/office/powerpoint/2010/main" val="1521844835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A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726193A-5666-4872-885F-BCD4FDFCA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330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Evidence at the latest sensor snapshot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4040A97-F57A-4E8D-B7A4-B27DFB26FD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57300"/>
            <a:ext cx="10972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Predeclared temperature sensor tier, descriptive seed means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91837EF-E939-4DC2-9D4D-42FE69EF5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190750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0E766E"/>
                </a:solidFill>
                <a:latin typeface="Arial"/>
                <a:ea typeface="Arial"/>
                <a:cs typeface="Arial"/>
              </a:rPr>
              <a:t>Synthetic day 18, Tier 2: AUROC 0.907, Brier 0.117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44785B1-C09E-4067-9635-13F3D3EC9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119438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3,240 synthetic test cycles across 3 frozen seeds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0B30BBE-C298-4C45-B326-547E7B8666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048125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A separate frozen evaluation artifact is available.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D3C9387-1DB5-451A-A214-0ED8779A3C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976813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Standard average precision and calibration diagnostics are available from stored predictions.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5CA1F82-DCF6-4A6C-83B9-1A450018B7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Synthetic research prototype. Not for diagnosis, contraception or conception planning.</a:t>
            </a:r>
          </a:p>
        </p:txBody>
      </p:sp>
    </p:spTree>
    <p:extLst>
      <p:ext uri="{BB962C8B-B14F-4D97-AF65-F5344CB8AC3E}">
        <p14:creationId xmlns:p14="http://schemas.microsoft.com/office/powerpoint/2010/main" val="2121143619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A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298082A-7E0C-42DB-8AF5-579BE9CAA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330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Frozen sequential alert-policy evidence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584683A-841E-471C-9FCD-CBEA43503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57300"/>
            <a:ext cx="10972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Earliest safe threshold crossing only; all values are synthetic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DDDBFB1-562B-4374-B084-448C82A96D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190750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0E766E"/>
                </a:solidFill>
                <a:latin typeface="Arial"/>
                <a:ea typeface="Arial"/>
                <a:cs typeface="Arial"/>
              </a:rPr>
              <a:t>Tier 2: 1,634 alerts across 3,240 generated cycles; alert precision 0.730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076C298-F0C2-429C-A4CB-D5C0357CF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119438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Missed generated events: 484/1,677 (0.289); false alerts: 1.484 per synthetic patient-year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A658915-BF31-47CE-A7DC-569759019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048125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Median generated-event lead time: 17.000 days among 790 true-positive cycles with a generated ovulation day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C5DEA57-1FC8-46F4-9532-4A1BCBF6D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976813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Safety is evaluated at every snapshot; no later score can change an earlier alert.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EF5C538-4D6B-49ED-A585-7A4C550C19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Synthetic research prototype. Not for diagnosis, contraception or conception planning.</a:t>
            </a:r>
          </a:p>
        </p:txBody>
      </p:sp>
    </p:spTree>
    <p:extLst>
      <p:ext uri="{BB962C8B-B14F-4D97-AF65-F5344CB8AC3E}">
        <p14:creationId xmlns:p14="http://schemas.microsoft.com/office/powerpoint/2010/main" val="1887289768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A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3B85CEA-CDD8-471D-82BC-1E3ABF6D77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330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Frozen synthetic robustness extension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5C05276-1B8F-40D2-A0D0-1F212EB7C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57300"/>
            <a:ext cx="10972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Fixed Tier-2 day-18 model and threshold under predeclared perturbations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D4B24A5-D972-408D-BDB8-2D663003C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190750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0E766E"/>
                </a:solidFill>
                <a:latin typeface="Arial"/>
                <a:ea typeface="Arial"/>
                <a:cs typeface="Arial"/>
              </a:rPr>
              <a:t>At 60% additional forced missing temperature readings: AUROC 0.884, Brier 0.140, safety withholding 1.000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7CB960F-E400-4EB3-BA2A-01674FE858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119438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At +0.01°C/day drift: AUROC 0.906, Brier 0.300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A70C31D-DD86-4566-A74D-C1EE2653D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048125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At a +4-day generated timing shift on independent synthetic cohorts: AUROC 0.863, Brier 0.145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9E4C8EE-63C6-494F-8E95-527D9E4B0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976813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These are simulator sensitivity tests, not device robustness or clinical validation.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052C863-1CB4-4F5F-BFF0-7AF2072DB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Synthetic research prototype. Not for diagnosis, contraception or conception planning.</a:t>
            </a:r>
          </a:p>
        </p:txBody>
      </p:sp>
    </p:spTree>
    <p:extLst>
      <p:ext uri="{BB962C8B-B14F-4D97-AF65-F5344CB8AC3E}">
        <p14:creationId xmlns:p14="http://schemas.microsoft.com/office/powerpoint/2010/main" val="1679465683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A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F589291-E4D2-43EE-9FB2-C32117345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330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Timing-posterior check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F6668FC-B49C-44C5-AE9C-E88F08377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57300"/>
            <a:ext cx="10972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Train-only calendar/static prior plus temperature, RHR and HRV likelihoods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5A16212-DD2B-4362-9E41-9B64F16168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190750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0E766E"/>
                </a:solidFill>
                <a:latin typeface="Arial"/>
                <a:ea typeface="Arial"/>
                <a:cs typeface="Arial"/>
              </a:rPr>
              <a:t>Synthetic Bayesian-posterior Brier 0.098; fitted logistic Brier 0.117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43DB384-D20F-4302-B19E-453B6FA540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119438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Twin minus logistic Brier -0.018, patient-cluster 95% CI [-0.022, -0.014]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75501FF-9012-494D-819C-ED019FFC3B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048125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noninferior synthetic check; still separate interpretation layer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ED1719E-F163-4F19-8FA1-626DC125C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976813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Separate from the logistic score, threshold, safety gate and alert policy.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9374BA9-28EE-4EDD-BEC7-7F130C00C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Synthetic research prototype. Not for diagnosis, contraception or conception planning.</a:t>
            </a:r>
          </a:p>
        </p:txBody>
      </p:sp>
    </p:spTree>
    <p:extLst>
      <p:ext uri="{BB962C8B-B14F-4D97-AF65-F5344CB8AC3E}">
        <p14:creationId xmlns:p14="http://schemas.microsoft.com/office/powerpoint/2010/main" val="1010455688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A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94B4A38-9E05-413F-9BDC-C80F72D98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330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Simulated assay-like extension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C6273F6-D9C9-4ABA-A7E3-A8F70AE45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57300"/>
            <a:ext cx="10972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Post-freeze, noisy simulator proxies; neither clinical labs nor measured hormones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DFDECB0-E476-4D71-B041-5A4DA371A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190750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0E766E"/>
                </a:solidFill>
                <a:latin typeface="Arial"/>
                <a:ea typeface="Arial"/>
                <a:cs typeface="Arial"/>
              </a:rPr>
              <a:t>Tier 2 plus simulated assay-like indices: AUROC 0.907, standard AP 0.885, Brier 0.118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276C7B4-E6DB-4028-AA4E-FFC6039176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119438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Original Tier-3 oracle-adjacent internal reference: AUROC 0.907, Brier 0.117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814B748-242C-4258-8D79-E023FE16B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048125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The proxy uses positive exp(latent) values and independent 15% CV assay noise.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5EF9FA9-E634-4B25-BEA5-F701A81288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976813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It retains simulator-internal leakage risk and is not a clinical EHR-fusion claim.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D797BA1-90B9-45E8-8061-0CBB516DD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Synthetic research prototype. Not for diagnosis, contraception or conception planning.</a:t>
            </a:r>
          </a:p>
        </p:txBody>
      </p:sp>
    </p:spTree>
    <p:extLst>
      <p:ext uri="{BB962C8B-B14F-4D97-AF65-F5344CB8AC3E}">
        <p14:creationId xmlns:p14="http://schemas.microsoft.com/office/powerpoint/2010/main" val="1968853623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A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72320BF-F5E2-43FF-9872-33DC981B3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330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Local operations measurement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D6E85AC-4C45-406E-99FC-3BF1CC326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57300"/>
            <a:ext cx="10972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One persisted frozen Tier-2 model on the build host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42ED4C5-61B1-44E0-998C-521D09ADB5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190750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0E766E"/>
                </a:solidFill>
                <a:latin typeface="Arial"/>
                <a:ea typeface="Arial"/>
                <a:cs typeface="Arial"/>
              </a:rPr>
              <a:t>Cold new-process first prediction: 1193.724 ms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DC1BC1D-5AEF-4CE1-BA99-958392C988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119438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Warm inference: mean 0.533 ms, p95 0.565 ms across 1,000 calls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007FE7A-B105-431C-BEB6-6C2E7221D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048125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Local process peak RSS: 193104 KiB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DB13A57-841B-4DE1-A735-95B34FA9EB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976813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Host-specific engineering measurement, not a production-service SLA.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1263538-0F01-4527-8B92-B8F3B9AEF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Synthetic research prototype. Not for diagnosis, contraception or conception planning.</a:t>
            </a:r>
          </a:p>
        </p:txBody>
      </p:sp>
    </p:spTree>
    <p:extLst>
      <p:ext uri="{BB962C8B-B14F-4D97-AF65-F5344CB8AC3E}">
        <p14:creationId xmlns:p14="http://schemas.microsoft.com/office/powerpoint/2010/main" val="1302325257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A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929255A-7E3D-489B-B185-7072AC81CA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330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What the clinician view shows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041C73A-2DF1-4818-9CBD-19E91A48C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57300"/>
            <a:ext cx="10972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Decision-support research display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2CEDB04-A719-4C1E-99CC-FB2127325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190750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0E766E"/>
                </a:solidFill>
                <a:latin typeface="Arial"/>
                <a:ea typeface="Arial"/>
                <a:cs typeface="Arial"/>
              </a:rPr>
              <a:t>Fitted probability beside its own validation threshold and held-out model evidence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F8080A4-D234-427A-85DF-32512F8BE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119438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Exact additive feature contributions and explicit imputation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8A798D2-092A-4914-9417-B641AA937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048125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Heuristic day estimate and conditional, illustrative day band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8A4CFDF-7EC7-40B9-9504-47DC186F6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976813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Data-quality ribbon and the reason for any withholding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B0FBB45-0145-4D9F-B7D6-512C44148C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Synthetic research prototype. Not for diagnosis, contraception or conception planning.</a:t>
            </a:r>
          </a:p>
        </p:txBody>
      </p:sp>
    </p:spTree>
    <p:extLst>
      <p:ext uri="{BB962C8B-B14F-4D97-AF65-F5344CB8AC3E}">
        <p14:creationId xmlns:p14="http://schemas.microsoft.com/office/powerpoint/2010/main" val="678263841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A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38BB6FF-903B-457A-94C5-BCBEC4988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330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Guardrails live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6059DD2-C547-4A89-AC5E-4533378375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57300"/>
            <a:ext cx="10972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Missing safety information causes abstention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3BCDABA-A0A2-4BD0-B141-04DF542684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190750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0E766E"/>
                </a:solidFill>
                <a:latin typeface="Arial"/>
                <a:ea typeface="Arial"/>
                <a:cs typeface="Arial"/>
              </a:rPr>
              <a:t>Contraception, thyroid and prolactin flags, age and pregnancy-related states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48A6DAB-6EDB-4C5D-AAC7-92D53EF74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119438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Early post-menarche, perimenopause and insufficient observed temperature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E20453B-D53E-4190-B89F-758D7F9EC9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048125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Withholding removes personal scores, intervals, explanations, sandbox outputs and alerts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5F820B6-EDDE-4911-95F3-BB8B796BD3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976813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The workflow is synthetic and its safety effectiveness has not been clinically evaluated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4841AC9-55C8-4FE5-B0C5-88F5A7F31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Synthetic research prototype. Not for diagnosis, contraception or conception planning.</a:t>
            </a:r>
          </a:p>
        </p:txBody>
      </p:sp>
    </p:spTree>
    <p:extLst>
      <p:ext uri="{BB962C8B-B14F-4D97-AF65-F5344CB8AC3E}">
        <p14:creationId xmlns:p14="http://schemas.microsoft.com/office/powerpoint/2010/main" val="209014738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A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3866DDC-8F5B-412B-8E5F-BFB0387BAF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330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The twin and assumption sandbox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9E33220-6947-4BBB-9883-E71F33AEF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57300"/>
            <a:ext cx="10972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Clear boundaries around simulated physiology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765575A-FCE7-4443-9C00-F268147421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190750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0E766E"/>
                </a:solidFill>
                <a:latin typeface="Arial"/>
                <a:ea typeface="Arial"/>
                <a:cs typeface="Arial"/>
              </a:rPr>
              <a:t>Reproductive and metabolic equations generate an illustrative state trajectory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333E036-A45A-45CC-956B-DA6D967898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119438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The twin does not affect the logistic score or its reported performance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067E519-5B11-417D-963D-4B7250205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048125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The sandbox edits invented model inputs. It does not predict a treatment effect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65F2591-33C2-4908-B4A9-1D318190C6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976813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Glucose threshold crossings are simulated counts, not an evaluated glucose forecast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D341509-DD70-422C-92CF-E907E61524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Synthetic research prototype. Not for diagnosis, contraception or conception planning.</a:t>
            </a:r>
          </a:p>
        </p:txBody>
      </p:sp>
    </p:spTree>
    <p:extLst>
      <p:ext uri="{BB962C8B-B14F-4D97-AF65-F5344CB8AC3E}">
        <p14:creationId xmlns:p14="http://schemas.microsoft.com/office/powerpoint/2010/main" val="426738810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A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7943411-4B39-41A7-871D-EE55328BF4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330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Where it fails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F4FD038-2527-40FB-8D98-DD1AC6D3D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57300"/>
            <a:ext cx="10972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All declared Kushi scenarios remain visible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3D3E837-5938-4691-B470-57C5B882B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190750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0E766E"/>
                </a:solidFill>
                <a:latin typeface="Arial"/>
                <a:ea typeface="Arial"/>
                <a:cs typeface="Arial"/>
              </a:rPr>
              <a:t>Display the fixed scenario seeds with misses, false alarms or withholding unchanged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B27BF87-D395-4BF1-A7CC-B48382862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119438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Different snapshots can fall back to calendar even when sensors are available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6E96757-3508-4A45-BB50-EC737EAD42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048125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A class set containing both outcomes does not identify one result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F2219D9-B3C0-45AF-91DD-004D79B74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976813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Robustness, state-estimator and conformal coverage evidence remain separate work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C27A621-DFBB-401E-A92C-57B8618BAA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Synthetic research prototype. Not for diagnosis, contraception or conception planning.</a:t>
            </a:r>
          </a:p>
        </p:txBody>
      </p:sp>
    </p:spTree>
    <p:extLst>
      <p:ext uri="{BB962C8B-B14F-4D97-AF65-F5344CB8AC3E}">
        <p14:creationId xmlns:p14="http://schemas.microsoft.com/office/powerpoint/2010/main" val="1594774931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A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DFDA76F-B78F-4433-BA7D-32CCE52BA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330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Validity limits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011D033-FCE9-44DE-8BE3-AE2984BDB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57300"/>
            <a:ext cx="10972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Synthetic recovery is not prospective evidence in women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1062B21-D951-4EB1-ABCA-E3EF6FC328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190750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0E766E"/>
                </a:solidFill>
                <a:latin typeface="Arial"/>
                <a:ea typeface="Arial"/>
                <a:cs typeface="Arial"/>
              </a:rPr>
              <a:t>Labels and sensor changes share generator assumptions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C3D0983-B966-4A0A-8148-72B9358F69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119438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EHR-lite includes a label-generating internal latent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F297C88-9207-406A-A19B-3902614D91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048125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Old test seeds were reused during development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9B2AE75-746B-44AA-9200-13F9EEFEB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976813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The frozen synthetic sequential alert policy is evaluated; robustness and clinical safety effectiveness remain separate work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3C0BDC8-13AC-4228-8413-F5207024B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Synthetic research prototype. Not for diagnosis, contraception or conception planning.</a:t>
            </a:r>
          </a:p>
        </p:txBody>
      </p:sp>
    </p:spTree>
    <p:extLst>
      <p:ext uri="{BB962C8B-B14F-4D97-AF65-F5344CB8AC3E}">
        <p14:creationId xmlns:p14="http://schemas.microsoft.com/office/powerpoint/2010/main" val="1558739764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A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FCB726B-162D-4D32-BB77-29770F104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330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Reproducible demonstration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17BC70F-F0CE-411E-8B8E-C442EA832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57300"/>
            <a:ext cx="10972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Public source, inspectable artifacts and explicit next work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10FA8F9-6CC5-4D0E-83E4-7AC77EB87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190750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0E766E"/>
                </a:solidFill>
                <a:latin typeface="Arial"/>
                <a:ea typeface="Arial"/>
                <a:cs typeface="Arial"/>
              </a:rPr>
              <a:t>README, model cards and the audit link every claim to evidence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F1763D4-F7F0-47A7-8B55-5241C5C73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119438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Persisted inference reproduces the benchmark and exposes exact feature calculations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986BB6F-E500-4B0C-A66E-7FE6BD2589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048125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The required video remains a human recording and upload task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839DAE6-4E3A-4EBB-BCB4-DE8B495D63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976813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Clinical validation, clinician feedback and sim-to-real evaluation remain outstanding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A0EE77B-BE90-42A4-9161-FDEB49E604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Synthetic research prototype. Not for diagnosis, contraception or conception planning.</a:t>
            </a:r>
          </a:p>
        </p:txBody>
      </p:sp>
    </p:spTree>
    <p:extLst>
      <p:ext uri="{BB962C8B-B14F-4D97-AF65-F5344CB8AC3E}">
        <p14:creationId xmlns:p14="http://schemas.microsoft.com/office/powerpoint/2010/main" val="36507959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2026-10-20T09:12:49.9250000Z</dcterms:created>
  <dcterms:modified xsi:type="dcterms:W3CDTF">2026-10-20T09:12:49.9250000Z</dcterms:modified>
</coreProperties>
</file>