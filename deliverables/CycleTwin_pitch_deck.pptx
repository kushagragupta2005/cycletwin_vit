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aaa479930654b79" /><Relationship Type="http://schemas.openxmlformats.org/officeDocument/2006/relationships/extended-properties" Target="/docProps/app.xml" Id="Rc93c0ef89ce44e81" /><Relationship Type="http://schemas.openxmlformats.org/officeDocument/2006/relationships/officeDocument" Target="/ppt/presentation.xml" Id="R08b6b52edc524c6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276a097ae48434a"/>
  </p:sldMasterIdLst>
  <p:notesMasterIdLst>
    <p:notesMasterId xmlns:r="http://schemas.openxmlformats.org/officeDocument/2006/relationships" r:id="R095bef8dd19045df"/>
  </p:notesMasterIdLst>
  <p:sldIdLst>
    <p:sldId xmlns:r="http://schemas.openxmlformats.org/officeDocument/2006/relationships" id="256" r:id="R21064d2f80714e67"/>
    <p:sldId xmlns:r="http://schemas.openxmlformats.org/officeDocument/2006/relationships" id="257" r:id="Rdb2e0246419c450c"/>
    <p:sldId xmlns:r="http://schemas.openxmlformats.org/officeDocument/2006/relationships" id="258" r:id="R0ca3963451524591"/>
    <p:sldId xmlns:r="http://schemas.openxmlformats.org/officeDocument/2006/relationships" id="259" r:id="Ra8291a74749d4925"/>
    <p:sldId xmlns:r="http://schemas.openxmlformats.org/officeDocument/2006/relationships" id="260" r:id="R6af7d5da8f2f43cc"/>
    <p:sldId xmlns:r="http://schemas.openxmlformats.org/officeDocument/2006/relationships" id="261" r:id="R0c8ead5663574756"/>
    <p:sldId xmlns:r="http://schemas.openxmlformats.org/officeDocument/2006/relationships" id="262" r:id="R3f47569177fd4256"/>
    <p:sldId xmlns:r="http://schemas.openxmlformats.org/officeDocument/2006/relationships" id="263" r:id="R17ef036c09d84afd"/>
    <p:sldId xmlns:r="http://schemas.openxmlformats.org/officeDocument/2006/relationships" id="264" r:id="R517aca99f0224fa4"/>
    <p:sldId xmlns:r="http://schemas.openxmlformats.org/officeDocument/2006/relationships" id="265" r:id="Rdbfdaefbde744d61"/>
    <p:sldId xmlns:r="http://schemas.openxmlformats.org/officeDocument/2006/relationships" id="266" r:id="R17f6daa23d33480c"/>
    <p:sldId xmlns:r="http://schemas.openxmlformats.org/officeDocument/2006/relationships" id="267" r:id="Rf162fd3ebeb545f6"/>
    <p:sldId xmlns:r="http://schemas.openxmlformats.org/officeDocument/2006/relationships" id="268" r:id="Rf8bb64a16d7546ab"/>
    <p:sldId xmlns:r="http://schemas.openxmlformats.org/officeDocument/2006/relationships" id="269" r:id="Rb6e54571b9b74dbf"/>
    <p:sldId xmlns:r="http://schemas.openxmlformats.org/officeDocument/2006/relationships" id="270" r:id="R59e5b17bd6b34107"/>
    <p:sldId xmlns:r="http://schemas.openxmlformats.org/officeDocument/2006/relationships" id="271" r:id="R3122f4139b794358"/>
    <p:sldId xmlns:r="http://schemas.openxmlformats.org/officeDocument/2006/relationships" id="272" r:id="R218813d7b186437f"/>
    <p:sldId xmlns:r="http://schemas.openxmlformats.org/officeDocument/2006/relationships" id="273" r:id="R27ef67524e3742ce"/>
    <p:sldId xmlns:r="http://schemas.openxmlformats.org/officeDocument/2006/relationships" id="274" r:id="R21e7c1d9e4c444ec"/>
    <p:sldId xmlns:r="http://schemas.openxmlformats.org/officeDocument/2006/relationships" id="275" r:id="R3e75bfb79bdb4580"/>
    <p:sldId xmlns:r="http://schemas.openxmlformats.org/officeDocument/2006/relationships" id="276" r:id="Red5c373980624f83"/>
    <p:sldId xmlns:r="http://schemas.openxmlformats.org/officeDocument/2006/relationships" id="277" r:id="Rb81e4925ba89430d"/>
    <p:sldId xmlns:r="http://schemas.openxmlformats.org/officeDocument/2006/relationships" id="278" r:id="R7b2e386f79dd4d00"/>
    <p:sldId xmlns:r="http://schemas.openxmlformats.org/officeDocument/2006/relationships" id="279" r:id="R77781c81f9f248a0"/>
    <p:sldId xmlns:r="http://schemas.openxmlformats.org/officeDocument/2006/relationships" id="280" r:id="R0b77c266ff52485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d681e5e0bd744d0" /><Relationship Type="http://schemas.openxmlformats.org/officeDocument/2006/relationships/slideMaster" Target="/ppt/slideMasters/slideMaster1.xml" Id="Rf276a097ae48434a" /><Relationship Type="http://schemas.openxmlformats.org/officeDocument/2006/relationships/notesMaster" Target="/ppt/notesMasters/notesMaster1.xml" Id="R095bef8dd19045df" /><Relationship Type="http://schemas.openxmlformats.org/officeDocument/2006/relationships/presProps" Target="/ppt/presProps.xml" Id="Rd2d8440e1ce34097" /><Relationship Type="http://schemas.openxmlformats.org/officeDocument/2006/relationships/tableStyles" Target="/ppt/tableStyles.xml" Id="R66093b94623f4fb7" /><Relationship Type="http://schemas.openxmlformats.org/officeDocument/2006/relationships/slide" Target="/ppt/slides/slide1.xml" Id="R21064d2f80714e67" /><Relationship Type="http://schemas.openxmlformats.org/officeDocument/2006/relationships/slide" Target="/ppt/slides/slide2.xml" Id="Rdb2e0246419c450c" /><Relationship Type="http://schemas.openxmlformats.org/officeDocument/2006/relationships/slide" Target="/ppt/slides/slide3.xml" Id="R0ca3963451524591" /><Relationship Type="http://schemas.openxmlformats.org/officeDocument/2006/relationships/slide" Target="/ppt/slides/slide4.xml" Id="Ra8291a74749d4925" /><Relationship Type="http://schemas.openxmlformats.org/officeDocument/2006/relationships/slide" Target="/ppt/slides/slide5.xml" Id="R6af7d5da8f2f43cc" /><Relationship Type="http://schemas.openxmlformats.org/officeDocument/2006/relationships/slide" Target="/ppt/slides/slide6.xml" Id="R0c8ead5663574756" /><Relationship Type="http://schemas.openxmlformats.org/officeDocument/2006/relationships/slide" Target="/ppt/slides/slide7.xml" Id="R3f47569177fd4256" /><Relationship Type="http://schemas.openxmlformats.org/officeDocument/2006/relationships/slide" Target="/ppt/slides/slide8.xml" Id="R17ef036c09d84afd" /><Relationship Type="http://schemas.openxmlformats.org/officeDocument/2006/relationships/slide" Target="/ppt/slides/slide9.xml" Id="R517aca99f0224fa4" /><Relationship Type="http://schemas.openxmlformats.org/officeDocument/2006/relationships/slide" Target="/ppt/slides/slide10.xml" Id="Rdbfdaefbde744d61" /><Relationship Type="http://schemas.openxmlformats.org/officeDocument/2006/relationships/slide" Target="/ppt/slides/slide11.xml" Id="R17f6daa23d33480c" /><Relationship Type="http://schemas.openxmlformats.org/officeDocument/2006/relationships/slide" Target="/ppt/slides/slide12.xml" Id="Rf162fd3ebeb545f6" /><Relationship Type="http://schemas.openxmlformats.org/officeDocument/2006/relationships/slide" Target="/ppt/slides/slide13.xml" Id="Rf8bb64a16d7546ab" /><Relationship Type="http://schemas.openxmlformats.org/officeDocument/2006/relationships/slide" Target="/ppt/slides/slide14.xml" Id="Rb6e54571b9b74dbf" /><Relationship Type="http://schemas.openxmlformats.org/officeDocument/2006/relationships/slide" Target="/ppt/slides/slide15.xml" Id="R59e5b17bd6b34107" /><Relationship Type="http://schemas.openxmlformats.org/officeDocument/2006/relationships/slide" Target="/ppt/slides/slide16.xml" Id="R3122f4139b794358" /><Relationship Type="http://schemas.openxmlformats.org/officeDocument/2006/relationships/slide" Target="/ppt/slides/slide17.xml" Id="R218813d7b186437f" /><Relationship Type="http://schemas.openxmlformats.org/officeDocument/2006/relationships/slide" Target="/ppt/slides/slide18.xml" Id="R27ef67524e3742ce" /><Relationship Type="http://schemas.openxmlformats.org/officeDocument/2006/relationships/slide" Target="/ppt/slides/slide19.xml" Id="R21e7c1d9e4c444ec" /><Relationship Type="http://schemas.openxmlformats.org/officeDocument/2006/relationships/slide" Target="/ppt/slides/slide20.xml" Id="R3e75bfb79bdb4580" /><Relationship Type="http://schemas.openxmlformats.org/officeDocument/2006/relationships/slide" Target="/ppt/slides/slide21.xml" Id="Red5c373980624f83" /><Relationship Type="http://schemas.openxmlformats.org/officeDocument/2006/relationships/slide" Target="/ppt/slides/slide22.xml" Id="Rb81e4925ba89430d" /><Relationship Type="http://schemas.openxmlformats.org/officeDocument/2006/relationships/slide" Target="/ppt/slides/slide23.xml" Id="R7b2e386f79dd4d00" /><Relationship Type="http://schemas.openxmlformats.org/officeDocument/2006/relationships/slide" Target="/ppt/slides/slide24.xml" Id="R77781c81f9f248a0" /><Relationship Type="http://schemas.openxmlformats.org/officeDocument/2006/relationships/slide" Target="/ppt/slides/slide25.xml" Id="R0b77c266ff52485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b455d8fa9b8401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b7fa3f2cb4b49ba" /><Relationship Type="http://schemas.openxmlformats.org/officeDocument/2006/relationships/notesMaster" Target="/ppt/notesMasters/notesMaster1.xml" Id="R34ef573ee9e54a9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c554906e0cf404f" /><Relationship Type="http://schemas.openxmlformats.org/officeDocument/2006/relationships/notesMaster" Target="/ppt/notesMasters/notesMaster1.xml" Id="R73ead0d1b69f4dc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188363166c94a47" /><Relationship Type="http://schemas.openxmlformats.org/officeDocument/2006/relationships/notesMaster" Target="/ppt/notesMasters/notesMaster1.xml" Id="Ra23ffabae90a416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9b70f5049304d4d" /><Relationship Type="http://schemas.openxmlformats.org/officeDocument/2006/relationships/notesMaster" Target="/ppt/notesMasters/notesMaster1.xml" Id="R2197c9d62e944da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1f6e6b45d144926" /><Relationship Type="http://schemas.openxmlformats.org/officeDocument/2006/relationships/notesMaster" Target="/ppt/notesMasters/notesMaster1.xml" Id="R8ac4f52e6cbe4d8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3cc4a656c5b4d71" /><Relationship Type="http://schemas.openxmlformats.org/officeDocument/2006/relationships/notesMaster" Target="/ppt/notesMasters/notesMaster1.xml" Id="R7136edfb4c39481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3d9b7bcffb24253" /><Relationship Type="http://schemas.openxmlformats.org/officeDocument/2006/relationships/notesMaster" Target="/ppt/notesMasters/notesMaster1.xml" Id="R97b78e7e2da24ac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78e0804e9c94081" /><Relationship Type="http://schemas.openxmlformats.org/officeDocument/2006/relationships/notesMaster" Target="/ppt/notesMasters/notesMaster1.xml" Id="Ra7a701a3a7ed415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793a74ba7354bcc" /><Relationship Type="http://schemas.openxmlformats.org/officeDocument/2006/relationships/notesMaster" Target="/ppt/notesMasters/notesMaster1.xml" Id="Rfb390c554a044f0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efb9287944644cf" /><Relationship Type="http://schemas.openxmlformats.org/officeDocument/2006/relationships/notesMaster" Target="/ppt/notesMasters/notesMaster1.xml" Id="R4816ba9d44f34bb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b01e48f86884207" /><Relationship Type="http://schemas.openxmlformats.org/officeDocument/2006/relationships/notesMaster" Target="/ppt/notesMasters/notesMaster1.xml" Id="R9e37e48d227147a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a8c21ff44d5462d" /><Relationship Type="http://schemas.openxmlformats.org/officeDocument/2006/relationships/notesMaster" Target="/ppt/notesMasters/notesMaster1.xml" Id="R2cbf2e789dd4458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22627dc1d9b4d04" /><Relationship Type="http://schemas.openxmlformats.org/officeDocument/2006/relationships/notesMaster" Target="/ppt/notesMasters/notesMaster1.xml" Id="R3850a71395964baa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7b06181c87a411c" /><Relationship Type="http://schemas.openxmlformats.org/officeDocument/2006/relationships/notesMaster" Target="/ppt/notesMasters/notesMaster1.xml" Id="R9a929b82f1034af1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c4c0a3f9f74641b6" /><Relationship Type="http://schemas.openxmlformats.org/officeDocument/2006/relationships/notesMaster" Target="/ppt/notesMasters/notesMaster1.xml" Id="Rd74276833728460a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2e5e07029a99467a" /><Relationship Type="http://schemas.openxmlformats.org/officeDocument/2006/relationships/notesMaster" Target="/ppt/notesMasters/notesMaster1.xml" Id="R3addbd78b5bb4c1d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d92fee8dedbb4161" /><Relationship Type="http://schemas.openxmlformats.org/officeDocument/2006/relationships/notesMaster" Target="/ppt/notesMasters/notesMaster1.xml" Id="R8cc48c40b1834253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473e788206db4b49" /><Relationship Type="http://schemas.openxmlformats.org/officeDocument/2006/relationships/notesMaster" Target="/ppt/notesMasters/notesMaster1.xml" Id="R1a0d4a3538fc441e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ce3c73e2db2c4fa3" /><Relationship Type="http://schemas.openxmlformats.org/officeDocument/2006/relationships/notesMaster" Target="/ppt/notesMasters/notesMaster1.xml" Id="R2b23dd55619242ab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a6c5dc4831c14d9d" /><Relationship Type="http://schemas.openxmlformats.org/officeDocument/2006/relationships/notesMaster" Target="/ppt/notesMasters/notesMaster1.xml" Id="R8628e553ef5b40a2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156d26445ffa4dc0" /><Relationship Type="http://schemas.openxmlformats.org/officeDocument/2006/relationships/notesMaster" Target="/ppt/notesMasters/notesMaster1.xml" Id="Rc58b68be85174948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2fdf501db5f94683" /><Relationship Type="http://schemas.openxmlformats.org/officeDocument/2006/relationships/notesMaster" Target="/ppt/notesMasters/notesMaster1.xml" Id="R579a127ecb784c7b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c3724667dd3149a7" /><Relationship Type="http://schemas.openxmlformats.org/officeDocument/2006/relationships/notesMaster" Target="/ppt/notesMasters/notesMaster1.xml" Id="Rcf82329ea2804a05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1c1b818859d544a2" /><Relationship Type="http://schemas.openxmlformats.org/officeDocument/2006/relationships/notesMaster" Target="/ppt/notesMasters/notesMaster1.xml" Id="R8aedbd008a9d4ca5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65a087f23c334e8a" /><Relationship Type="http://schemas.openxmlformats.org/officeDocument/2006/relationships/notesMaster" Target="/ppt/notesMasters/notesMaster1.xml" Id="Rc5a53b60c2e64da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docs/claims.json, generated by scripts/build_claims.py. All project metrics are synthetic development results. Cycle-by-cycle late or absent ovulation research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docs/claims.json, generated by scripts/build_claims.py. All project metrics are synthetic development results. Monitoring irregular cycles without claiming a PMOS diagnosis Primary population-context source: https://pmc.ncbi.nlm.nih.gov/articles/PMC11581580/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docs/claims.json, generated by scripts/build_claims.py. All project metrics are synthetic development results. Fictional synthetic persona - not a real patient - not performance evidence.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docs/claims.json, generated by scripts/build_claims.py. All project metrics are synthetic development results. EHR-lite is implemented and explicitly oracle-adjacent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docs/claims.json, generated by scripts/build_claims.py. All project metrics are synthetic development results. The dashboard loads the same persisted pipeline used by the benchmark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docs/claims.json, generated by scripts/build_claims.py. All project metrics are synthetic development results. Every explicit operating choice uses train or validation data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docs/claims.json, generated by scripts/build_claims.py. All project metrics are synthetic development results. Seed means describe the current generator, not clinical forecasting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docs/claims.json, generated by scripts/build_claims.py. All project metrics are synthetic development results. Seed means describe the current generator, not clinical forecasting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docs/claims.json, generated by scripts/build_claims.py. All project metrics are synthetic development results. Seed means describe the current generator, not clinical forecasting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docs/claims.json, generated by scripts/build_claims.py. All project metrics are synthetic development results. Reserved seeds, unchanged train/validation choices, one guarded run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docs/claims.json, generated by scripts/build_claims.py. All project metrics are synthetic development results. Reserved seeds, unchanged train/validation choices, one guarded run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docs/claims.json, generated by scripts/build_claims.py. All project metrics are synthetic development results. Reserved seeds, unchanged train/validation choices, one guarded run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docs/claims.json, generated by scripts/build_claims.py. All project metrics are synthetic development results. Predeclared temperature sensor tier, descriptive seed means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docs/claims.json, generated by scripts/build_claims.py. All project metrics are synthetic development results. Earliest safe threshold crossing only; all values are synthetic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docs/claims.json, generated by scripts/build_claims.py. All project metrics are synthetic development results. Fixed Tier-2 day-18 model and threshold under predeclared perturbations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docs/claims.json, generated by scripts/build_claims.py. All project metrics are synthetic development results. Train-only calendar/static prior plus temperature, RHR and HRV likelihoods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docs/claims.json, generated by scripts/build_claims.py. All project metrics are synthetic development results. Post-freeze, noisy simulator proxies; neither clinical labs nor measured hormones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docs/claims.json, generated by scripts/build_claims.py. All project metrics are synthetic development results. One persisted frozen Tier-2 model on the build host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docs/claims.json, generated by scripts/build_claims.py. All project metrics are synthetic development results. Marginal classification sets and separate heuristic timing bands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docs/claims.json, generated by scripts/build_claims.py. All project metrics are synthetic development results. Decision-support research display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docs/claims.json, generated by scripts/build_claims.py. All project metrics are synthetic development results. Missing safety information causes abstention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docs/claims.json, generated by scripts/build_claims.py. All project metrics are synthetic development results. Clear boundaries around simulated physiology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docs/claims.json, generated by scripts/build_claims.py. All project metrics are synthetic development results. All declared Kushi scenarios remain visible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docs/claims.json, generated by scripts/build_claims.py. All project metrics are synthetic development results. Synthetic recovery is not prospective evidence in women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docs/claims.json, generated by scripts/build_claims.py. All project metrics are synthetic development results. Public source, inspectable artifacts and explicit next work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27f10c2024a4cf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560d4d7e6474c9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aa56aa53ce340a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91592f8582b4da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5c9073ffc3448c4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6f88c4536e84cb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E18C4FB-FB29-41B2-A556-F809CF5EAB1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D75F071A-3549-418B-BF09-E0233875DBB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E2F28046-65F5-476F-8231-249D670638C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AA11D42-C472-4653-82DB-C63FB0C50CA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A0D1FADD-E773-445A-9273-6168E9B0350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86D1248D-0A6A-4ABE-8883-F2623204B1D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E50F42E-A6DC-4377-8919-9261E0485CC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7CDF4508-1A22-4943-A39F-4933D18168C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8CA7FDF-5858-4C7D-8550-C833236B5BB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50C1F34-AC62-4BF0-9689-514A0B9F886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be2467c9be7465a" /><Relationship Type="http://schemas.openxmlformats.org/officeDocument/2006/relationships/slideLayout" Target="/ppt/slideLayouts/slideLayout1.xml" Id="R935420b3caff4bfa" /><Relationship Type="http://schemas.openxmlformats.org/officeDocument/2006/relationships/slideLayout" Target="/ppt/slideLayouts/slideLayout2.xml" Id="Rd030c1d9e6254dfd" /><Relationship Type="http://schemas.openxmlformats.org/officeDocument/2006/relationships/slideLayout" Target="/ppt/slideLayouts/slideLayout3.xml" Id="R6aa6d731797840e6" /><Relationship Type="http://schemas.openxmlformats.org/officeDocument/2006/relationships/slideLayout" Target="/ppt/slideLayouts/slideLayout4.xml" Id="R07e803f7ac484da0" /><Relationship Type="http://schemas.openxmlformats.org/officeDocument/2006/relationships/slideLayout" Target="/ppt/slideLayouts/slideLayout5.xml" Id="R13422d30710a4f3c" /><Relationship Type="http://schemas.openxmlformats.org/officeDocument/2006/relationships/slideLayout" Target="/ppt/slideLayouts/slideLayout6.xml" Id="Ra0de412d0cec453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35420b3caff4bfa"/>
    <p:sldLayoutId xmlns:r="http://schemas.openxmlformats.org/officeDocument/2006/relationships" id="2147483650" r:id="Rd030c1d9e6254dfd"/>
    <p:sldLayoutId xmlns:r="http://schemas.openxmlformats.org/officeDocument/2006/relationships" id="2147483651" r:id="R6aa6d731797840e6"/>
    <p:sldLayoutId xmlns:r="http://schemas.openxmlformats.org/officeDocument/2006/relationships" id="2147483652" r:id="R07e803f7ac484da0"/>
    <p:sldLayoutId xmlns:r="http://schemas.openxmlformats.org/officeDocument/2006/relationships" id="2147483653" r:id="R13422d30710a4f3c"/>
    <p:sldLayoutId xmlns:r="http://schemas.openxmlformats.org/officeDocument/2006/relationships" id="2147483654" r:id="Ra0de412d0cec453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68570696b3842e4" /><Relationship Type="http://schemas.openxmlformats.org/officeDocument/2006/relationships/notesSlide" Target="/ppt/notesSlides/notesSlide1.xml" Id="Rfa8857f0047f4ce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9741128782b4d73" /><Relationship Type="http://schemas.openxmlformats.org/officeDocument/2006/relationships/notesSlide" Target="/ppt/notesSlides/notesSlide2.xml" Id="R7aa496eb934f41d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40c28cceab648ef" /><Relationship Type="http://schemas.openxmlformats.org/officeDocument/2006/relationships/notesSlide" Target="/ppt/notesSlides/notesSlide3.xml" Id="R15beb2c1d3f04ac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9c9729b3e914fa9" /><Relationship Type="http://schemas.openxmlformats.org/officeDocument/2006/relationships/notesSlide" Target="/ppt/notesSlides/notesSlide4.xml" Id="R950468cc3270451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738c70aae5d4baa" /><Relationship Type="http://schemas.openxmlformats.org/officeDocument/2006/relationships/notesSlide" Target="/ppt/notesSlides/notesSlide5.xml" Id="R905582b2d0d2443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37ca255179e45f5" /><Relationship Type="http://schemas.openxmlformats.org/officeDocument/2006/relationships/notesSlide" Target="/ppt/notesSlides/notesSlide6.xml" Id="Rcb69daa04c0a47f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cbeb33086d0440f" /><Relationship Type="http://schemas.openxmlformats.org/officeDocument/2006/relationships/notesSlide" Target="/ppt/notesSlides/notesSlide7.xml" Id="R5e73c2522c1a47f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88cae601e5049e0" /><Relationship Type="http://schemas.openxmlformats.org/officeDocument/2006/relationships/notesSlide" Target="/ppt/notesSlides/notesSlide8.xml" Id="R462fa3824f604e2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b37bc655ab74664" /><Relationship Type="http://schemas.openxmlformats.org/officeDocument/2006/relationships/notesSlide" Target="/ppt/notesSlides/notesSlide9.xml" Id="R009bdd49491a4da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fcd1fbd0b34454e" /><Relationship Type="http://schemas.openxmlformats.org/officeDocument/2006/relationships/notesSlide" Target="/ppt/notesSlides/notesSlide10.xml" Id="Rc90c7cfe72c5464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9993ed3abca4520" /><Relationship Type="http://schemas.openxmlformats.org/officeDocument/2006/relationships/notesSlide" Target="/ppt/notesSlides/notesSlide11.xml" Id="R96ff1116e2d647b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960c4c805cc402d" /><Relationship Type="http://schemas.openxmlformats.org/officeDocument/2006/relationships/notesSlide" Target="/ppt/notesSlides/notesSlide12.xml" Id="R5fcecbced1ca4be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39493ef07294d37" /><Relationship Type="http://schemas.openxmlformats.org/officeDocument/2006/relationships/notesSlide" Target="/ppt/notesSlides/notesSlide13.xml" Id="R54fe903963e1442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2170ec516224a0e" /><Relationship Type="http://schemas.openxmlformats.org/officeDocument/2006/relationships/notesSlide" Target="/ppt/notesSlides/notesSlide14.xml" Id="R7bea6917b2804bdf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73b2c00bde241b1" /><Relationship Type="http://schemas.openxmlformats.org/officeDocument/2006/relationships/notesSlide" Target="/ppt/notesSlides/notesSlide15.xml" Id="R1b4a68151eee4ce7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a9d701a47224a3a" /><Relationship Type="http://schemas.openxmlformats.org/officeDocument/2006/relationships/notesSlide" Target="/ppt/notesSlides/notesSlide16.xml" Id="R12208f53e15e4d01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7a25ec25b314ded" /><Relationship Type="http://schemas.openxmlformats.org/officeDocument/2006/relationships/notesSlide" Target="/ppt/notesSlides/notesSlide17.xml" Id="Rd656fed1612a426e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aaaa4f68ff6464c" /><Relationship Type="http://schemas.openxmlformats.org/officeDocument/2006/relationships/notesSlide" Target="/ppt/notesSlides/notesSlide18.xml" Id="R94b5a46321f74eee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048caed368242dc" /><Relationship Type="http://schemas.openxmlformats.org/officeDocument/2006/relationships/notesSlide" Target="/ppt/notesSlides/notesSlide19.xml" Id="R5dd3783e65b74777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d151f01101c4e88" /><Relationship Type="http://schemas.openxmlformats.org/officeDocument/2006/relationships/notesSlide" Target="/ppt/notesSlides/notesSlide20.xml" Id="R7f63b26f7c3d4570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811a319fc104ebf" /><Relationship Type="http://schemas.openxmlformats.org/officeDocument/2006/relationships/notesSlide" Target="/ppt/notesSlides/notesSlide21.xml" Id="R54a1fc45c6884feb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6a43c77427f46d4" /><Relationship Type="http://schemas.openxmlformats.org/officeDocument/2006/relationships/notesSlide" Target="/ppt/notesSlides/notesSlide22.xml" Id="Re4df80956833462b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9b03b7ebbfd4837" /><Relationship Type="http://schemas.openxmlformats.org/officeDocument/2006/relationships/notesSlide" Target="/ppt/notesSlides/notesSlide23.xml" Id="R3339ced6f5c04956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4358cf570cb4e8b" /><Relationship Type="http://schemas.openxmlformats.org/officeDocument/2006/relationships/notesSlide" Target="/ppt/notesSlides/notesSlide24.xml" Id="R88982e02b0b14c86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246a4ea3a0a40e9" /><Relationship Type="http://schemas.openxmlformats.org/officeDocument/2006/relationships/notesSlide" Target="/ppt/notesSlides/notesSlide25.xml" Id="R763700ed75cc43e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E5484F-1E68-42A6-888E-5E9BE0A0D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5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defPPr>
            <a:lvl1pPr>
              <a:defRPr sz="5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1pPr>
            <a:lvl2pPr>
              <a:defRPr sz="5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2pPr>
            <a:lvl3pPr>
              <a:defRPr sz="5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3pPr>
            <a:lvl4pPr>
              <a:defRPr sz="5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4pPr>
            <a:lvl5pPr>
              <a:defRPr sz="5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5pPr>
            <a:lvl6pPr>
              <a:defRPr sz="5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6pPr>
            <a:lvl7pPr>
              <a:defRPr sz="5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7pPr>
            <a:lvl8pPr>
              <a:defRPr sz="5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8pPr>
            <a:lvl9pPr>
              <a:defRPr sz="5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5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pPr>
            <a:r>
              <a:rPr sz="5250" b="0">
                <a:solidFill>
                  <a:srgbClr val="17242B"/>
                </a:solidFill>
                <a:latin typeface="Arial"/>
                <a:ea typeface="Arial"/>
                <a:cs typeface="Arial"/>
              </a:rPr>
              <a:t>CycleTwin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93A05A-4678-4B5C-AFA4-886F6AD05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5757B"/>
                </a:solidFill>
                <a:latin typeface="Arial"/>
                <a:ea typeface="Arial"/>
                <a:cs typeface="Arial"/>
              </a:rPr>
              <a:t>Cycle-by-cycle late or absent ovulation research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EAFE0D-5AED-4FB2-9BD8-B6BB015D8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90750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0E766E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0E766E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0E766E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0E766E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0E766E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0E766E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0E766E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0E766E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0E766E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0E766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0E766E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0E766E"/>
                </a:solidFill>
                <a:latin typeface="Arial"/>
                <a:ea typeface="Arial"/>
                <a:cs typeface="Arial"/>
              </a:rPr>
              <a:t>Team CycleTwin / VIT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1DDA9D-838D-4BF0-9482-D89E661C9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29000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42B"/>
                </a:solidFill>
                <a:latin typeface="Arial"/>
                <a:ea typeface="Arial"/>
                <a:cs typeface="Arial"/>
              </a:rPr>
              <a:t>A fitted synthetic forecasting workflow with explicit safety gates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31C893-6E1A-4DBE-8959-48A15B030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667250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42B"/>
                </a:solidFill>
                <a:latin typeface="Arial"/>
                <a:ea typeface="Arial"/>
                <a:cs typeface="Arial"/>
              </a:rPr>
              <a:t>Meet Kushi: fictional persona, never performance evidence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B00945-751F-45E3-8AE2-0DF860BAE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5757B"/>
                </a:solidFill>
                <a:latin typeface="Arial"/>
                <a:ea typeface="Arial"/>
                <a:cs typeface="Arial"/>
              </a:rPr>
              <a:t>Synthetic research prototype. Not for diagnosis, contraception or conception planning.</a:t>
            </a:r>
          </a:p>
        </p:txBody>
      </p:sp>
    </p:spTree>
    <p:extLst>
      <p:ext uri="{BB962C8B-B14F-4D97-AF65-F5344CB8AC3E}">
        <p14:creationId xmlns:p14="http://schemas.microsoft.com/office/powerpoint/2010/main" val="151083270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A2B629-51E2-4820-92C9-6B2B2DD00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defPPr>
            <a:lvl1pPr>
              <a:defRPr sz="330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1pPr>
            <a:lvl2pPr>
              <a:defRPr sz="330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2pPr>
            <a:lvl3pPr>
              <a:defRPr sz="330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3pPr>
            <a:lvl4pPr>
              <a:defRPr sz="330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4pPr>
            <a:lvl5pPr>
              <a:defRPr sz="330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5pPr>
            <a:lvl6pPr>
              <a:defRPr sz="330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6pPr>
            <a:lvl7pPr>
              <a:defRPr sz="330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7pPr>
            <a:lvl8pPr>
              <a:defRPr sz="330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8pPr>
            <a:lvl9pPr>
              <a:defRPr sz="330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pPr>
            <a:r>
              <a:rPr sz="3300" b="0">
                <a:solidFill>
                  <a:srgbClr val="17242B"/>
                </a:solidFill>
                <a:latin typeface="Arial"/>
                <a:ea typeface="Arial"/>
                <a:cs typeface="Arial"/>
              </a:rPr>
              <a:t>The research problem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F499AF-1C64-4C55-8AE6-DD52C92A2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5757B"/>
                </a:solidFill>
                <a:latin typeface="Arial"/>
                <a:ea typeface="Arial"/>
                <a:cs typeface="Arial"/>
              </a:rPr>
              <a:t>Monitoring irregular cycles without claiming a PMOS diagnosis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C2EB87-E04A-493A-BBCE-9808C6A92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90750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0E766E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0E766E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0E766E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0E766E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0E766E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0E766E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0E766E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0E766E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0E766E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0E766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0E766E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0E766E"/>
                </a:solidFill>
                <a:latin typeface="Arial"/>
                <a:ea typeface="Arial"/>
                <a:cs typeface="Arial"/>
              </a:rPr>
              <a:t>Target: generated ovulation after the configured cutoff, or generated absence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22C1B5-1E48-49B7-90BC-A0C5B32A9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29000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42B"/>
                </a:solidFill>
                <a:latin typeface="Arial"/>
                <a:ea typeface="Arial"/>
                <a:cs typeface="Arial"/>
              </a:rPr>
              <a:t>India context: 7.2% by NIH criteria and 19.6% by Rotterdam criteria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A63830-457F-4330-9F15-E5ECCD0A1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667250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42B"/>
                </a:solidFill>
                <a:latin typeface="Arial"/>
                <a:ea typeface="Arial"/>
                <a:cs typeface="Arial"/>
              </a:rPr>
              <a:t>Published prevalence depends on definition. It is not the simulator mixture or model accuracy.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22A051-2E04-4E1C-9BB5-2E8E87E18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5757B"/>
                </a:solidFill>
                <a:latin typeface="Arial"/>
                <a:ea typeface="Arial"/>
                <a:cs typeface="Arial"/>
              </a:rPr>
              <a:t>Synthetic research prototype. Not for diagnosis, contraception or conception planning.</a:t>
            </a:r>
          </a:p>
        </p:txBody>
      </p:sp>
    </p:spTree>
    <p:extLst>
      <p:ext uri="{BB962C8B-B14F-4D97-AF65-F5344CB8AC3E}">
        <p14:creationId xmlns:p14="http://schemas.microsoft.com/office/powerpoint/2010/main" val="59523220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A80023-9455-4EAA-9A64-742D3036E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defPPr>
            <a:lvl1pPr>
              <a:defRPr sz="330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1pPr>
            <a:lvl2pPr>
              <a:defRPr sz="330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2pPr>
            <a:lvl3pPr>
              <a:defRPr sz="330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3pPr>
            <a:lvl4pPr>
              <a:defRPr sz="330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4pPr>
            <a:lvl5pPr>
              <a:defRPr sz="330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5pPr>
            <a:lvl6pPr>
              <a:defRPr sz="330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6pPr>
            <a:lvl7pPr>
              <a:defRPr sz="330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7pPr>
            <a:lvl8pPr>
              <a:defRPr sz="330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8pPr>
            <a:lvl9pPr>
              <a:defRPr sz="330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pPr>
            <a:r>
              <a:rPr sz="3300" b="0">
                <a:solidFill>
                  <a:srgbClr val="17242B"/>
                </a:solidFill>
                <a:latin typeface="Arial"/>
                <a:ea typeface="Arial"/>
                <a:cs typeface="Arial"/>
              </a:rPr>
              <a:t>Meet Kushi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32D1E5-4339-4814-A6ED-51A9ED000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5757B"/>
                </a:solidFill>
                <a:latin typeface="Arial"/>
                <a:ea typeface="Arial"/>
                <a:cs typeface="Arial"/>
              </a:rPr>
              <a:t>Fictional synthetic persona - not a real patient - not performance evidence.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2C2983-C1F8-4886-A04D-6C3479FB8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90750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0E766E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0E766E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0E766E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0E766E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0E766E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0E766E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0E766E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0E766E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0E766E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0E766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0E766E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0E766E"/>
                </a:solidFill>
                <a:latin typeface="Arial"/>
                <a:ea typeface="Arial"/>
                <a:cs typeface="Arial"/>
              </a:rPr>
              <a:t>21 years, year 3 B.Tech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0437FB-C5D5-4C04-ABBF-C478375BE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19438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42B"/>
                </a:solidFill>
                <a:latin typeface="Arial"/>
                <a:ea typeface="Arial"/>
                <a:cs typeface="Arial"/>
              </a:rPr>
              <a:t>Hostel life, exam-season sleep debt, mother with type 2 diabetes, smartwatch wearer.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BFD9CF-CCD4-4BAD-B5A0-8DEC12551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48125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42B"/>
                </a:solidFill>
                <a:latin typeface="Arial"/>
                <a:ea typeface="Arial"/>
                <a:cs typeface="Arial"/>
              </a:rPr>
              <a:t>Actual generated past lengths: 41, 38, 41, 38, 44, 51 days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3A4650-03A6-4C7D-9BD5-30BA86812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76813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42B"/>
                </a:solidFill>
                <a:latin typeface="Arial"/>
                <a:ea typeface="Arial"/>
                <a:cs typeface="Arial"/>
              </a:rPr>
              <a:t>Selection uses generator truth and a declared seed, never predicted risk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9C9801-E229-484F-A80A-11825A77A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5757B"/>
                </a:solidFill>
                <a:latin typeface="Arial"/>
                <a:ea typeface="Arial"/>
                <a:cs typeface="Arial"/>
              </a:rPr>
              <a:t>Synthetic research prototype. Not for diagnosis, contraception or conception planning.</a:t>
            </a:r>
          </a:p>
        </p:txBody>
      </p:sp>
    </p:spTree>
    <p:extLst>
      <p:ext uri="{BB962C8B-B14F-4D97-AF65-F5344CB8AC3E}">
        <p14:creationId xmlns:p14="http://schemas.microsoft.com/office/powerpoint/2010/main" val="179696029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A5147B-4B58-4D0B-87AF-FC381DB49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defPPr>
            <a:lvl1pPr>
              <a:defRPr sz="330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1pPr>
            <a:lvl2pPr>
              <a:defRPr sz="330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2pPr>
            <a:lvl3pPr>
              <a:defRPr sz="330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3pPr>
            <a:lvl4pPr>
              <a:defRPr sz="330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4pPr>
            <a:lvl5pPr>
              <a:defRPr sz="330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5pPr>
            <a:lvl6pPr>
              <a:defRPr sz="330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6pPr>
            <a:lvl7pPr>
              <a:defRPr sz="330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7pPr>
            <a:lvl8pPr>
              <a:defRPr sz="330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8pPr>
            <a:lvl9pPr>
              <a:defRPr sz="330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pPr>
            <a:r>
              <a:rPr sz="3300" b="0">
                <a:solidFill>
                  <a:srgbClr val="17242B"/>
                </a:solidFill>
                <a:latin typeface="Arial"/>
                <a:ea typeface="Arial"/>
                <a:cs typeface="Arial"/>
              </a:rPr>
              <a:t>Static and dynamic input streams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4B5C08-C37F-43BD-9246-B91C5A5AA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5757B"/>
                </a:solidFill>
                <a:latin typeface="Arial"/>
                <a:ea typeface="Arial"/>
                <a:cs typeface="Arial"/>
              </a:rPr>
              <a:t>EHR-lite is implemented and explicitly oracle-adjacent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D864A9-62B6-4A13-A5A3-14A2CFEF2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90750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0E766E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0E766E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0E766E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0E766E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0E766E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0E766E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0E766E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0E766E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0E766E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0E766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0E766E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0E766E"/>
                </a:solidFill>
                <a:latin typeface="Arial"/>
                <a:ea typeface="Arial"/>
                <a:cs typeface="Arial"/>
              </a:rPr>
              <a:t>Static: generated IR latent, androgen, age, BMI and family history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AE1921-E24D-4B51-97F8-058A40274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29000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42B"/>
                </a:solidFill>
                <a:latin typeface="Arial"/>
                <a:ea typeface="Arial"/>
                <a:cs typeface="Arial"/>
              </a:rPr>
              <a:t>Dynamic: calendar history, RHR, HRV, steps, sleep and temperature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3B64E6-3ECB-4FA3-86AD-B5349D4A0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667250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42B"/>
                </a:solidFill>
                <a:latin typeface="Arial"/>
                <a:ea typeface="Arial"/>
                <a:cs typeface="Arial"/>
              </a:rPr>
              <a:t>No measured hormone values. The XML parser demonstrates input shape only.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C5D96F-A676-41F0-A776-E79604BD9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5757B"/>
                </a:solidFill>
                <a:latin typeface="Arial"/>
                <a:ea typeface="Arial"/>
                <a:cs typeface="Arial"/>
              </a:rPr>
              <a:t>Synthetic research prototype. Not for diagnosis, contraception or conception planning.</a:t>
            </a:r>
          </a:p>
        </p:txBody>
      </p:sp>
    </p:spTree>
    <p:extLst>
      <p:ext uri="{BB962C8B-B14F-4D97-AF65-F5344CB8AC3E}">
        <p14:creationId xmlns:p14="http://schemas.microsoft.com/office/powerpoint/2010/main" val="22527783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0D5E9A-6B6B-4868-911B-F00B100C11EE}"/>
              </a:ext>
            </a:extLst>
          </p:cNvPr>
          <p:cNvCxnSpPr>
            <a:stCxn xmlns:a="http://schemas.openxmlformats.org/drawingml/2006/main" id="7" idx="1"/>
            <a:endCxn xmlns:a="http://schemas.openxmlformats.org/drawingml/2006/main" id="8" idx="3"/>
          </p:cNvCxnSpPr>
          <p:nvPr/>
        </p:nvCxnSpPr>
        <p:spPr>
          <a:xfrm xmlns:a="http://schemas.openxmlformats.org/drawingml/2006/main" flipH="1">
            <a:off x="7620000" y="5214938"/>
            <a:ext cx="7143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E766E"/>
            </a:solidFill>
            <a:tailEnd type="arrow" w="med" len="med"/>
          </a:ln>
        </p:spPr>
      </p:cxn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68264F-074B-48FF-ACC9-27E4E6BEB977}"/>
              </a:ext>
            </a:extLst>
          </p:cNvPr>
          <p:cNvCxnSpPr>
            <a:stCxn xmlns:a="http://schemas.openxmlformats.org/drawingml/2006/main" id="6" idx="2"/>
            <a:endCxn xmlns:a="http://schemas.openxmlformats.org/drawingml/2006/main" id="7" idx="0"/>
          </p:cNvCxnSpPr>
          <p:nvPr/>
        </p:nvCxnSpPr>
        <p:spPr>
          <a:xfrm xmlns:a="http://schemas.openxmlformats.org/drawingml/2006/main">
            <a:off x="9906000" y="4000500"/>
            <a:ext cx="0" cy="7143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E766E"/>
            </a:solidFill>
            <a:tailEnd type="arrow" w="med" len="med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8AAEF1-F209-48BD-AC78-B03B0DCC52E4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7620000" y="3429000"/>
            <a:ext cx="7143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E766E"/>
            </a:solidFill>
            <a:tailEnd type="arrow" w="med" len="med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BF8A20-1F1B-41F2-A8B5-8B93B96F41F5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 flipV="1">
            <a:off x="3762375" y="3429000"/>
            <a:ext cx="714375" cy="73818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0E766E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4FBE73-F4A2-4D79-83C6-743B8913F0C0}"/>
              </a:ext>
            </a:extLst>
          </p:cNvPr>
          <p:cNvCxnSpPr>
            <a:stCxn xmlns:a="http://schemas.openxmlformats.org/drawingml/2006/main" id="3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3762375" y="2738438"/>
            <a:ext cx="714375" cy="69056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0E766E"/>
            </a:solidFill>
            <a:tailEnd type="arrow" w="med" len="med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C112FFE-6234-4DD1-AFDF-95F4990EE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defPPr>
            <a:lvl1pPr>
              <a:defRPr sz="330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1pPr>
            <a:lvl2pPr>
              <a:defRPr sz="330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2pPr>
            <a:lvl3pPr>
              <a:defRPr sz="330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3pPr>
            <a:lvl4pPr>
              <a:defRPr sz="330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4pPr>
            <a:lvl5pPr>
              <a:defRPr sz="330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5pPr>
            <a:lvl6pPr>
              <a:defRPr sz="330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6pPr>
            <a:lvl7pPr>
              <a:defRPr sz="330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7pPr>
            <a:lvl8pPr>
              <a:defRPr sz="330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8pPr>
            <a:lvl9pPr>
              <a:defRPr sz="330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pPr>
            <a:r>
              <a:rPr sz="3300" b="0">
                <a:solidFill>
                  <a:srgbClr val="17242B"/>
                </a:solidFill>
                <a:latin typeface="Arial"/>
                <a:ea typeface="Arial"/>
                <a:cs typeface="Arial"/>
              </a:rPr>
              <a:t>One fitted prediction path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3FAD78-A34B-4DC3-B83B-8F481B05A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5757B"/>
                </a:solidFill>
                <a:latin typeface="Arial"/>
                <a:ea typeface="Arial"/>
                <a:cs typeface="Arial"/>
              </a:rPr>
              <a:t>The dashboard loads the same persisted pipeline used by the benchmark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2C0752-24EC-4C08-AD1E-B9B2E3A55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238375"/>
            <a:ext cx="31432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4F1"/>
          </a:solidFill>
          <a:ln xmlns:a="http://schemas.openxmlformats.org/drawingml/2006/main" w="9525">
            <a:solidFill>
              <a:srgbClr val="C8DCD5"/>
            </a:solidFill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>
                <a:solidFill>
                  <a:srgbClr val="17242B"/>
                </a:solidFill>
                <a:latin typeface="Arial"/>
                <a:ea typeface="Arial"/>
                <a:cs typeface="Arial"/>
              </a:defRPr>
            </a:defPPr>
            <a:lvl1pPr>
              <a:defRPr sz="180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1pPr>
            <a:lvl2pPr>
              <a:defRPr sz="180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2pPr>
            <a:lvl3pPr>
              <a:defRPr sz="180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3pPr>
            <a:lvl4pPr>
              <a:defRPr sz="180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4pPr>
            <a:lvl5pPr>
              <a:defRPr sz="180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5pPr>
            <a:lvl6pPr>
              <a:defRPr sz="180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6pPr>
            <a:lvl7pPr>
              <a:defRPr sz="180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7pPr>
            <a:lvl8pPr>
              <a:defRPr sz="180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8pPr>
            <a:lvl9pPr>
              <a:defRPr sz="180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>
                <a:solidFill>
                  <a:srgbClr val="17242B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7242B"/>
                </a:solidFill>
                <a:latin typeface="Arial"/>
                <a:ea typeface="Arial"/>
                <a:cs typeface="Arial"/>
              </a:rPr>
              <a:t>Synthetic static EHR-lite</a:t>
            </a:r>
          </a:p>
          <a:p xmlns:a="http://schemas.openxmlformats.org/drawingml/2006/main">
            <a:pPr>
              <a:defRPr sz="1800">
                <a:solidFill>
                  <a:srgbClr val="17242B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7242B"/>
                </a:solidFill>
                <a:latin typeface="Arial"/>
                <a:ea typeface="Arial"/>
                <a:cs typeface="Arial"/>
              </a:rPr>
              <a:t>Oracle-adjacent internals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7D5CFB-DCF9-44E9-9D80-5AA559DD5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667125"/>
            <a:ext cx="31432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4F1"/>
          </a:solidFill>
          <a:ln xmlns:a="http://schemas.openxmlformats.org/drawingml/2006/main" w="9525">
            <a:solidFill>
              <a:srgbClr val="C8DCD5"/>
            </a:solidFill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>
                <a:solidFill>
                  <a:srgbClr val="17242B"/>
                </a:solidFill>
                <a:latin typeface="Arial"/>
                <a:ea typeface="Arial"/>
                <a:cs typeface="Arial"/>
              </a:defRPr>
            </a:defPPr>
            <a:lvl1pPr>
              <a:defRPr sz="180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1pPr>
            <a:lvl2pPr>
              <a:defRPr sz="180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2pPr>
            <a:lvl3pPr>
              <a:defRPr sz="180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3pPr>
            <a:lvl4pPr>
              <a:defRPr sz="180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4pPr>
            <a:lvl5pPr>
              <a:defRPr sz="180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5pPr>
            <a:lvl6pPr>
              <a:defRPr sz="180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6pPr>
            <a:lvl7pPr>
              <a:defRPr sz="180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7pPr>
            <a:lvl8pPr>
              <a:defRPr sz="180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8pPr>
            <a:lvl9pPr>
              <a:defRPr sz="180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>
                <a:solidFill>
                  <a:srgbClr val="17242B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7242B"/>
                </a:solidFill>
                <a:latin typeface="Arial"/>
                <a:ea typeface="Arial"/>
                <a:cs typeface="Arial"/>
              </a:rPr>
              <a:t>Synthetic nightly data</a:t>
            </a:r>
          </a:p>
          <a:p xmlns:a="http://schemas.openxmlformats.org/drawingml/2006/main">
            <a:pPr>
              <a:defRPr sz="1800">
                <a:solidFill>
                  <a:srgbClr val="17242B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7242B"/>
                </a:solidFill>
                <a:latin typeface="Arial"/>
                <a:ea typeface="Arial"/>
                <a:cs typeface="Arial"/>
              </a:rPr>
              <a:t>Calendar and wearables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24A4DA-B563-446D-913D-AA403CB31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857500"/>
            <a:ext cx="3143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4F1"/>
          </a:solidFill>
          <a:ln xmlns:a="http://schemas.openxmlformats.org/drawingml/2006/main" w="9525">
            <a:solidFill>
              <a:srgbClr val="C8DCD5"/>
            </a:solidFill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>
                <a:solidFill>
                  <a:srgbClr val="17242B"/>
                </a:solidFill>
                <a:latin typeface="Arial"/>
                <a:ea typeface="Arial"/>
                <a:cs typeface="Arial"/>
              </a:defRPr>
            </a:defPPr>
            <a:lvl1pPr>
              <a:defRPr sz="180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1pPr>
            <a:lvl2pPr>
              <a:defRPr sz="180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2pPr>
            <a:lvl3pPr>
              <a:defRPr sz="180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3pPr>
            <a:lvl4pPr>
              <a:defRPr sz="180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4pPr>
            <a:lvl5pPr>
              <a:defRPr sz="180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5pPr>
            <a:lvl6pPr>
              <a:defRPr sz="180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6pPr>
            <a:lvl7pPr>
              <a:defRPr sz="180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7pPr>
            <a:lvl8pPr>
              <a:defRPr sz="180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8pPr>
            <a:lvl9pPr>
              <a:defRPr sz="180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>
                <a:solidFill>
                  <a:srgbClr val="17242B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7242B"/>
                </a:solidFill>
                <a:latin typeface="Arial"/>
                <a:ea typeface="Arial"/>
                <a:cs typeface="Arial"/>
              </a:rPr>
              <a:t>Shared feature builder</a:t>
            </a:r>
          </a:p>
          <a:p xmlns:a="http://schemas.openxmlformats.org/drawingml/2006/main">
            <a:pPr>
              <a:defRPr sz="1800">
                <a:solidFill>
                  <a:srgbClr val="17242B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7242B"/>
                </a:solidFill>
                <a:latin typeface="Arial"/>
                <a:ea typeface="Arial"/>
                <a:cs typeface="Arial"/>
              </a:rPr>
              <a:t>Training median and scaling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0F435E-C602-43CF-8024-9978F3431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857500"/>
            <a:ext cx="3143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4F1"/>
          </a:solidFill>
          <a:ln xmlns:a="http://schemas.openxmlformats.org/drawingml/2006/main" w="9525">
            <a:solidFill>
              <a:srgbClr val="C8DCD5"/>
            </a:solidFill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>
                <a:solidFill>
                  <a:srgbClr val="17242B"/>
                </a:solidFill>
                <a:latin typeface="Arial"/>
                <a:ea typeface="Arial"/>
                <a:cs typeface="Arial"/>
              </a:defRPr>
            </a:defPPr>
            <a:lvl1pPr>
              <a:defRPr sz="180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1pPr>
            <a:lvl2pPr>
              <a:defRPr sz="180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2pPr>
            <a:lvl3pPr>
              <a:defRPr sz="180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3pPr>
            <a:lvl4pPr>
              <a:defRPr sz="180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4pPr>
            <a:lvl5pPr>
              <a:defRPr sz="180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5pPr>
            <a:lvl6pPr>
              <a:defRPr sz="180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6pPr>
            <a:lvl7pPr>
              <a:defRPr sz="180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7pPr>
            <a:lvl8pPr>
              <a:defRPr sz="180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8pPr>
            <a:lvl9pPr>
              <a:defRPr sz="180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>
                <a:solidFill>
                  <a:srgbClr val="17242B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7242B"/>
                </a:solidFill>
                <a:latin typeface="Arial"/>
                <a:ea typeface="Arial"/>
                <a:cs typeface="Arial"/>
              </a:rPr>
              <a:t>Persisted logistic model</a:t>
            </a:r>
          </a:p>
          <a:p xmlns:a="http://schemas.openxmlformats.org/drawingml/2006/main">
            <a:pPr>
              <a:defRPr sz="1800">
                <a:solidFill>
                  <a:srgbClr val="17242B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7242B"/>
                </a:solidFill>
                <a:latin typeface="Arial"/>
                <a:ea typeface="Arial"/>
                <a:cs typeface="Arial"/>
              </a:rPr>
              <a:t>Validation calibration and threshold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7A2895-5832-4C4F-85FF-85084988B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714875"/>
            <a:ext cx="31432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4F1"/>
          </a:solidFill>
          <a:ln xmlns:a="http://schemas.openxmlformats.org/drawingml/2006/main" w="9525">
            <a:solidFill>
              <a:srgbClr val="C8DCD5"/>
            </a:solidFill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>
                <a:solidFill>
                  <a:srgbClr val="17242B"/>
                </a:solidFill>
                <a:latin typeface="Arial"/>
                <a:ea typeface="Arial"/>
                <a:cs typeface="Arial"/>
              </a:defRPr>
            </a:defPPr>
            <a:lvl1pPr>
              <a:defRPr sz="180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1pPr>
            <a:lvl2pPr>
              <a:defRPr sz="180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2pPr>
            <a:lvl3pPr>
              <a:defRPr sz="180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3pPr>
            <a:lvl4pPr>
              <a:defRPr sz="180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4pPr>
            <a:lvl5pPr>
              <a:defRPr sz="180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5pPr>
            <a:lvl6pPr>
              <a:defRPr sz="180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6pPr>
            <a:lvl7pPr>
              <a:defRPr sz="180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7pPr>
            <a:lvl8pPr>
              <a:defRPr sz="180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8pPr>
            <a:lvl9pPr>
              <a:defRPr sz="180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>
                <a:solidFill>
                  <a:srgbClr val="17242B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7242B"/>
                </a:solidFill>
                <a:latin typeface="Arial"/>
                <a:ea typeface="Arial"/>
                <a:cs typeface="Arial"/>
              </a:rPr>
              <a:t>Fail-closed safety gate</a:t>
            </a:r>
          </a:p>
          <a:p xmlns:a="http://schemas.openxmlformats.org/drawingml/2006/main">
            <a:pPr>
              <a:defRPr sz="1800">
                <a:solidFill>
                  <a:srgbClr val="17242B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7242B"/>
                </a:solidFill>
                <a:latin typeface="Arial"/>
                <a:ea typeface="Arial"/>
                <a:cs typeface="Arial"/>
              </a:rPr>
              <a:t>Withhold personal outputs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06CBCA-7437-462B-B5F2-7E23CBF2C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714875"/>
            <a:ext cx="31432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4F1"/>
          </a:solidFill>
          <a:ln xmlns:a="http://schemas.openxmlformats.org/drawingml/2006/main" w="9525">
            <a:solidFill>
              <a:srgbClr val="C8DCD5"/>
            </a:solidFill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>
                <a:solidFill>
                  <a:srgbClr val="17242B"/>
                </a:solidFill>
                <a:latin typeface="Arial"/>
                <a:ea typeface="Arial"/>
                <a:cs typeface="Arial"/>
              </a:defRPr>
            </a:defPPr>
            <a:lvl1pPr>
              <a:defRPr sz="180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1pPr>
            <a:lvl2pPr>
              <a:defRPr sz="180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2pPr>
            <a:lvl3pPr>
              <a:defRPr sz="180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3pPr>
            <a:lvl4pPr>
              <a:defRPr sz="180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4pPr>
            <a:lvl5pPr>
              <a:defRPr sz="180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5pPr>
            <a:lvl6pPr>
              <a:defRPr sz="180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6pPr>
            <a:lvl7pPr>
              <a:defRPr sz="180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7pPr>
            <a:lvl8pPr>
              <a:defRPr sz="180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8pPr>
            <a:lvl9pPr>
              <a:defRPr sz="180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>
                <a:solidFill>
                  <a:srgbClr val="17242B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7242B"/>
                </a:solidFill>
                <a:latin typeface="Arial"/>
                <a:ea typeface="Arial"/>
                <a:cs typeface="Arial"/>
              </a:rPr>
              <a:t>Doctor / Kushi dashboard</a:t>
            </a:r>
          </a:p>
          <a:p xmlns:a="http://schemas.openxmlformats.org/drawingml/2006/main">
            <a:pPr>
              <a:defRPr sz="1800">
                <a:solidFill>
                  <a:srgbClr val="17242B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7242B"/>
                </a:solidFill>
                <a:latin typeface="Arial"/>
                <a:ea typeface="Arial"/>
                <a:cs typeface="Arial"/>
              </a:rPr>
              <a:t>Probability and exact contributions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AF1294-CAA7-48DA-B171-5EC31F6EC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191125"/>
            <a:ext cx="31432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EF"/>
          </a:solidFill>
          <a:ln xmlns:a="http://schemas.openxmlformats.org/drawingml/2006/main" w="9525">
            <a:solidFill>
              <a:srgbClr val="C8DCD5"/>
            </a:solidFill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>
                <a:solidFill>
                  <a:srgbClr val="17242B"/>
                </a:solidFill>
                <a:latin typeface="Arial"/>
                <a:ea typeface="Arial"/>
                <a:cs typeface="Arial"/>
              </a:defRPr>
            </a:defPPr>
            <a:lvl1pPr>
              <a:defRPr sz="165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1pPr>
            <a:lvl2pPr>
              <a:defRPr sz="165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2pPr>
            <a:lvl3pPr>
              <a:defRPr sz="165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3pPr>
            <a:lvl4pPr>
              <a:defRPr sz="165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4pPr>
            <a:lvl5pPr>
              <a:defRPr sz="165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5pPr>
            <a:lvl6pPr>
              <a:defRPr sz="165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6pPr>
            <a:lvl7pPr>
              <a:defRPr sz="165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7pPr>
            <a:lvl8pPr>
              <a:defRPr sz="165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8pPr>
            <a:lvl9pPr>
              <a:defRPr sz="165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>
                <a:solidFill>
                  <a:srgbClr val="17242B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7242B"/>
                </a:solidFill>
                <a:latin typeface="Arial"/>
                <a:ea typeface="Arial"/>
                <a:cs typeface="Arial"/>
              </a:rPr>
              <a:t>Separate illustrative twin</a:t>
            </a:r>
          </a:p>
          <a:p xmlns:a="http://schemas.openxmlformats.org/drawingml/2006/main">
            <a:pPr>
              <a:defRPr sz="1650">
                <a:solidFill>
                  <a:srgbClr val="17242B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7242B"/>
                </a:solidFill>
                <a:latin typeface="Arial"/>
                <a:ea typeface="Arial"/>
                <a:cs typeface="Arial"/>
              </a:rPr>
              <a:t>No contribution to fitted score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F06A41B-8FF4-49A0-9536-8CFB6B510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5757B"/>
                </a:solidFill>
                <a:latin typeface="Arial"/>
                <a:ea typeface="Arial"/>
                <a:cs typeface="Arial"/>
              </a:rPr>
              <a:t>Synthetic research prototype. Not for diagnosis, contraception or conception planning.</a:t>
            </a:r>
          </a:p>
        </p:txBody>
      </p:sp>
    </p:spTree>
    <p:extLst>
      <p:ext uri="{BB962C8B-B14F-4D97-AF65-F5344CB8AC3E}">
        <p14:creationId xmlns:p14="http://schemas.microsoft.com/office/powerpoint/2010/main" val="31204426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7938BD-8FE9-41E9-86B5-9E6344986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defPPr>
            <a:lvl1pPr>
              <a:defRPr sz="330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1pPr>
            <a:lvl2pPr>
              <a:defRPr sz="330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2pPr>
            <a:lvl3pPr>
              <a:defRPr sz="330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3pPr>
            <a:lvl4pPr>
              <a:defRPr sz="330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4pPr>
            <a:lvl5pPr>
              <a:defRPr sz="330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5pPr>
            <a:lvl6pPr>
              <a:defRPr sz="330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6pPr>
            <a:lvl7pPr>
              <a:defRPr sz="330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7pPr>
            <a:lvl8pPr>
              <a:defRPr sz="330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8pPr>
            <a:lvl9pPr>
              <a:defRPr sz="330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pPr>
            <a:r>
              <a:rPr sz="3300" b="0">
                <a:solidFill>
                  <a:srgbClr val="17242B"/>
                </a:solidFill>
                <a:latin typeface="Arial"/>
                <a:ea typeface="Arial"/>
                <a:cs typeface="Arial"/>
              </a:rPr>
              <a:t>Training and selection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C82100-8270-43B6-8273-32F877474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5757B"/>
                </a:solidFill>
                <a:latin typeface="Arial"/>
                <a:ea typeface="Arial"/>
                <a:cs typeface="Arial"/>
              </a:rPr>
              <a:t>Every explicit operating choice uses train or validation data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9000A0-E4DB-46E6-9333-15AA42F54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90750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0E766E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0E766E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0E766E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0E766E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0E766E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0E766E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0E766E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0E766E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0E766E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0E766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0E766E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0E766E"/>
                </a:solidFill>
                <a:latin typeface="Arial"/>
                <a:ea typeface="Arial"/>
                <a:cs typeface="Arial"/>
              </a:rPr>
              <a:t>Patient counts per development seed: train 840, validation 180, test 180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9D0BF1-CA85-4EBB-AEDC-85B18ECD1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19438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42B"/>
                </a:solidFill>
                <a:latin typeface="Arial"/>
                <a:ea typeface="Arial"/>
                <a:cs typeface="Arial"/>
              </a:rPr>
              <a:t>Training medians and scaling, logistic regression, validation Platt calibration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C540D1-7E99-4C55-8079-A5B4EE02E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48125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42B"/>
                </a:solidFill>
                <a:latin typeface="Arial"/>
                <a:ea typeface="Arial"/>
                <a:cs typeface="Arial"/>
              </a:rPr>
              <a:t>Validation Brier-gain rule selects richer features or calendar fallback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912386-EAC0-4648-8628-B7B29BACD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76813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42B"/>
                </a:solidFill>
                <a:latin typeface="Arial"/>
                <a:ea typeface="Arial"/>
                <a:cs typeface="Arial"/>
              </a:rPr>
              <a:t>Validation F1 chooses the threshold. Test outcomes never choose that threshold.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EDF335-9C8A-4FA3-857C-5C639CC5A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5757B"/>
                </a:solidFill>
                <a:latin typeface="Arial"/>
                <a:ea typeface="Arial"/>
                <a:cs typeface="Arial"/>
              </a:rPr>
              <a:t>Synthetic research prototype. Not for diagnosis, contraception or conception planning.</a:t>
            </a:r>
          </a:p>
        </p:txBody>
      </p:sp>
    </p:spTree>
    <p:extLst>
      <p:ext uri="{BB962C8B-B14F-4D97-AF65-F5344CB8AC3E}">
        <p14:creationId xmlns:p14="http://schemas.microsoft.com/office/powerpoint/2010/main" val="117462648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CED74E-6897-40C8-86F4-15808AC55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defPPr>
            <a:lvl1pPr>
              <a:defRPr sz="330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1pPr>
            <a:lvl2pPr>
              <a:defRPr sz="330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2pPr>
            <a:lvl3pPr>
              <a:defRPr sz="330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3pPr>
            <a:lvl4pPr>
              <a:defRPr sz="330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4pPr>
            <a:lvl5pPr>
              <a:defRPr sz="330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5pPr>
            <a:lvl6pPr>
              <a:defRPr sz="330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6pPr>
            <a:lvl7pPr>
              <a:defRPr sz="330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7pPr>
            <a:lvl8pPr>
              <a:defRPr sz="330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8pPr>
            <a:lvl9pPr>
              <a:defRPr sz="330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pPr>
            <a:r>
              <a:rPr sz="3300" b="0">
                <a:solidFill>
                  <a:srgbClr val="17242B"/>
                </a:solidFill>
                <a:latin typeface="Arial"/>
                <a:ea typeface="Arial"/>
                <a:cs typeface="Arial"/>
              </a:rPr>
              <a:t>Synthetic development evidence: day 10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154E5F-7369-4DB8-9864-9271B5641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5757B"/>
                </a:solidFill>
                <a:latin typeface="Arial"/>
                <a:ea typeface="Arial"/>
                <a:cs typeface="Arial"/>
              </a:rPr>
              <a:t>Seed means describe the current generator, not clinical forecasting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75102F-FB22-45F9-9959-4C1038AA17B8}"/>
              </a:ext>
            </a:extLst>
          </p:cNvPr>
          <p:cNvGraphicFramePr/>
          <p:nvPr/>
        </p:nvGraphicFramePr>
        <p:xfrm>
          <a:off xmlns:a="http://schemas.openxmlformats.org/drawingml/2006/main" x="609600" y="2047875"/>
          <a:ext xmlns:a="http://schemas.openxmlformats.org/drawingml/2006/main" cx="10972800" cy="3905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333500"/>
                <a:gridCol w="1333500"/>
                <a:gridCol w="2619375"/>
                <a:gridCol w="2619375"/>
                <a:gridCol w="3067050"/>
              </a:tblGrid>
              <a:tr h="7810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Day</a:t>
                      </a:r>
                    </a:p>
                  </a:txBody>
                  <a:tcPr marL="91440" marR="91440" marT="45720" marB="45720">
                    <a:lnL w="4763">
                      <a:solidFill>
                        <a:srgbClr val="E1E8E4"/>
                      </a:solidFill>
                    </a:lnL>
                    <a:lnR w="4763">
                      <a:solidFill>
                        <a:srgbClr val="E1E8E4"/>
                      </a:solidFill>
                    </a:lnR>
                    <a:lnT w="4763">
                      <a:solidFill>
                        <a:srgbClr val="E1E8E4"/>
                      </a:solidFill>
                    </a:lnT>
                    <a:lnB w="4763">
                      <a:solidFill>
                        <a:srgbClr val="E1E8E4"/>
                      </a:solidFill>
                    </a:lnB>
                    <a:solidFill>
                      <a:srgbClr val="0E766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Tier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E1E8E4"/>
                      </a:solidFill>
                    </a:lnR>
                    <a:lnT w="4763">
                      <a:solidFill>
                        <a:srgbClr val="E1E8E4"/>
                      </a:solidFill>
                    </a:lnT>
                    <a:lnB w="4763">
                      <a:solidFill>
                        <a:srgbClr val="E1E8E4"/>
                      </a:solidFill>
                    </a:lnB>
                    <a:solidFill>
                      <a:srgbClr val="0E766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Mean AUROC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E1E8E4"/>
                      </a:solidFill>
                    </a:lnR>
                    <a:lnT w="4763">
                      <a:solidFill>
                        <a:srgbClr val="E1E8E4"/>
                      </a:solidFill>
                    </a:lnT>
                    <a:lnB w="4763">
                      <a:solidFill>
                        <a:srgbClr val="E1E8E4"/>
                      </a:solidFill>
                    </a:lnB>
                    <a:solidFill>
                      <a:srgbClr val="0E766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Mean Brier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E1E8E4"/>
                      </a:solidFill>
                    </a:lnR>
                    <a:lnT w="4763">
                      <a:solidFill>
                        <a:srgbClr val="E1E8E4"/>
                      </a:solidFill>
                    </a:lnT>
                    <a:lnB w="4763">
                      <a:solidFill>
                        <a:srgbClr val="E1E8E4"/>
                      </a:solidFill>
                    </a:lnB>
                    <a:solidFill>
                      <a:srgbClr val="0E766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Mean day MAE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E1E8E4"/>
                      </a:solidFill>
                    </a:lnR>
                    <a:lnT w="4763">
                      <a:solidFill>
                        <a:srgbClr val="E1E8E4"/>
                      </a:solidFill>
                    </a:lnT>
                    <a:lnB w="4763">
                      <a:solidFill>
                        <a:srgbClr val="E1E8E4"/>
                      </a:solidFill>
                    </a:lnB>
                    <a:solidFill>
                      <a:srgbClr val="0E766E"/>
                    </a:solidFill>
                  </a:tcPr>
                </a:tc>
              </a:tr>
              <a:tr h="7810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42B"/>
                          </a:solidFill>
                          <a:latin typeface="Arial"/>
                          <a:ea typeface="Arial"/>
                          <a:cs typeface="Arial"/>
                        </a:rPr>
                        <a:t>10</a:t>
                      </a:r>
                    </a:p>
                  </a:txBody>
                  <a:tcPr marL="91440" marR="91440" marT="45720" marB="45720">
                    <a:lnL w="4763">
                      <a:solidFill>
                        <a:srgbClr val="E1E8E4"/>
                      </a:solidFill>
                    </a:lnL>
                    <a:lnR w="4763">
                      <a:solidFill>
                        <a:srgbClr val="E1E8E4"/>
                      </a:solidFill>
                    </a:lnR>
                    <a:lnB w="4763">
                      <a:solidFill>
                        <a:srgbClr val="E1E8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42B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E1E8E4"/>
                      </a:solidFill>
                    </a:lnR>
                    <a:lnB w="4763">
                      <a:solidFill>
                        <a:srgbClr val="E1E8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42B"/>
                          </a:solidFill>
                          <a:latin typeface="Arial"/>
                          <a:ea typeface="Arial"/>
                          <a:cs typeface="Arial"/>
                        </a:rPr>
                        <a:t>0.838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E1E8E4"/>
                      </a:solidFill>
                    </a:lnR>
                    <a:lnB w="4763">
                      <a:solidFill>
                        <a:srgbClr val="E1E8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42B"/>
                          </a:solidFill>
                          <a:latin typeface="Arial"/>
                          <a:ea typeface="Arial"/>
                          <a:cs typeface="Arial"/>
                        </a:rPr>
                        <a:t>0.163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E1E8E4"/>
                      </a:solidFill>
                    </a:lnR>
                    <a:lnB w="4763">
                      <a:solidFill>
                        <a:srgbClr val="E1E8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42B"/>
                          </a:solidFill>
                          <a:latin typeface="Arial"/>
                          <a:ea typeface="Arial"/>
                          <a:cs typeface="Arial"/>
                        </a:rPr>
                        <a:t>5.004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E1E8E4"/>
                      </a:solidFill>
                    </a:lnR>
                    <a:lnB w="4763">
                      <a:solidFill>
                        <a:srgbClr val="E1E8E4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810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42B"/>
                          </a:solidFill>
                          <a:latin typeface="Arial"/>
                          <a:ea typeface="Arial"/>
                          <a:cs typeface="Arial"/>
                        </a:rPr>
                        <a:t>10</a:t>
                      </a:r>
                    </a:p>
                  </a:txBody>
                  <a:tcPr marL="91440" marR="91440" marT="45720" marB="45720">
                    <a:lnL w="4763">
                      <a:solidFill>
                        <a:srgbClr val="E1E8E4"/>
                      </a:solidFill>
                    </a:lnL>
                    <a:lnR w="4763">
                      <a:solidFill>
                        <a:srgbClr val="E1E8E4"/>
                      </a:solidFill>
                    </a:lnR>
                    <a:lnB w="4763">
                      <a:solidFill>
                        <a:srgbClr val="E1E8E4"/>
                      </a:solidFill>
                    </a:lnB>
                    <a:solidFill>
                      <a:srgbClr val="EEF3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42B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E1E8E4"/>
                      </a:solidFill>
                    </a:lnR>
                    <a:lnB w="4763">
                      <a:solidFill>
                        <a:srgbClr val="E1E8E4"/>
                      </a:solidFill>
                    </a:lnB>
                    <a:solidFill>
                      <a:srgbClr val="EEF3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42B"/>
                          </a:solidFill>
                          <a:latin typeface="Arial"/>
                          <a:ea typeface="Arial"/>
                          <a:cs typeface="Arial"/>
                        </a:rPr>
                        <a:t>0.838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E1E8E4"/>
                      </a:solidFill>
                    </a:lnR>
                    <a:lnB w="4763">
                      <a:solidFill>
                        <a:srgbClr val="E1E8E4"/>
                      </a:solidFill>
                    </a:lnB>
                    <a:solidFill>
                      <a:srgbClr val="EEF3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42B"/>
                          </a:solidFill>
                          <a:latin typeface="Arial"/>
                          <a:ea typeface="Arial"/>
                          <a:cs typeface="Arial"/>
                        </a:rPr>
                        <a:t>0.163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E1E8E4"/>
                      </a:solidFill>
                    </a:lnR>
                    <a:lnB w="4763">
                      <a:solidFill>
                        <a:srgbClr val="E1E8E4"/>
                      </a:solidFill>
                    </a:lnB>
                    <a:solidFill>
                      <a:srgbClr val="EEF3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42B"/>
                          </a:solidFill>
                          <a:latin typeface="Arial"/>
                          <a:ea typeface="Arial"/>
                          <a:cs typeface="Arial"/>
                        </a:rPr>
                        <a:t>5.004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E1E8E4"/>
                      </a:solidFill>
                    </a:lnR>
                    <a:lnB w="4763">
                      <a:solidFill>
                        <a:srgbClr val="E1E8E4"/>
                      </a:solidFill>
                    </a:lnB>
                    <a:solidFill>
                      <a:srgbClr val="EEF3F0"/>
                    </a:solidFill>
                  </a:tcPr>
                </a:tc>
              </a:tr>
              <a:tr h="7810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42B"/>
                          </a:solidFill>
                          <a:latin typeface="Arial"/>
                          <a:ea typeface="Arial"/>
                          <a:cs typeface="Arial"/>
                        </a:rPr>
                        <a:t>10</a:t>
                      </a:r>
                    </a:p>
                  </a:txBody>
                  <a:tcPr marL="91440" marR="91440" marT="45720" marB="45720">
                    <a:lnL w="4763">
                      <a:solidFill>
                        <a:srgbClr val="E1E8E4"/>
                      </a:solidFill>
                    </a:lnL>
                    <a:lnR w="4763">
                      <a:solidFill>
                        <a:srgbClr val="E1E8E4"/>
                      </a:solidFill>
                    </a:lnR>
                    <a:lnB w="4763">
                      <a:solidFill>
                        <a:srgbClr val="E1E8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42B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E1E8E4"/>
                      </a:solidFill>
                    </a:lnR>
                    <a:lnB w="4763">
                      <a:solidFill>
                        <a:srgbClr val="E1E8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42B"/>
                          </a:solidFill>
                          <a:latin typeface="Arial"/>
                          <a:ea typeface="Arial"/>
                          <a:cs typeface="Arial"/>
                        </a:rPr>
                        <a:t>0.838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E1E8E4"/>
                      </a:solidFill>
                    </a:lnR>
                    <a:lnB w="4763">
                      <a:solidFill>
                        <a:srgbClr val="E1E8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42B"/>
                          </a:solidFill>
                          <a:latin typeface="Arial"/>
                          <a:ea typeface="Arial"/>
                          <a:cs typeface="Arial"/>
                        </a:rPr>
                        <a:t>0.163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E1E8E4"/>
                      </a:solidFill>
                    </a:lnR>
                    <a:lnB w="4763">
                      <a:solidFill>
                        <a:srgbClr val="E1E8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42B"/>
                          </a:solidFill>
                          <a:latin typeface="Arial"/>
                          <a:ea typeface="Arial"/>
                          <a:cs typeface="Arial"/>
                        </a:rPr>
                        <a:t>5.004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E1E8E4"/>
                      </a:solidFill>
                    </a:lnR>
                    <a:lnB w="4763">
                      <a:solidFill>
                        <a:srgbClr val="E1E8E4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810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42B"/>
                          </a:solidFill>
                          <a:latin typeface="Arial"/>
                          <a:ea typeface="Arial"/>
                          <a:cs typeface="Arial"/>
                        </a:rPr>
                        <a:t>10</a:t>
                      </a:r>
                    </a:p>
                  </a:txBody>
                  <a:tcPr marL="91440" marR="91440" marT="45720" marB="45720">
                    <a:lnL w="4763">
                      <a:solidFill>
                        <a:srgbClr val="E1E8E4"/>
                      </a:solidFill>
                    </a:lnL>
                    <a:lnR w="4763">
                      <a:solidFill>
                        <a:srgbClr val="E1E8E4"/>
                      </a:solidFill>
                    </a:lnR>
                    <a:lnB w="4763">
                      <a:solidFill>
                        <a:srgbClr val="E1E8E4"/>
                      </a:solidFill>
                    </a:lnB>
                    <a:solidFill>
                      <a:srgbClr val="EEF3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42B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E1E8E4"/>
                      </a:solidFill>
                    </a:lnR>
                    <a:lnB w="4763">
                      <a:solidFill>
                        <a:srgbClr val="E1E8E4"/>
                      </a:solidFill>
                    </a:lnB>
                    <a:solidFill>
                      <a:srgbClr val="EEF3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42B"/>
                          </a:solidFill>
                          <a:latin typeface="Arial"/>
                          <a:ea typeface="Arial"/>
                          <a:cs typeface="Arial"/>
                        </a:rPr>
                        <a:t>0.838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E1E8E4"/>
                      </a:solidFill>
                    </a:lnR>
                    <a:lnB w="4763">
                      <a:solidFill>
                        <a:srgbClr val="E1E8E4"/>
                      </a:solidFill>
                    </a:lnB>
                    <a:solidFill>
                      <a:srgbClr val="EEF3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42B"/>
                          </a:solidFill>
                          <a:latin typeface="Arial"/>
                          <a:ea typeface="Arial"/>
                          <a:cs typeface="Arial"/>
                        </a:rPr>
                        <a:t>0.163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E1E8E4"/>
                      </a:solidFill>
                    </a:lnR>
                    <a:lnB w="4763">
                      <a:solidFill>
                        <a:srgbClr val="E1E8E4"/>
                      </a:solidFill>
                    </a:lnB>
                    <a:solidFill>
                      <a:srgbClr val="EEF3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42B"/>
                          </a:solidFill>
                          <a:latin typeface="Arial"/>
                          <a:ea typeface="Arial"/>
                          <a:cs typeface="Arial"/>
                        </a:rPr>
                        <a:t>5.004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E1E8E4"/>
                      </a:solidFill>
                    </a:lnR>
                    <a:lnB w="4763">
                      <a:solidFill>
                        <a:srgbClr val="E1E8E4"/>
                      </a:solidFill>
                    </a:lnB>
                    <a:solidFill>
                      <a:srgbClr val="EEF3F0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9765B4-76C7-4785-8801-6AB646DA3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5757B"/>
                </a:solidFill>
                <a:latin typeface="Arial"/>
                <a:ea typeface="Arial"/>
                <a:cs typeface="Arial"/>
              </a:rPr>
              <a:t>Synthetic research prototype. Not for diagnosis, contraception or conception planning.</a:t>
            </a:r>
          </a:p>
        </p:txBody>
      </p:sp>
    </p:spTree>
    <p:extLst>
      <p:ext uri="{BB962C8B-B14F-4D97-AF65-F5344CB8AC3E}">
        <p14:creationId xmlns:p14="http://schemas.microsoft.com/office/powerpoint/2010/main" val="53740388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C4C162-C6A7-4351-8E86-B48916A6D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defPPr>
            <a:lvl1pPr>
              <a:defRPr sz="330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1pPr>
            <a:lvl2pPr>
              <a:defRPr sz="330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2pPr>
            <a:lvl3pPr>
              <a:defRPr sz="330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3pPr>
            <a:lvl4pPr>
              <a:defRPr sz="330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4pPr>
            <a:lvl5pPr>
              <a:defRPr sz="330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5pPr>
            <a:lvl6pPr>
              <a:defRPr sz="330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6pPr>
            <a:lvl7pPr>
              <a:defRPr sz="330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7pPr>
            <a:lvl8pPr>
              <a:defRPr sz="330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8pPr>
            <a:lvl9pPr>
              <a:defRPr sz="330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pPr>
            <a:r>
              <a:rPr sz="3300" b="0">
                <a:solidFill>
                  <a:srgbClr val="17242B"/>
                </a:solidFill>
                <a:latin typeface="Arial"/>
                <a:ea typeface="Arial"/>
                <a:cs typeface="Arial"/>
              </a:rPr>
              <a:t>Synthetic development evidence: day 14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E0945B-BC91-4DB8-8E8D-7BB80A87B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5757B"/>
                </a:solidFill>
                <a:latin typeface="Arial"/>
                <a:ea typeface="Arial"/>
                <a:cs typeface="Arial"/>
              </a:rPr>
              <a:t>Seed means describe the current generator, not clinical forecasting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B19091-9616-43D2-BBE5-0171C2A3B4FF}"/>
              </a:ext>
            </a:extLst>
          </p:cNvPr>
          <p:cNvGraphicFramePr/>
          <p:nvPr/>
        </p:nvGraphicFramePr>
        <p:xfrm>
          <a:off xmlns:a="http://schemas.openxmlformats.org/drawingml/2006/main" x="609600" y="2047875"/>
          <a:ext xmlns:a="http://schemas.openxmlformats.org/drawingml/2006/main" cx="10972800" cy="3905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333500"/>
                <a:gridCol w="1333500"/>
                <a:gridCol w="2619375"/>
                <a:gridCol w="2619375"/>
                <a:gridCol w="3067050"/>
              </a:tblGrid>
              <a:tr h="7810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Day</a:t>
                      </a:r>
                    </a:p>
                  </a:txBody>
                  <a:tcPr marL="91440" marR="91440" marT="45720" marB="45720">
                    <a:lnL w="4763">
                      <a:solidFill>
                        <a:srgbClr val="E1E8E4"/>
                      </a:solidFill>
                    </a:lnL>
                    <a:lnR w="4763">
                      <a:solidFill>
                        <a:srgbClr val="E1E8E4"/>
                      </a:solidFill>
                    </a:lnR>
                    <a:lnT w="4763">
                      <a:solidFill>
                        <a:srgbClr val="E1E8E4"/>
                      </a:solidFill>
                    </a:lnT>
                    <a:lnB w="4763">
                      <a:solidFill>
                        <a:srgbClr val="E1E8E4"/>
                      </a:solidFill>
                    </a:lnB>
                    <a:solidFill>
                      <a:srgbClr val="0E766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Tier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E1E8E4"/>
                      </a:solidFill>
                    </a:lnR>
                    <a:lnT w="4763">
                      <a:solidFill>
                        <a:srgbClr val="E1E8E4"/>
                      </a:solidFill>
                    </a:lnT>
                    <a:lnB w="4763">
                      <a:solidFill>
                        <a:srgbClr val="E1E8E4"/>
                      </a:solidFill>
                    </a:lnB>
                    <a:solidFill>
                      <a:srgbClr val="0E766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Mean AUROC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E1E8E4"/>
                      </a:solidFill>
                    </a:lnR>
                    <a:lnT w="4763">
                      <a:solidFill>
                        <a:srgbClr val="E1E8E4"/>
                      </a:solidFill>
                    </a:lnT>
                    <a:lnB w="4763">
                      <a:solidFill>
                        <a:srgbClr val="E1E8E4"/>
                      </a:solidFill>
                    </a:lnB>
                    <a:solidFill>
                      <a:srgbClr val="0E766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Mean Brier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E1E8E4"/>
                      </a:solidFill>
                    </a:lnR>
                    <a:lnT w="4763">
                      <a:solidFill>
                        <a:srgbClr val="E1E8E4"/>
                      </a:solidFill>
                    </a:lnT>
                    <a:lnB w="4763">
                      <a:solidFill>
                        <a:srgbClr val="E1E8E4"/>
                      </a:solidFill>
                    </a:lnB>
                    <a:solidFill>
                      <a:srgbClr val="0E766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Mean day MAE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E1E8E4"/>
                      </a:solidFill>
                    </a:lnR>
                    <a:lnT w="4763">
                      <a:solidFill>
                        <a:srgbClr val="E1E8E4"/>
                      </a:solidFill>
                    </a:lnT>
                    <a:lnB w="4763">
                      <a:solidFill>
                        <a:srgbClr val="E1E8E4"/>
                      </a:solidFill>
                    </a:lnB>
                    <a:solidFill>
                      <a:srgbClr val="0E766E"/>
                    </a:solidFill>
                  </a:tcPr>
                </a:tc>
              </a:tr>
              <a:tr h="7810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42B"/>
                          </a:solidFill>
                          <a:latin typeface="Arial"/>
                          <a:ea typeface="Arial"/>
                          <a:cs typeface="Arial"/>
                        </a:rPr>
                        <a:t>14</a:t>
                      </a:r>
                    </a:p>
                  </a:txBody>
                  <a:tcPr marL="91440" marR="91440" marT="45720" marB="45720">
                    <a:lnL w="4763">
                      <a:solidFill>
                        <a:srgbClr val="E1E8E4"/>
                      </a:solidFill>
                    </a:lnL>
                    <a:lnR w="4763">
                      <a:solidFill>
                        <a:srgbClr val="E1E8E4"/>
                      </a:solidFill>
                    </a:lnR>
                    <a:lnB w="4763">
                      <a:solidFill>
                        <a:srgbClr val="E1E8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42B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E1E8E4"/>
                      </a:solidFill>
                    </a:lnR>
                    <a:lnB w="4763">
                      <a:solidFill>
                        <a:srgbClr val="E1E8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42B"/>
                          </a:solidFill>
                          <a:latin typeface="Arial"/>
                          <a:ea typeface="Arial"/>
                          <a:cs typeface="Arial"/>
                        </a:rPr>
                        <a:t>0.838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E1E8E4"/>
                      </a:solidFill>
                    </a:lnR>
                    <a:lnB w="4763">
                      <a:solidFill>
                        <a:srgbClr val="E1E8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42B"/>
                          </a:solidFill>
                          <a:latin typeface="Arial"/>
                          <a:ea typeface="Arial"/>
                          <a:cs typeface="Arial"/>
                        </a:rPr>
                        <a:t>0.163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E1E8E4"/>
                      </a:solidFill>
                    </a:lnR>
                    <a:lnB w="4763">
                      <a:solidFill>
                        <a:srgbClr val="E1E8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42B"/>
                          </a:solidFill>
                          <a:latin typeface="Arial"/>
                          <a:ea typeface="Arial"/>
                          <a:cs typeface="Arial"/>
                        </a:rPr>
                        <a:t>5.132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E1E8E4"/>
                      </a:solidFill>
                    </a:lnR>
                    <a:lnB w="4763">
                      <a:solidFill>
                        <a:srgbClr val="E1E8E4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810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42B"/>
                          </a:solidFill>
                          <a:latin typeface="Arial"/>
                          <a:ea typeface="Arial"/>
                          <a:cs typeface="Arial"/>
                        </a:rPr>
                        <a:t>14</a:t>
                      </a:r>
                    </a:p>
                  </a:txBody>
                  <a:tcPr marL="91440" marR="91440" marT="45720" marB="45720">
                    <a:lnL w="4763">
                      <a:solidFill>
                        <a:srgbClr val="E1E8E4"/>
                      </a:solidFill>
                    </a:lnL>
                    <a:lnR w="4763">
                      <a:solidFill>
                        <a:srgbClr val="E1E8E4"/>
                      </a:solidFill>
                    </a:lnR>
                    <a:lnB w="4763">
                      <a:solidFill>
                        <a:srgbClr val="E1E8E4"/>
                      </a:solidFill>
                    </a:lnB>
                    <a:solidFill>
                      <a:srgbClr val="EEF3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42B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E1E8E4"/>
                      </a:solidFill>
                    </a:lnR>
                    <a:lnB w="4763">
                      <a:solidFill>
                        <a:srgbClr val="E1E8E4"/>
                      </a:solidFill>
                    </a:lnB>
                    <a:solidFill>
                      <a:srgbClr val="EEF3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42B"/>
                          </a:solidFill>
                          <a:latin typeface="Arial"/>
                          <a:ea typeface="Arial"/>
                          <a:cs typeface="Arial"/>
                        </a:rPr>
                        <a:t>0.838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E1E8E4"/>
                      </a:solidFill>
                    </a:lnR>
                    <a:lnB w="4763">
                      <a:solidFill>
                        <a:srgbClr val="E1E8E4"/>
                      </a:solidFill>
                    </a:lnB>
                    <a:solidFill>
                      <a:srgbClr val="EEF3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42B"/>
                          </a:solidFill>
                          <a:latin typeface="Arial"/>
                          <a:ea typeface="Arial"/>
                          <a:cs typeface="Arial"/>
                        </a:rPr>
                        <a:t>0.163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E1E8E4"/>
                      </a:solidFill>
                    </a:lnR>
                    <a:lnB w="4763">
                      <a:solidFill>
                        <a:srgbClr val="E1E8E4"/>
                      </a:solidFill>
                    </a:lnB>
                    <a:solidFill>
                      <a:srgbClr val="EEF3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42B"/>
                          </a:solidFill>
                          <a:latin typeface="Arial"/>
                          <a:ea typeface="Arial"/>
                          <a:cs typeface="Arial"/>
                        </a:rPr>
                        <a:t>5.132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E1E8E4"/>
                      </a:solidFill>
                    </a:lnR>
                    <a:lnB w="4763">
                      <a:solidFill>
                        <a:srgbClr val="E1E8E4"/>
                      </a:solidFill>
                    </a:lnB>
                    <a:solidFill>
                      <a:srgbClr val="EEF3F0"/>
                    </a:solidFill>
                  </a:tcPr>
                </a:tc>
              </a:tr>
              <a:tr h="7810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42B"/>
                          </a:solidFill>
                          <a:latin typeface="Arial"/>
                          <a:ea typeface="Arial"/>
                          <a:cs typeface="Arial"/>
                        </a:rPr>
                        <a:t>14</a:t>
                      </a:r>
                    </a:p>
                  </a:txBody>
                  <a:tcPr marL="91440" marR="91440" marT="45720" marB="45720">
                    <a:lnL w="4763">
                      <a:solidFill>
                        <a:srgbClr val="E1E8E4"/>
                      </a:solidFill>
                    </a:lnL>
                    <a:lnR w="4763">
                      <a:solidFill>
                        <a:srgbClr val="E1E8E4"/>
                      </a:solidFill>
                    </a:lnR>
                    <a:lnB w="4763">
                      <a:solidFill>
                        <a:srgbClr val="E1E8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42B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E1E8E4"/>
                      </a:solidFill>
                    </a:lnR>
                    <a:lnB w="4763">
                      <a:solidFill>
                        <a:srgbClr val="E1E8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42B"/>
                          </a:solidFill>
                          <a:latin typeface="Arial"/>
                          <a:ea typeface="Arial"/>
                          <a:cs typeface="Arial"/>
                        </a:rPr>
                        <a:t>0.850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E1E8E4"/>
                      </a:solidFill>
                    </a:lnR>
                    <a:lnB w="4763">
                      <a:solidFill>
                        <a:srgbClr val="E1E8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42B"/>
                          </a:solidFill>
                          <a:latin typeface="Arial"/>
                          <a:ea typeface="Arial"/>
                          <a:cs typeface="Arial"/>
                        </a:rPr>
                        <a:t>0.157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E1E8E4"/>
                      </a:solidFill>
                    </a:lnR>
                    <a:lnB w="4763">
                      <a:solidFill>
                        <a:srgbClr val="E1E8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42B"/>
                          </a:solidFill>
                          <a:latin typeface="Arial"/>
                          <a:ea typeface="Arial"/>
                          <a:cs typeface="Arial"/>
                        </a:rPr>
                        <a:t>6.069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E1E8E4"/>
                      </a:solidFill>
                    </a:lnR>
                    <a:lnB w="4763">
                      <a:solidFill>
                        <a:srgbClr val="E1E8E4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810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42B"/>
                          </a:solidFill>
                          <a:latin typeface="Arial"/>
                          <a:ea typeface="Arial"/>
                          <a:cs typeface="Arial"/>
                        </a:rPr>
                        <a:t>14</a:t>
                      </a:r>
                    </a:p>
                  </a:txBody>
                  <a:tcPr marL="91440" marR="91440" marT="45720" marB="45720">
                    <a:lnL w="4763">
                      <a:solidFill>
                        <a:srgbClr val="E1E8E4"/>
                      </a:solidFill>
                    </a:lnL>
                    <a:lnR w="4763">
                      <a:solidFill>
                        <a:srgbClr val="E1E8E4"/>
                      </a:solidFill>
                    </a:lnR>
                    <a:lnB w="4763">
                      <a:solidFill>
                        <a:srgbClr val="E1E8E4"/>
                      </a:solidFill>
                    </a:lnB>
                    <a:solidFill>
                      <a:srgbClr val="EEF3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42B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E1E8E4"/>
                      </a:solidFill>
                    </a:lnR>
                    <a:lnB w="4763">
                      <a:solidFill>
                        <a:srgbClr val="E1E8E4"/>
                      </a:solidFill>
                    </a:lnB>
                    <a:solidFill>
                      <a:srgbClr val="EEF3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42B"/>
                          </a:solidFill>
                          <a:latin typeface="Arial"/>
                          <a:ea typeface="Arial"/>
                          <a:cs typeface="Arial"/>
                        </a:rPr>
                        <a:t>0.843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E1E8E4"/>
                      </a:solidFill>
                    </a:lnR>
                    <a:lnB w="4763">
                      <a:solidFill>
                        <a:srgbClr val="E1E8E4"/>
                      </a:solidFill>
                    </a:lnB>
                    <a:solidFill>
                      <a:srgbClr val="EEF3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42B"/>
                          </a:solidFill>
                          <a:latin typeface="Arial"/>
                          <a:ea typeface="Arial"/>
                          <a:cs typeface="Arial"/>
                        </a:rPr>
                        <a:t>0.161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E1E8E4"/>
                      </a:solidFill>
                    </a:lnR>
                    <a:lnB w="4763">
                      <a:solidFill>
                        <a:srgbClr val="E1E8E4"/>
                      </a:solidFill>
                    </a:lnB>
                    <a:solidFill>
                      <a:srgbClr val="EEF3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42B"/>
                          </a:solidFill>
                          <a:latin typeface="Arial"/>
                          <a:ea typeface="Arial"/>
                          <a:cs typeface="Arial"/>
                        </a:rPr>
                        <a:t>5.565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E1E8E4"/>
                      </a:solidFill>
                    </a:lnR>
                    <a:lnB w="4763">
                      <a:solidFill>
                        <a:srgbClr val="E1E8E4"/>
                      </a:solidFill>
                    </a:lnB>
                    <a:solidFill>
                      <a:srgbClr val="EEF3F0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AD5E46-238D-42D6-9F9A-D5EE16F80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5757B"/>
                </a:solidFill>
                <a:latin typeface="Arial"/>
                <a:ea typeface="Arial"/>
                <a:cs typeface="Arial"/>
              </a:rPr>
              <a:t>Synthetic research prototype. Not for diagnosis, contraception or conception planning.</a:t>
            </a:r>
          </a:p>
        </p:txBody>
      </p:sp>
    </p:spTree>
    <p:extLst>
      <p:ext uri="{BB962C8B-B14F-4D97-AF65-F5344CB8AC3E}">
        <p14:creationId xmlns:p14="http://schemas.microsoft.com/office/powerpoint/2010/main" val="157024677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A87C57-153F-44C0-9D7F-038B09A6C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defPPr>
            <a:lvl1pPr>
              <a:defRPr sz="330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1pPr>
            <a:lvl2pPr>
              <a:defRPr sz="330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2pPr>
            <a:lvl3pPr>
              <a:defRPr sz="330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3pPr>
            <a:lvl4pPr>
              <a:defRPr sz="330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4pPr>
            <a:lvl5pPr>
              <a:defRPr sz="330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5pPr>
            <a:lvl6pPr>
              <a:defRPr sz="330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6pPr>
            <a:lvl7pPr>
              <a:defRPr sz="330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7pPr>
            <a:lvl8pPr>
              <a:defRPr sz="330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8pPr>
            <a:lvl9pPr>
              <a:defRPr sz="330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pPr>
            <a:r>
              <a:rPr sz="3300" b="0">
                <a:solidFill>
                  <a:srgbClr val="17242B"/>
                </a:solidFill>
                <a:latin typeface="Arial"/>
                <a:ea typeface="Arial"/>
                <a:cs typeface="Arial"/>
              </a:rPr>
              <a:t>Synthetic development evidence: day 18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C552EF-D010-4A81-BA1C-3E4272B15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5757B"/>
                </a:solidFill>
                <a:latin typeface="Arial"/>
                <a:ea typeface="Arial"/>
                <a:cs typeface="Arial"/>
              </a:rPr>
              <a:t>Seed means describe the current generator, not clinical forecasting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DFB464-F805-4C3D-B274-8C1DCAA237F9}"/>
              </a:ext>
            </a:extLst>
          </p:cNvPr>
          <p:cNvGraphicFramePr/>
          <p:nvPr/>
        </p:nvGraphicFramePr>
        <p:xfrm>
          <a:off xmlns:a="http://schemas.openxmlformats.org/drawingml/2006/main" x="609600" y="2047875"/>
          <a:ext xmlns:a="http://schemas.openxmlformats.org/drawingml/2006/main" cx="10972800" cy="3905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333500"/>
                <a:gridCol w="1333500"/>
                <a:gridCol w="2619375"/>
                <a:gridCol w="2619375"/>
                <a:gridCol w="3067050"/>
              </a:tblGrid>
              <a:tr h="7810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Day</a:t>
                      </a:r>
                    </a:p>
                  </a:txBody>
                  <a:tcPr marL="91440" marR="91440" marT="45720" marB="45720">
                    <a:lnL w="4763">
                      <a:solidFill>
                        <a:srgbClr val="E1E8E4"/>
                      </a:solidFill>
                    </a:lnL>
                    <a:lnR w="4763">
                      <a:solidFill>
                        <a:srgbClr val="E1E8E4"/>
                      </a:solidFill>
                    </a:lnR>
                    <a:lnT w="4763">
                      <a:solidFill>
                        <a:srgbClr val="E1E8E4"/>
                      </a:solidFill>
                    </a:lnT>
                    <a:lnB w="4763">
                      <a:solidFill>
                        <a:srgbClr val="E1E8E4"/>
                      </a:solidFill>
                    </a:lnB>
                    <a:solidFill>
                      <a:srgbClr val="0E766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Tier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E1E8E4"/>
                      </a:solidFill>
                    </a:lnR>
                    <a:lnT w="4763">
                      <a:solidFill>
                        <a:srgbClr val="E1E8E4"/>
                      </a:solidFill>
                    </a:lnT>
                    <a:lnB w="4763">
                      <a:solidFill>
                        <a:srgbClr val="E1E8E4"/>
                      </a:solidFill>
                    </a:lnB>
                    <a:solidFill>
                      <a:srgbClr val="0E766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Mean AUROC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E1E8E4"/>
                      </a:solidFill>
                    </a:lnR>
                    <a:lnT w="4763">
                      <a:solidFill>
                        <a:srgbClr val="E1E8E4"/>
                      </a:solidFill>
                    </a:lnT>
                    <a:lnB w="4763">
                      <a:solidFill>
                        <a:srgbClr val="E1E8E4"/>
                      </a:solidFill>
                    </a:lnB>
                    <a:solidFill>
                      <a:srgbClr val="0E766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Mean Brier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E1E8E4"/>
                      </a:solidFill>
                    </a:lnR>
                    <a:lnT w="4763">
                      <a:solidFill>
                        <a:srgbClr val="E1E8E4"/>
                      </a:solidFill>
                    </a:lnT>
                    <a:lnB w="4763">
                      <a:solidFill>
                        <a:srgbClr val="E1E8E4"/>
                      </a:solidFill>
                    </a:lnB>
                    <a:solidFill>
                      <a:srgbClr val="0E766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Mean day MAE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E1E8E4"/>
                      </a:solidFill>
                    </a:lnR>
                    <a:lnT w="4763">
                      <a:solidFill>
                        <a:srgbClr val="E1E8E4"/>
                      </a:solidFill>
                    </a:lnT>
                    <a:lnB w="4763">
                      <a:solidFill>
                        <a:srgbClr val="E1E8E4"/>
                      </a:solidFill>
                    </a:lnB>
                    <a:solidFill>
                      <a:srgbClr val="0E766E"/>
                    </a:solidFill>
                  </a:tcPr>
                </a:tc>
              </a:tr>
              <a:tr h="7810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42B"/>
                          </a:solidFill>
                          <a:latin typeface="Arial"/>
                          <a:ea typeface="Arial"/>
                          <a:cs typeface="Arial"/>
                        </a:rPr>
                        <a:t>18</a:t>
                      </a:r>
                    </a:p>
                  </a:txBody>
                  <a:tcPr marL="91440" marR="91440" marT="45720" marB="45720">
                    <a:lnL w="4763">
                      <a:solidFill>
                        <a:srgbClr val="E1E8E4"/>
                      </a:solidFill>
                    </a:lnL>
                    <a:lnR w="4763">
                      <a:solidFill>
                        <a:srgbClr val="E1E8E4"/>
                      </a:solidFill>
                    </a:lnR>
                    <a:lnB w="4763">
                      <a:solidFill>
                        <a:srgbClr val="E1E8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42B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E1E8E4"/>
                      </a:solidFill>
                    </a:lnR>
                    <a:lnB w="4763">
                      <a:solidFill>
                        <a:srgbClr val="E1E8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42B"/>
                          </a:solidFill>
                          <a:latin typeface="Arial"/>
                          <a:ea typeface="Arial"/>
                          <a:cs typeface="Arial"/>
                        </a:rPr>
                        <a:t>0.838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E1E8E4"/>
                      </a:solidFill>
                    </a:lnR>
                    <a:lnB w="4763">
                      <a:solidFill>
                        <a:srgbClr val="E1E8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42B"/>
                          </a:solidFill>
                          <a:latin typeface="Arial"/>
                          <a:ea typeface="Arial"/>
                          <a:cs typeface="Arial"/>
                        </a:rPr>
                        <a:t>0.163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E1E8E4"/>
                      </a:solidFill>
                    </a:lnR>
                    <a:lnB w="4763">
                      <a:solidFill>
                        <a:srgbClr val="E1E8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42B"/>
                          </a:solidFill>
                          <a:latin typeface="Arial"/>
                          <a:ea typeface="Arial"/>
                          <a:cs typeface="Arial"/>
                        </a:rPr>
                        <a:t>5.439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E1E8E4"/>
                      </a:solidFill>
                    </a:lnR>
                    <a:lnB w="4763">
                      <a:solidFill>
                        <a:srgbClr val="E1E8E4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810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42B"/>
                          </a:solidFill>
                          <a:latin typeface="Arial"/>
                          <a:ea typeface="Arial"/>
                          <a:cs typeface="Arial"/>
                        </a:rPr>
                        <a:t>18</a:t>
                      </a:r>
                    </a:p>
                  </a:txBody>
                  <a:tcPr marL="91440" marR="91440" marT="45720" marB="45720">
                    <a:lnL w="4763">
                      <a:solidFill>
                        <a:srgbClr val="E1E8E4"/>
                      </a:solidFill>
                    </a:lnL>
                    <a:lnR w="4763">
                      <a:solidFill>
                        <a:srgbClr val="E1E8E4"/>
                      </a:solidFill>
                    </a:lnR>
                    <a:lnB w="4763">
                      <a:solidFill>
                        <a:srgbClr val="E1E8E4"/>
                      </a:solidFill>
                    </a:lnB>
                    <a:solidFill>
                      <a:srgbClr val="EEF3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42B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E1E8E4"/>
                      </a:solidFill>
                    </a:lnR>
                    <a:lnB w="4763">
                      <a:solidFill>
                        <a:srgbClr val="E1E8E4"/>
                      </a:solidFill>
                    </a:lnB>
                    <a:solidFill>
                      <a:srgbClr val="EEF3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42B"/>
                          </a:solidFill>
                          <a:latin typeface="Arial"/>
                          <a:ea typeface="Arial"/>
                          <a:cs typeface="Arial"/>
                        </a:rPr>
                        <a:t>0.839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E1E8E4"/>
                      </a:solidFill>
                    </a:lnR>
                    <a:lnB w="4763">
                      <a:solidFill>
                        <a:srgbClr val="E1E8E4"/>
                      </a:solidFill>
                    </a:lnB>
                    <a:solidFill>
                      <a:srgbClr val="EEF3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42B"/>
                          </a:solidFill>
                          <a:latin typeface="Arial"/>
                          <a:ea typeface="Arial"/>
                          <a:cs typeface="Arial"/>
                        </a:rPr>
                        <a:t>0.163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E1E8E4"/>
                      </a:solidFill>
                    </a:lnR>
                    <a:lnB w="4763">
                      <a:solidFill>
                        <a:srgbClr val="E1E8E4"/>
                      </a:solidFill>
                    </a:lnB>
                    <a:solidFill>
                      <a:srgbClr val="EEF3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42B"/>
                          </a:solidFill>
                          <a:latin typeface="Arial"/>
                          <a:ea typeface="Arial"/>
                          <a:cs typeface="Arial"/>
                        </a:rPr>
                        <a:t>5.439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E1E8E4"/>
                      </a:solidFill>
                    </a:lnR>
                    <a:lnB w="4763">
                      <a:solidFill>
                        <a:srgbClr val="E1E8E4"/>
                      </a:solidFill>
                    </a:lnB>
                    <a:solidFill>
                      <a:srgbClr val="EEF3F0"/>
                    </a:solidFill>
                  </a:tcPr>
                </a:tc>
              </a:tr>
              <a:tr h="7810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42B"/>
                          </a:solidFill>
                          <a:latin typeface="Arial"/>
                          <a:ea typeface="Arial"/>
                          <a:cs typeface="Arial"/>
                        </a:rPr>
                        <a:t>18</a:t>
                      </a:r>
                    </a:p>
                  </a:txBody>
                  <a:tcPr marL="91440" marR="91440" marT="45720" marB="45720">
                    <a:lnL w="4763">
                      <a:solidFill>
                        <a:srgbClr val="E1E8E4"/>
                      </a:solidFill>
                    </a:lnL>
                    <a:lnR w="4763">
                      <a:solidFill>
                        <a:srgbClr val="E1E8E4"/>
                      </a:solidFill>
                    </a:lnR>
                    <a:lnB w="4763">
                      <a:solidFill>
                        <a:srgbClr val="E1E8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42B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E1E8E4"/>
                      </a:solidFill>
                    </a:lnR>
                    <a:lnB w="4763">
                      <a:solidFill>
                        <a:srgbClr val="E1E8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42B"/>
                          </a:solidFill>
                          <a:latin typeface="Arial"/>
                          <a:ea typeface="Arial"/>
                          <a:cs typeface="Arial"/>
                        </a:rPr>
                        <a:t>0.906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E1E8E4"/>
                      </a:solidFill>
                    </a:lnR>
                    <a:lnB w="4763">
                      <a:solidFill>
                        <a:srgbClr val="E1E8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42B"/>
                          </a:solidFill>
                          <a:latin typeface="Arial"/>
                          <a:ea typeface="Arial"/>
                          <a:cs typeface="Arial"/>
                        </a:rPr>
                        <a:t>0.119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E1E8E4"/>
                      </a:solidFill>
                    </a:lnR>
                    <a:lnB w="4763">
                      <a:solidFill>
                        <a:srgbClr val="E1E8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42B"/>
                          </a:solidFill>
                          <a:latin typeface="Arial"/>
                          <a:ea typeface="Arial"/>
                          <a:cs typeface="Arial"/>
                        </a:rPr>
                        <a:t>5.267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E1E8E4"/>
                      </a:solidFill>
                    </a:lnR>
                    <a:lnB w="4763">
                      <a:solidFill>
                        <a:srgbClr val="E1E8E4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810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42B"/>
                          </a:solidFill>
                          <a:latin typeface="Arial"/>
                          <a:ea typeface="Arial"/>
                          <a:cs typeface="Arial"/>
                        </a:rPr>
                        <a:t>18</a:t>
                      </a:r>
                    </a:p>
                  </a:txBody>
                  <a:tcPr marL="91440" marR="91440" marT="45720" marB="45720">
                    <a:lnL w="4763">
                      <a:solidFill>
                        <a:srgbClr val="E1E8E4"/>
                      </a:solidFill>
                    </a:lnL>
                    <a:lnR w="4763">
                      <a:solidFill>
                        <a:srgbClr val="E1E8E4"/>
                      </a:solidFill>
                    </a:lnR>
                    <a:lnB w="4763">
                      <a:solidFill>
                        <a:srgbClr val="E1E8E4"/>
                      </a:solidFill>
                    </a:lnB>
                    <a:solidFill>
                      <a:srgbClr val="EEF3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42B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E1E8E4"/>
                      </a:solidFill>
                    </a:lnR>
                    <a:lnB w="4763">
                      <a:solidFill>
                        <a:srgbClr val="E1E8E4"/>
                      </a:solidFill>
                    </a:lnB>
                    <a:solidFill>
                      <a:srgbClr val="EEF3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42B"/>
                          </a:solidFill>
                          <a:latin typeface="Arial"/>
                          <a:ea typeface="Arial"/>
                          <a:cs typeface="Arial"/>
                        </a:rPr>
                        <a:t>0.907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E1E8E4"/>
                      </a:solidFill>
                    </a:lnR>
                    <a:lnB w="4763">
                      <a:solidFill>
                        <a:srgbClr val="E1E8E4"/>
                      </a:solidFill>
                    </a:lnB>
                    <a:solidFill>
                      <a:srgbClr val="EEF3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42B"/>
                          </a:solidFill>
                          <a:latin typeface="Arial"/>
                          <a:ea typeface="Arial"/>
                          <a:cs typeface="Arial"/>
                        </a:rPr>
                        <a:t>0.119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E1E8E4"/>
                      </a:solidFill>
                    </a:lnR>
                    <a:lnB w="4763">
                      <a:solidFill>
                        <a:srgbClr val="E1E8E4"/>
                      </a:solidFill>
                    </a:lnB>
                    <a:solidFill>
                      <a:srgbClr val="EEF3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42B"/>
                          </a:solidFill>
                          <a:latin typeface="Arial"/>
                          <a:ea typeface="Arial"/>
                          <a:cs typeface="Arial"/>
                        </a:rPr>
                        <a:t>5.267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E1E8E4"/>
                      </a:solidFill>
                    </a:lnR>
                    <a:lnB w="4763">
                      <a:solidFill>
                        <a:srgbClr val="E1E8E4"/>
                      </a:solidFill>
                    </a:lnB>
                    <a:solidFill>
                      <a:srgbClr val="EEF3F0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92C91A-8DB8-43C6-828C-94F719A70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5757B"/>
                </a:solidFill>
                <a:latin typeface="Arial"/>
                <a:ea typeface="Arial"/>
                <a:cs typeface="Arial"/>
              </a:rPr>
              <a:t>Synthetic research prototype. Not for diagnosis, contraception or conception planning.</a:t>
            </a:r>
          </a:p>
        </p:txBody>
      </p:sp>
    </p:spTree>
    <p:extLst>
      <p:ext uri="{BB962C8B-B14F-4D97-AF65-F5344CB8AC3E}">
        <p14:creationId xmlns:p14="http://schemas.microsoft.com/office/powerpoint/2010/main" val="29926984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2A076E-782B-4DD1-A614-8CF8AE8AC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defPPr>
            <a:lvl1pPr>
              <a:defRPr sz="330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1pPr>
            <a:lvl2pPr>
              <a:defRPr sz="330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2pPr>
            <a:lvl3pPr>
              <a:defRPr sz="330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3pPr>
            <a:lvl4pPr>
              <a:defRPr sz="330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4pPr>
            <a:lvl5pPr>
              <a:defRPr sz="330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5pPr>
            <a:lvl6pPr>
              <a:defRPr sz="330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6pPr>
            <a:lvl7pPr>
              <a:defRPr sz="330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7pPr>
            <a:lvl8pPr>
              <a:defRPr sz="330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8pPr>
            <a:lvl9pPr>
              <a:defRPr sz="330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pPr>
            <a:r>
              <a:rPr sz="3300" b="0">
                <a:solidFill>
                  <a:srgbClr val="17242B"/>
                </a:solidFill>
                <a:latin typeface="Arial"/>
                <a:ea typeface="Arial"/>
                <a:cs typeface="Arial"/>
              </a:rPr>
              <a:t>Frozen synthetic evidence: day 10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57D66E-E128-4F9F-9A79-3E386FFAF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5757B"/>
                </a:solidFill>
                <a:latin typeface="Arial"/>
                <a:ea typeface="Arial"/>
                <a:cs typeface="Arial"/>
              </a:rPr>
              <a:t>Reserved seeds, unchanged train/validation choices, one guarded run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126A6D-1A59-4741-A303-11B31DA839F2}"/>
              </a:ext>
            </a:extLst>
          </p:cNvPr>
          <p:cNvGraphicFramePr/>
          <p:nvPr/>
        </p:nvGraphicFramePr>
        <p:xfrm>
          <a:off xmlns:a="http://schemas.openxmlformats.org/drawingml/2006/main" x="609600" y="2047875"/>
          <a:ext xmlns:a="http://schemas.openxmlformats.org/drawingml/2006/main" cx="10972800" cy="3905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333500"/>
                <a:gridCol w="1333500"/>
                <a:gridCol w="2619375"/>
                <a:gridCol w="2619375"/>
                <a:gridCol w="3067050"/>
              </a:tblGrid>
              <a:tr h="7810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Day</a:t>
                      </a:r>
                    </a:p>
                  </a:txBody>
                  <a:tcPr marL="91440" marR="91440" marT="45720" marB="45720">
                    <a:lnL w="4763">
                      <a:solidFill>
                        <a:srgbClr val="E1E8E4"/>
                      </a:solidFill>
                    </a:lnL>
                    <a:lnR w="4763">
                      <a:solidFill>
                        <a:srgbClr val="E1E8E4"/>
                      </a:solidFill>
                    </a:lnR>
                    <a:lnT w="4763">
                      <a:solidFill>
                        <a:srgbClr val="E1E8E4"/>
                      </a:solidFill>
                    </a:lnT>
                    <a:lnB w="4763">
                      <a:solidFill>
                        <a:srgbClr val="E1E8E4"/>
                      </a:solidFill>
                    </a:lnB>
                    <a:solidFill>
                      <a:srgbClr val="0E766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Tier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E1E8E4"/>
                      </a:solidFill>
                    </a:lnR>
                    <a:lnT w="4763">
                      <a:solidFill>
                        <a:srgbClr val="E1E8E4"/>
                      </a:solidFill>
                    </a:lnT>
                    <a:lnB w="4763">
                      <a:solidFill>
                        <a:srgbClr val="E1E8E4"/>
                      </a:solidFill>
                    </a:lnB>
                    <a:solidFill>
                      <a:srgbClr val="0E766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Mean AUROC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E1E8E4"/>
                      </a:solidFill>
                    </a:lnR>
                    <a:lnT w="4763">
                      <a:solidFill>
                        <a:srgbClr val="E1E8E4"/>
                      </a:solidFill>
                    </a:lnT>
                    <a:lnB w="4763">
                      <a:solidFill>
                        <a:srgbClr val="E1E8E4"/>
                      </a:solidFill>
                    </a:lnB>
                    <a:solidFill>
                      <a:srgbClr val="0E766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Mean Brier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E1E8E4"/>
                      </a:solidFill>
                    </a:lnR>
                    <a:lnT w="4763">
                      <a:solidFill>
                        <a:srgbClr val="E1E8E4"/>
                      </a:solidFill>
                    </a:lnT>
                    <a:lnB w="4763">
                      <a:solidFill>
                        <a:srgbClr val="E1E8E4"/>
                      </a:solidFill>
                    </a:lnB>
                    <a:solidFill>
                      <a:srgbClr val="0E766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Mean day MAE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E1E8E4"/>
                      </a:solidFill>
                    </a:lnR>
                    <a:lnT w="4763">
                      <a:solidFill>
                        <a:srgbClr val="E1E8E4"/>
                      </a:solidFill>
                    </a:lnT>
                    <a:lnB w="4763">
                      <a:solidFill>
                        <a:srgbClr val="E1E8E4"/>
                      </a:solidFill>
                    </a:lnB>
                    <a:solidFill>
                      <a:srgbClr val="0E766E"/>
                    </a:solidFill>
                  </a:tcPr>
                </a:tc>
              </a:tr>
              <a:tr h="7810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42B"/>
                          </a:solidFill>
                          <a:latin typeface="Arial"/>
                          <a:ea typeface="Arial"/>
                          <a:cs typeface="Arial"/>
                        </a:rPr>
                        <a:t>10</a:t>
                      </a:r>
                    </a:p>
                  </a:txBody>
                  <a:tcPr marL="91440" marR="91440" marT="45720" marB="45720">
                    <a:lnL w="4763">
                      <a:solidFill>
                        <a:srgbClr val="E1E8E4"/>
                      </a:solidFill>
                    </a:lnL>
                    <a:lnR w="4763">
                      <a:solidFill>
                        <a:srgbClr val="E1E8E4"/>
                      </a:solidFill>
                    </a:lnR>
                    <a:lnB w="4763">
                      <a:solidFill>
                        <a:srgbClr val="E1E8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42B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E1E8E4"/>
                      </a:solidFill>
                    </a:lnR>
                    <a:lnB w="4763">
                      <a:solidFill>
                        <a:srgbClr val="E1E8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42B"/>
                          </a:solidFill>
                          <a:latin typeface="Arial"/>
                          <a:ea typeface="Arial"/>
                          <a:cs typeface="Arial"/>
                        </a:rPr>
                        <a:t>0.839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E1E8E4"/>
                      </a:solidFill>
                    </a:lnR>
                    <a:lnB w="4763">
                      <a:solidFill>
                        <a:srgbClr val="E1E8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42B"/>
                          </a:solidFill>
                          <a:latin typeface="Arial"/>
                          <a:ea typeface="Arial"/>
                          <a:cs typeface="Arial"/>
                        </a:rPr>
                        <a:t>0.164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E1E8E4"/>
                      </a:solidFill>
                    </a:lnR>
                    <a:lnB w="4763">
                      <a:solidFill>
                        <a:srgbClr val="E1E8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42B"/>
                          </a:solidFill>
                          <a:latin typeface="Arial"/>
                          <a:ea typeface="Arial"/>
                          <a:cs typeface="Arial"/>
                        </a:rPr>
                        <a:t>5.142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E1E8E4"/>
                      </a:solidFill>
                    </a:lnR>
                    <a:lnB w="4763">
                      <a:solidFill>
                        <a:srgbClr val="E1E8E4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810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42B"/>
                          </a:solidFill>
                          <a:latin typeface="Arial"/>
                          <a:ea typeface="Arial"/>
                          <a:cs typeface="Arial"/>
                        </a:rPr>
                        <a:t>10</a:t>
                      </a:r>
                    </a:p>
                  </a:txBody>
                  <a:tcPr marL="91440" marR="91440" marT="45720" marB="45720">
                    <a:lnL w="4763">
                      <a:solidFill>
                        <a:srgbClr val="E1E8E4"/>
                      </a:solidFill>
                    </a:lnL>
                    <a:lnR w="4763">
                      <a:solidFill>
                        <a:srgbClr val="E1E8E4"/>
                      </a:solidFill>
                    </a:lnR>
                    <a:lnB w="4763">
                      <a:solidFill>
                        <a:srgbClr val="E1E8E4"/>
                      </a:solidFill>
                    </a:lnB>
                    <a:solidFill>
                      <a:srgbClr val="EEF3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42B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E1E8E4"/>
                      </a:solidFill>
                    </a:lnR>
                    <a:lnB w="4763">
                      <a:solidFill>
                        <a:srgbClr val="E1E8E4"/>
                      </a:solidFill>
                    </a:lnB>
                    <a:solidFill>
                      <a:srgbClr val="EEF3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42B"/>
                          </a:solidFill>
                          <a:latin typeface="Arial"/>
                          <a:ea typeface="Arial"/>
                          <a:cs typeface="Arial"/>
                        </a:rPr>
                        <a:t>0.839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E1E8E4"/>
                      </a:solidFill>
                    </a:lnR>
                    <a:lnB w="4763">
                      <a:solidFill>
                        <a:srgbClr val="E1E8E4"/>
                      </a:solidFill>
                    </a:lnB>
                    <a:solidFill>
                      <a:srgbClr val="EEF3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42B"/>
                          </a:solidFill>
                          <a:latin typeface="Arial"/>
                          <a:ea typeface="Arial"/>
                          <a:cs typeface="Arial"/>
                        </a:rPr>
                        <a:t>0.164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E1E8E4"/>
                      </a:solidFill>
                    </a:lnR>
                    <a:lnB w="4763">
                      <a:solidFill>
                        <a:srgbClr val="E1E8E4"/>
                      </a:solidFill>
                    </a:lnB>
                    <a:solidFill>
                      <a:srgbClr val="EEF3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42B"/>
                          </a:solidFill>
                          <a:latin typeface="Arial"/>
                          <a:ea typeface="Arial"/>
                          <a:cs typeface="Arial"/>
                        </a:rPr>
                        <a:t>5.142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E1E8E4"/>
                      </a:solidFill>
                    </a:lnR>
                    <a:lnB w="4763">
                      <a:solidFill>
                        <a:srgbClr val="E1E8E4"/>
                      </a:solidFill>
                    </a:lnB>
                    <a:solidFill>
                      <a:srgbClr val="EEF3F0"/>
                    </a:solidFill>
                  </a:tcPr>
                </a:tc>
              </a:tr>
              <a:tr h="7810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42B"/>
                          </a:solidFill>
                          <a:latin typeface="Arial"/>
                          <a:ea typeface="Arial"/>
                          <a:cs typeface="Arial"/>
                        </a:rPr>
                        <a:t>10</a:t>
                      </a:r>
                    </a:p>
                  </a:txBody>
                  <a:tcPr marL="91440" marR="91440" marT="45720" marB="45720">
                    <a:lnL w="4763">
                      <a:solidFill>
                        <a:srgbClr val="E1E8E4"/>
                      </a:solidFill>
                    </a:lnL>
                    <a:lnR w="4763">
                      <a:solidFill>
                        <a:srgbClr val="E1E8E4"/>
                      </a:solidFill>
                    </a:lnR>
                    <a:lnB w="4763">
                      <a:solidFill>
                        <a:srgbClr val="E1E8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42B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E1E8E4"/>
                      </a:solidFill>
                    </a:lnR>
                    <a:lnB w="4763">
                      <a:solidFill>
                        <a:srgbClr val="E1E8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42B"/>
                          </a:solidFill>
                          <a:latin typeface="Arial"/>
                          <a:ea typeface="Arial"/>
                          <a:cs typeface="Arial"/>
                        </a:rPr>
                        <a:t>0.839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E1E8E4"/>
                      </a:solidFill>
                    </a:lnR>
                    <a:lnB w="4763">
                      <a:solidFill>
                        <a:srgbClr val="E1E8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42B"/>
                          </a:solidFill>
                          <a:latin typeface="Arial"/>
                          <a:ea typeface="Arial"/>
                          <a:cs typeface="Arial"/>
                        </a:rPr>
                        <a:t>0.164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E1E8E4"/>
                      </a:solidFill>
                    </a:lnR>
                    <a:lnB w="4763">
                      <a:solidFill>
                        <a:srgbClr val="E1E8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42B"/>
                          </a:solidFill>
                          <a:latin typeface="Arial"/>
                          <a:ea typeface="Arial"/>
                          <a:cs typeface="Arial"/>
                        </a:rPr>
                        <a:t>5.142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E1E8E4"/>
                      </a:solidFill>
                    </a:lnR>
                    <a:lnB w="4763">
                      <a:solidFill>
                        <a:srgbClr val="E1E8E4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810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42B"/>
                          </a:solidFill>
                          <a:latin typeface="Arial"/>
                          <a:ea typeface="Arial"/>
                          <a:cs typeface="Arial"/>
                        </a:rPr>
                        <a:t>10</a:t>
                      </a:r>
                    </a:p>
                  </a:txBody>
                  <a:tcPr marL="91440" marR="91440" marT="45720" marB="45720">
                    <a:lnL w="4763">
                      <a:solidFill>
                        <a:srgbClr val="E1E8E4"/>
                      </a:solidFill>
                    </a:lnL>
                    <a:lnR w="4763">
                      <a:solidFill>
                        <a:srgbClr val="E1E8E4"/>
                      </a:solidFill>
                    </a:lnR>
                    <a:lnB w="4763">
                      <a:solidFill>
                        <a:srgbClr val="E1E8E4"/>
                      </a:solidFill>
                    </a:lnB>
                    <a:solidFill>
                      <a:srgbClr val="EEF3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42B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E1E8E4"/>
                      </a:solidFill>
                    </a:lnR>
                    <a:lnB w="4763">
                      <a:solidFill>
                        <a:srgbClr val="E1E8E4"/>
                      </a:solidFill>
                    </a:lnB>
                    <a:solidFill>
                      <a:srgbClr val="EEF3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42B"/>
                          </a:solidFill>
                          <a:latin typeface="Arial"/>
                          <a:ea typeface="Arial"/>
                          <a:cs typeface="Arial"/>
                        </a:rPr>
                        <a:t>0.839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E1E8E4"/>
                      </a:solidFill>
                    </a:lnR>
                    <a:lnB w="4763">
                      <a:solidFill>
                        <a:srgbClr val="E1E8E4"/>
                      </a:solidFill>
                    </a:lnB>
                    <a:solidFill>
                      <a:srgbClr val="EEF3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42B"/>
                          </a:solidFill>
                          <a:latin typeface="Arial"/>
                          <a:ea typeface="Arial"/>
                          <a:cs typeface="Arial"/>
                        </a:rPr>
                        <a:t>0.164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E1E8E4"/>
                      </a:solidFill>
                    </a:lnR>
                    <a:lnB w="4763">
                      <a:solidFill>
                        <a:srgbClr val="E1E8E4"/>
                      </a:solidFill>
                    </a:lnB>
                    <a:solidFill>
                      <a:srgbClr val="EEF3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42B"/>
                          </a:solidFill>
                          <a:latin typeface="Arial"/>
                          <a:ea typeface="Arial"/>
                          <a:cs typeface="Arial"/>
                        </a:rPr>
                        <a:t>5.142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E1E8E4"/>
                      </a:solidFill>
                    </a:lnR>
                    <a:lnB w="4763">
                      <a:solidFill>
                        <a:srgbClr val="E1E8E4"/>
                      </a:solidFill>
                    </a:lnB>
                    <a:solidFill>
                      <a:srgbClr val="EEF3F0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F4030C-3587-4C31-AB2B-171942BDC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5757B"/>
                </a:solidFill>
                <a:latin typeface="Arial"/>
                <a:ea typeface="Arial"/>
                <a:cs typeface="Arial"/>
              </a:rPr>
              <a:t>Synthetic research prototype. Not for diagnosis, contraception or conception planning.</a:t>
            </a:r>
          </a:p>
        </p:txBody>
      </p:sp>
    </p:spTree>
    <p:extLst>
      <p:ext uri="{BB962C8B-B14F-4D97-AF65-F5344CB8AC3E}">
        <p14:creationId xmlns:p14="http://schemas.microsoft.com/office/powerpoint/2010/main" val="60561608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C2CA1E-BBC6-4312-ACB6-270591FD6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defPPr>
            <a:lvl1pPr>
              <a:defRPr sz="330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1pPr>
            <a:lvl2pPr>
              <a:defRPr sz="330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2pPr>
            <a:lvl3pPr>
              <a:defRPr sz="330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3pPr>
            <a:lvl4pPr>
              <a:defRPr sz="330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4pPr>
            <a:lvl5pPr>
              <a:defRPr sz="330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5pPr>
            <a:lvl6pPr>
              <a:defRPr sz="330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6pPr>
            <a:lvl7pPr>
              <a:defRPr sz="330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7pPr>
            <a:lvl8pPr>
              <a:defRPr sz="330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8pPr>
            <a:lvl9pPr>
              <a:defRPr sz="330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pPr>
            <a:r>
              <a:rPr sz="3300" b="0">
                <a:solidFill>
                  <a:srgbClr val="17242B"/>
                </a:solidFill>
                <a:latin typeface="Arial"/>
                <a:ea typeface="Arial"/>
                <a:cs typeface="Arial"/>
              </a:rPr>
              <a:t>Frozen synthetic evidence: day 14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FE5371-84B9-454A-88E9-5554F5470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5757B"/>
                </a:solidFill>
                <a:latin typeface="Arial"/>
                <a:ea typeface="Arial"/>
                <a:cs typeface="Arial"/>
              </a:rPr>
              <a:t>Reserved seeds, unchanged train/validation choices, one guarded run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899C2D-9D15-445E-90C3-6D67DCAEC020}"/>
              </a:ext>
            </a:extLst>
          </p:cNvPr>
          <p:cNvGraphicFramePr/>
          <p:nvPr/>
        </p:nvGraphicFramePr>
        <p:xfrm>
          <a:off xmlns:a="http://schemas.openxmlformats.org/drawingml/2006/main" x="609600" y="2047875"/>
          <a:ext xmlns:a="http://schemas.openxmlformats.org/drawingml/2006/main" cx="10972800" cy="3905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333500"/>
                <a:gridCol w="1333500"/>
                <a:gridCol w="2619375"/>
                <a:gridCol w="2619375"/>
                <a:gridCol w="3067050"/>
              </a:tblGrid>
              <a:tr h="7810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Day</a:t>
                      </a:r>
                    </a:p>
                  </a:txBody>
                  <a:tcPr marL="91440" marR="91440" marT="45720" marB="45720">
                    <a:lnL w="4763">
                      <a:solidFill>
                        <a:srgbClr val="E1E8E4"/>
                      </a:solidFill>
                    </a:lnL>
                    <a:lnR w="4763">
                      <a:solidFill>
                        <a:srgbClr val="E1E8E4"/>
                      </a:solidFill>
                    </a:lnR>
                    <a:lnT w="4763">
                      <a:solidFill>
                        <a:srgbClr val="E1E8E4"/>
                      </a:solidFill>
                    </a:lnT>
                    <a:lnB w="4763">
                      <a:solidFill>
                        <a:srgbClr val="E1E8E4"/>
                      </a:solidFill>
                    </a:lnB>
                    <a:solidFill>
                      <a:srgbClr val="0E766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Tier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E1E8E4"/>
                      </a:solidFill>
                    </a:lnR>
                    <a:lnT w="4763">
                      <a:solidFill>
                        <a:srgbClr val="E1E8E4"/>
                      </a:solidFill>
                    </a:lnT>
                    <a:lnB w="4763">
                      <a:solidFill>
                        <a:srgbClr val="E1E8E4"/>
                      </a:solidFill>
                    </a:lnB>
                    <a:solidFill>
                      <a:srgbClr val="0E766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Mean AUROC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E1E8E4"/>
                      </a:solidFill>
                    </a:lnR>
                    <a:lnT w="4763">
                      <a:solidFill>
                        <a:srgbClr val="E1E8E4"/>
                      </a:solidFill>
                    </a:lnT>
                    <a:lnB w="4763">
                      <a:solidFill>
                        <a:srgbClr val="E1E8E4"/>
                      </a:solidFill>
                    </a:lnB>
                    <a:solidFill>
                      <a:srgbClr val="0E766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Mean Brier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E1E8E4"/>
                      </a:solidFill>
                    </a:lnR>
                    <a:lnT w="4763">
                      <a:solidFill>
                        <a:srgbClr val="E1E8E4"/>
                      </a:solidFill>
                    </a:lnT>
                    <a:lnB w="4763">
                      <a:solidFill>
                        <a:srgbClr val="E1E8E4"/>
                      </a:solidFill>
                    </a:lnB>
                    <a:solidFill>
                      <a:srgbClr val="0E766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Mean day MAE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E1E8E4"/>
                      </a:solidFill>
                    </a:lnR>
                    <a:lnT w="4763">
                      <a:solidFill>
                        <a:srgbClr val="E1E8E4"/>
                      </a:solidFill>
                    </a:lnT>
                    <a:lnB w="4763">
                      <a:solidFill>
                        <a:srgbClr val="E1E8E4"/>
                      </a:solidFill>
                    </a:lnB>
                    <a:solidFill>
                      <a:srgbClr val="0E766E"/>
                    </a:solidFill>
                  </a:tcPr>
                </a:tc>
              </a:tr>
              <a:tr h="7810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42B"/>
                          </a:solidFill>
                          <a:latin typeface="Arial"/>
                          <a:ea typeface="Arial"/>
                          <a:cs typeface="Arial"/>
                        </a:rPr>
                        <a:t>14</a:t>
                      </a:r>
                    </a:p>
                  </a:txBody>
                  <a:tcPr marL="91440" marR="91440" marT="45720" marB="45720">
                    <a:lnL w="4763">
                      <a:solidFill>
                        <a:srgbClr val="E1E8E4"/>
                      </a:solidFill>
                    </a:lnL>
                    <a:lnR w="4763">
                      <a:solidFill>
                        <a:srgbClr val="E1E8E4"/>
                      </a:solidFill>
                    </a:lnR>
                    <a:lnB w="4763">
                      <a:solidFill>
                        <a:srgbClr val="E1E8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42B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E1E8E4"/>
                      </a:solidFill>
                    </a:lnR>
                    <a:lnB w="4763">
                      <a:solidFill>
                        <a:srgbClr val="E1E8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42B"/>
                          </a:solidFill>
                          <a:latin typeface="Arial"/>
                          <a:ea typeface="Arial"/>
                          <a:cs typeface="Arial"/>
                        </a:rPr>
                        <a:t>0.839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E1E8E4"/>
                      </a:solidFill>
                    </a:lnR>
                    <a:lnB w="4763">
                      <a:solidFill>
                        <a:srgbClr val="E1E8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42B"/>
                          </a:solidFill>
                          <a:latin typeface="Arial"/>
                          <a:ea typeface="Arial"/>
                          <a:cs typeface="Arial"/>
                        </a:rPr>
                        <a:t>0.164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E1E8E4"/>
                      </a:solidFill>
                    </a:lnR>
                    <a:lnB w="4763">
                      <a:solidFill>
                        <a:srgbClr val="E1E8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42B"/>
                          </a:solidFill>
                          <a:latin typeface="Arial"/>
                          <a:ea typeface="Arial"/>
                          <a:cs typeface="Arial"/>
                        </a:rPr>
                        <a:t>5.251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E1E8E4"/>
                      </a:solidFill>
                    </a:lnR>
                    <a:lnB w="4763">
                      <a:solidFill>
                        <a:srgbClr val="E1E8E4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810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42B"/>
                          </a:solidFill>
                          <a:latin typeface="Arial"/>
                          <a:ea typeface="Arial"/>
                          <a:cs typeface="Arial"/>
                        </a:rPr>
                        <a:t>14</a:t>
                      </a:r>
                    </a:p>
                  </a:txBody>
                  <a:tcPr marL="91440" marR="91440" marT="45720" marB="45720">
                    <a:lnL w="4763">
                      <a:solidFill>
                        <a:srgbClr val="E1E8E4"/>
                      </a:solidFill>
                    </a:lnL>
                    <a:lnR w="4763">
                      <a:solidFill>
                        <a:srgbClr val="E1E8E4"/>
                      </a:solidFill>
                    </a:lnR>
                    <a:lnB w="4763">
                      <a:solidFill>
                        <a:srgbClr val="E1E8E4"/>
                      </a:solidFill>
                    </a:lnB>
                    <a:solidFill>
                      <a:srgbClr val="EEF3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42B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E1E8E4"/>
                      </a:solidFill>
                    </a:lnR>
                    <a:lnB w="4763">
                      <a:solidFill>
                        <a:srgbClr val="E1E8E4"/>
                      </a:solidFill>
                    </a:lnB>
                    <a:solidFill>
                      <a:srgbClr val="EEF3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42B"/>
                          </a:solidFill>
                          <a:latin typeface="Arial"/>
                          <a:ea typeface="Arial"/>
                          <a:cs typeface="Arial"/>
                        </a:rPr>
                        <a:t>0.839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E1E8E4"/>
                      </a:solidFill>
                    </a:lnR>
                    <a:lnB w="4763">
                      <a:solidFill>
                        <a:srgbClr val="E1E8E4"/>
                      </a:solidFill>
                    </a:lnB>
                    <a:solidFill>
                      <a:srgbClr val="EEF3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42B"/>
                          </a:solidFill>
                          <a:latin typeface="Arial"/>
                          <a:ea typeface="Arial"/>
                          <a:cs typeface="Arial"/>
                        </a:rPr>
                        <a:t>0.164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E1E8E4"/>
                      </a:solidFill>
                    </a:lnR>
                    <a:lnB w="4763">
                      <a:solidFill>
                        <a:srgbClr val="E1E8E4"/>
                      </a:solidFill>
                    </a:lnB>
                    <a:solidFill>
                      <a:srgbClr val="EEF3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42B"/>
                          </a:solidFill>
                          <a:latin typeface="Arial"/>
                          <a:ea typeface="Arial"/>
                          <a:cs typeface="Arial"/>
                        </a:rPr>
                        <a:t>5.251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E1E8E4"/>
                      </a:solidFill>
                    </a:lnR>
                    <a:lnB w="4763">
                      <a:solidFill>
                        <a:srgbClr val="E1E8E4"/>
                      </a:solidFill>
                    </a:lnB>
                    <a:solidFill>
                      <a:srgbClr val="EEF3F0"/>
                    </a:solidFill>
                  </a:tcPr>
                </a:tc>
              </a:tr>
              <a:tr h="7810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42B"/>
                          </a:solidFill>
                          <a:latin typeface="Arial"/>
                          <a:ea typeface="Arial"/>
                          <a:cs typeface="Arial"/>
                        </a:rPr>
                        <a:t>14</a:t>
                      </a:r>
                    </a:p>
                  </a:txBody>
                  <a:tcPr marL="91440" marR="91440" marT="45720" marB="45720">
                    <a:lnL w="4763">
                      <a:solidFill>
                        <a:srgbClr val="E1E8E4"/>
                      </a:solidFill>
                    </a:lnL>
                    <a:lnR w="4763">
                      <a:solidFill>
                        <a:srgbClr val="E1E8E4"/>
                      </a:solidFill>
                    </a:lnR>
                    <a:lnB w="4763">
                      <a:solidFill>
                        <a:srgbClr val="E1E8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42B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E1E8E4"/>
                      </a:solidFill>
                    </a:lnR>
                    <a:lnB w="4763">
                      <a:solidFill>
                        <a:srgbClr val="E1E8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42B"/>
                          </a:solidFill>
                          <a:latin typeface="Arial"/>
                          <a:ea typeface="Arial"/>
                          <a:cs typeface="Arial"/>
                        </a:rPr>
                        <a:t>0.855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E1E8E4"/>
                      </a:solidFill>
                    </a:lnR>
                    <a:lnB w="4763">
                      <a:solidFill>
                        <a:srgbClr val="E1E8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42B"/>
                          </a:solidFill>
                          <a:latin typeface="Arial"/>
                          <a:ea typeface="Arial"/>
                          <a:cs typeface="Arial"/>
                        </a:rPr>
                        <a:t>0.155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E1E8E4"/>
                      </a:solidFill>
                    </a:lnR>
                    <a:lnB w="4763">
                      <a:solidFill>
                        <a:srgbClr val="E1E8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42B"/>
                          </a:solidFill>
                          <a:latin typeface="Arial"/>
                          <a:ea typeface="Arial"/>
                          <a:cs typeface="Arial"/>
                        </a:rPr>
                        <a:t>6.790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E1E8E4"/>
                      </a:solidFill>
                    </a:lnR>
                    <a:lnB w="4763">
                      <a:solidFill>
                        <a:srgbClr val="E1E8E4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810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42B"/>
                          </a:solidFill>
                          <a:latin typeface="Arial"/>
                          <a:ea typeface="Arial"/>
                          <a:cs typeface="Arial"/>
                        </a:rPr>
                        <a:t>14</a:t>
                      </a:r>
                    </a:p>
                  </a:txBody>
                  <a:tcPr marL="91440" marR="91440" marT="45720" marB="45720">
                    <a:lnL w="4763">
                      <a:solidFill>
                        <a:srgbClr val="E1E8E4"/>
                      </a:solidFill>
                    </a:lnL>
                    <a:lnR w="4763">
                      <a:solidFill>
                        <a:srgbClr val="E1E8E4"/>
                      </a:solidFill>
                    </a:lnR>
                    <a:lnB w="4763">
                      <a:solidFill>
                        <a:srgbClr val="E1E8E4"/>
                      </a:solidFill>
                    </a:lnB>
                    <a:solidFill>
                      <a:srgbClr val="EEF3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42B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E1E8E4"/>
                      </a:solidFill>
                    </a:lnR>
                    <a:lnB w="4763">
                      <a:solidFill>
                        <a:srgbClr val="E1E8E4"/>
                      </a:solidFill>
                    </a:lnB>
                    <a:solidFill>
                      <a:srgbClr val="EEF3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42B"/>
                          </a:solidFill>
                          <a:latin typeface="Arial"/>
                          <a:ea typeface="Arial"/>
                          <a:cs typeface="Arial"/>
                        </a:rPr>
                        <a:t>0.850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E1E8E4"/>
                      </a:solidFill>
                    </a:lnR>
                    <a:lnB w="4763">
                      <a:solidFill>
                        <a:srgbClr val="E1E8E4"/>
                      </a:solidFill>
                    </a:lnB>
                    <a:solidFill>
                      <a:srgbClr val="EEF3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42B"/>
                          </a:solidFill>
                          <a:latin typeface="Arial"/>
                          <a:ea typeface="Arial"/>
                          <a:cs typeface="Arial"/>
                        </a:rPr>
                        <a:t>0.158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E1E8E4"/>
                      </a:solidFill>
                    </a:lnR>
                    <a:lnB w="4763">
                      <a:solidFill>
                        <a:srgbClr val="E1E8E4"/>
                      </a:solidFill>
                    </a:lnB>
                    <a:solidFill>
                      <a:srgbClr val="EEF3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42B"/>
                          </a:solidFill>
                          <a:latin typeface="Arial"/>
                          <a:ea typeface="Arial"/>
                          <a:cs typeface="Arial"/>
                        </a:rPr>
                        <a:t>6.319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E1E8E4"/>
                      </a:solidFill>
                    </a:lnR>
                    <a:lnB w="4763">
                      <a:solidFill>
                        <a:srgbClr val="E1E8E4"/>
                      </a:solidFill>
                    </a:lnB>
                    <a:solidFill>
                      <a:srgbClr val="EEF3F0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B1EE81-72EB-46BB-8DF7-B74D586AF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5757B"/>
                </a:solidFill>
                <a:latin typeface="Arial"/>
                <a:ea typeface="Arial"/>
                <a:cs typeface="Arial"/>
              </a:rPr>
              <a:t>Synthetic research prototype. Not for diagnosis, contraception or conception planning.</a:t>
            </a:r>
          </a:p>
        </p:txBody>
      </p:sp>
    </p:spTree>
    <p:extLst>
      <p:ext uri="{BB962C8B-B14F-4D97-AF65-F5344CB8AC3E}">
        <p14:creationId xmlns:p14="http://schemas.microsoft.com/office/powerpoint/2010/main" val="35059155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14ED4F-5742-45EF-BCB3-74D683355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defPPr>
            <a:lvl1pPr>
              <a:defRPr sz="330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1pPr>
            <a:lvl2pPr>
              <a:defRPr sz="330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2pPr>
            <a:lvl3pPr>
              <a:defRPr sz="330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3pPr>
            <a:lvl4pPr>
              <a:defRPr sz="330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4pPr>
            <a:lvl5pPr>
              <a:defRPr sz="330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5pPr>
            <a:lvl6pPr>
              <a:defRPr sz="330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6pPr>
            <a:lvl7pPr>
              <a:defRPr sz="330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7pPr>
            <a:lvl8pPr>
              <a:defRPr sz="330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8pPr>
            <a:lvl9pPr>
              <a:defRPr sz="330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pPr>
            <a:r>
              <a:rPr sz="3300" b="0">
                <a:solidFill>
                  <a:srgbClr val="17242B"/>
                </a:solidFill>
                <a:latin typeface="Arial"/>
                <a:ea typeface="Arial"/>
                <a:cs typeface="Arial"/>
              </a:rPr>
              <a:t>Frozen synthetic evidence: day 18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D324DA-CDCF-4B2B-9A57-B020FC026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5757B"/>
                </a:solidFill>
                <a:latin typeface="Arial"/>
                <a:ea typeface="Arial"/>
                <a:cs typeface="Arial"/>
              </a:rPr>
              <a:t>Reserved seeds, unchanged train/validation choices, one guarded run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721C9A-0EA6-4EA1-8157-02D7D6237F91}"/>
              </a:ext>
            </a:extLst>
          </p:cNvPr>
          <p:cNvGraphicFramePr/>
          <p:nvPr/>
        </p:nvGraphicFramePr>
        <p:xfrm>
          <a:off xmlns:a="http://schemas.openxmlformats.org/drawingml/2006/main" x="609600" y="2047875"/>
          <a:ext xmlns:a="http://schemas.openxmlformats.org/drawingml/2006/main" cx="10972800" cy="3905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333500"/>
                <a:gridCol w="1333500"/>
                <a:gridCol w="2619375"/>
                <a:gridCol w="2619375"/>
                <a:gridCol w="3067050"/>
              </a:tblGrid>
              <a:tr h="7810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Day</a:t>
                      </a:r>
                    </a:p>
                  </a:txBody>
                  <a:tcPr marL="91440" marR="91440" marT="45720" marB="45720">
                    <a:lnL w="4763">
                      <a:solidFill>
                        <a:srgbClr val="E1E8E4"/>
                      </a:solidFill>
                    </a:lnL>
                    <a:lnR w="4763">
                      <a:solidFill>
                        <a:srgbClr val="E1E8E4"/>
                      </a:solidFill>
                    </a:lnR>
                    <a:lnT w="4763">
                      <a:solidFill>
                        <a:srgbClr val="E1E8E4"/>
                      </a:solidFill>
                    </a:lnT>
                    <a:lnB w="4763">
                      <a:solidFill>
                        <a:srgbClr val="E1E8E4"/>
                      </a:solidFill>
                    </a:lnB>
                    <a:solidFill>
                      <a:srgbClr val="0E766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Tier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E1E8E4"/>
                      </a:solidFill>
                    </a:lnR>
                    <a:lnT w="4763">
                      <a:solidFill>
                        <a:srgbClr val="E1E8E4"/>
                      </a:solidFill>
                    </a:lnT>
                    <a:lnB w="4763">
                      <a:solidFill>
                        <a:srgbClr val="E1E8E4"/>
                      </a:solidFill>
                    </a:lnB>
                    <a:solidFill>
                      <a:srgbClr val="0E766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Mean AUROC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E1E8E4"/>
                      </a:solidFill>
                    </a:lnR>
                    <a:lnT w="4763">
                      <a:solidFill>
                        <a:srgbClr val="E1E8E4"/>
                      </a:solidFill>
                    </a:lnT>
                    <a:lnB w="4763">
                      <a:solidFill>
                        <a:srgbClr val="E1E8E4"/>
                      </a:solidFill>
                    </a:lnB>
                    <a:solidFill>
                      <a:srgbClr val="0E766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Mean Brier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E1E8E4"/>
                      </a:solidFill>
                    </a:lnR>
                    <a:lnT w="4763">
                      <a:solidFill>
                        <a:srgbClr val="E1E8E4"/>
                      </a:solidFill>
                    </a:lnT>
                    <a:lnB w="4763">
                      <a:solidFill>
                        <a:srgbClr val="E1E8E4"/>
                      </a:solidFill>
                    </a:lnB>
                    <a:solidFill>
                      <a:srgbClr val="0E766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Mean day MAE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E1E8E4"/>
                      </a:solidFill>
                    </a:lnR>
                    <a:lnT w="4763">
                      <a:solidFill>
                        <a:srgbClr val="E1E8E4"/>
                      </a:solidFill>
                    </a:lnT>
                    <a:lnB w="4763">
                      <a:solidFill>
                        <a:srgbClr val="E1E8E4"/>
                      </a:solidFill>
                    </a:lnB>
                    <a:solidFill>
                      <a:srgbClr val="0E766E"/>
                    </a:solidFill>
                  </a:tcPr>
                </a:tc>
              </a:tr>
              <a:tr h="7810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42B"/>
                          </a:solidFill>
                          <a:latin typeface="Arial"/>
                          <a:ea typeface="Arial"/>
                          <a:cs typeface="Arial"/>
                        </a:rPr>
                        <a:t>18</a:t>
                      </a:r>
                    </a:p>
                  </a:txBody>
                  <a:tcPr marL="91440" marR="91440" marT="45720" marB="45720">
                    <a:lnL w="4763">
                      <a:solidFill>
                        <a:srgbClr val="E1E8E4"/>
                      </a:solidFill>
                    </a:lnL>
                    <a:lnR w="4763">
                      <a:solidFill>
                        <a:srgbClr val="E1E8E4"/>
                      </a:solidFill>
                    </a:lnR>
                    <a:lnB w="4763">
                      <a:solidFill>
                        <a:srgbClr val="E1E8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42B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E1E8E4"/>
                      </a:solidFill>
                    </a:lnR>
                    <a:lnB w="4763">
                      <a:solidFill>
                        <a:srgbClr val="E1E8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42B"/>
                          </a:solidFill>
                          <a:latin typeface="Arial"/>
                          <a:ea typeface="Arial"/>
                          <a:cs typeface="Arial"/>
                        </a:rPr>
                        <a:t>0.839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E1E8E4"/>
                      </a:solidFill>
                    </a:lnR>
                    <a:lnB w="4763">
                      <a:solidFill>
                        <a:srgbClr val="E1E8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42B"/>
                          </a:solidFill>
                          <a:latin typeface="Arial"/>
                          <a:ea typeface="Arial"/>
                          <a:cs typeface="Arial"/>
                        </a:rPr>
                        <a:t>0.164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E1E8E4"/>
                      </a:solidFill>
                    </a:lnR>
                    <a:lnB w="4763">
                      <a:solidFill>
                        <a:srgbClr val="E1E8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42B"/>
                          </a:solidFill>
                          <a:latin typeface="Arial"/>
                          <a:ea typeface="Arial"/>
                          <a:cs typeface="Arial"/>
                        </a:rPr>
                        <a:t>5.570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E1E8E4"/>
                      </a:solidFill>
                    </a:lnR>
                    <a:lnB w="4763">
                      <a:solidFill>
                        <a:srgbClr val="E1E8E4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810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42B"/>
                          </a:solidFill>
                          <a:latin typeface="Arial"/>
                          <a:ea typeface="Arial"/>
                          <a:cs typeface="Arial"/>
                        </a:rPr>
                        <a:t>18</a:t>
                      </a:r>
                    </a:p>
                  </a:txBody>
                  <a:tcPr marL="91440" marR="91440" marT="45720" marB="45720">
                    <a:lnL w="4763">
                      <a:solidFill>
                        <a:srgbClr val="E1E8E4"/>
                      </a:solidFill>
                    </a:lnL>
                    <a:lnR w="4763">
                      <a:solidFill>
                        <a:srgbClr val="E1E8E4"/>
                      </a:solidFill>
                    </a:lnR>
                    <a:lnB w="4763">
                      <a:solidFill>
                        <a:srgbClr val="E1E8E4"/>
                      </a:solidFill>
                    </a:lnB>
                    <a:solidFill>
                      <a:srgbClr val="EEF3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42B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E1E8E4"/>
                      </a:solidFill>
                    </a:lnR>
                    <a:lnB w="4763">
                      <a:solidFill>
                        <a:srgbClr val="E1E8E4"/>
                      </a:solidFill>
                    </a:lnB>
                    <a:solidFill>
                      <a:srgbClr val="EEF3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42B"/>
                          </a:solidFill>
                          <a:latin typeface="Arial"/>
                          <a:ea typeface="Arial"/>
                          <a:cs typeface="Arial"/>
                        </a:rPr>
                        <a:t>0.839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E1E8E4"/>
                      </a:solidFill>
                    </a:lnR>
                    <a:lnB w="4763">
                      <a:solidFill>
                        <a:srgbClr val="E1E8E4"/>
                      </a:solidFill>
                    </a:lnB>
                    <a:solidFill>
                      <a:srgbClr val="EEF3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42B"/>
                          </a:solidFill>
                          <a:latin typeface="Arial"/>
                          <a:ea typeface="Arial"/>
                          <a:cs typeface="Arial"/>
                        </a:rPr>
                        <a:t>0.164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E1E8E4"/>
                      </a:solidFill>
                    </a:lnR>
                    <a:lnB w="4763">
                      <a:solidFill>
                        <a:srgbClr val="E1E8E4"/>
                      </a:solidFill>
                    </a:lnB>
                    <a:solidFill>
                      <a:srgbClr val="EEF3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42B"/>
                          </a:solidFill>
                          <a:latin typeface="Arial"/>
                          <a:ea typeface="Arial"/>
                          <a:cs typeface="Arial"/>
                        </a:rPr>
                        <a:t>5.570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E1E8E4"/>
                      </a:solidFill>
                    </a:lnR>
                    <a:lnB w="4763">
                      <a:solidFill>
                        <a:srgbClr val="E1E8E4"/>
                      </a:solidFill>
                    </a:lnB>
                    <a:solidFill>
                      <a:srgbClr val="EEF3F0"/>
                    </a:solidFill>
                  </a:tcPr>
                </a:tc>
              </a:tr>
              <a:tr h="7810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42B"/>
                          </a:solidFill>
                          <a:latin typeface="Arial"/>
                          <a:ea typeface="Arial"/>
                          <a:cs typeface="Arial"/>
                        </a:rPr>
                        <a:t>18</a:t>
                      </a:r>
                    </a:p>
                  </a:txBody>
                  <a:tcPr marL="91440" marR="91440" marT="45720" marB="45720">
                    <a:lnL w="4763">
                      <a:solidFill>
                        <a:srgbClr val="E1E8E4"/>
                      </a:solidFill>
                    </a:lnL>
                    <a:lnR w="4763">
                      <a:solidFill>
                        <a:srgbClr val="E1E8E4"/>
                      </a:solidFill>
                    </a:lnR>
                    <a:lnB w="4763">
                      <a:solidFill>
                        <a:srgbClr val="E1E8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42B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E1E8E4"/>
                      </a:solidFill>
                    </a:lnR>
                    <a:lnB w="4763">
                      <a:solidFill>
                        <a:srgbClr val="E1E8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42B"/>
                          </a:solidFill>
                          <a:latin typeface="Arial"/>
                          <a:ea typeface="Arial"/>
                          <a:cs typeface="Arial"/>
                        </a:rPr>
                        <a:t>0.907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E1E8E4"/>
                      </a:solidFill>
                    </a:lnR>
                    <a:lnB w="4763">
                      <a:solidFill>
                        <a:srgbClr val="E1E8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42B"/>
                          </a:solidFill>
                          <a:latin typeface="Arial"/>
                          <a:ea typeface="Arial"/>
                          <a:cs typeface="Arial"/>
                        </a:rPr>
                        <a:t>0.117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E1E8E4"/>
                      </a:solidFill>
                    </a:lnR>
                    <a:lnB w="4763">
                      <a:solidFill>
                        <a:srgbClr val="E1E8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42B"/>
                          </a:solidFill>
                          <a:latin typeface="Arial"/>
                          <a:ea typeface="Arial"/>
                          <a:cs typeface="Arial"/>
                        </a:rPr>
                        <a:t>5.449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E1E8E4"/>
                      </a:solidFill>
                    </a:lnR>
                    <a:lnB w="4763">
                      <a:solidFill>
                        <a:srgbClr val="E1E8E4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810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42B"/>
                          </a:solidFill>
                          <a:latin typeface="Arial"/>
                          <a:ea typeface="Arial"/>
                          <a:cs typeface="Arial"/>
                        </a:rPr>
                        <a:t>18</a:t>
                      </a:r>
                    </a:p>
                  </a:txBody>
                  <a:tcPr marL="91440" marR="91440" marT="45720" marB="45720">
                    <a:lnL w="4763">
                      <a:solidFill>
                        <a:srgbClr val="E1E8E4"/>
                      </a:solidFill>
                    </a:lnL>
                    <a:lnR w="4763">
                      <a:solidFill>
                        <a:srgbClr val="E1E8E4"/>
                      </a:solidFill>
                    </a:lnR>
                    <a:lnB w="4763">
                      <a:solidFill>
                        <a:srgbClr val="E1E8E4"/>
                      </a:solidFill>
                    </a:lnB>
                    <a:solidFill>
                      <a:srgbClr val="EEF3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42B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E1E8E4"/>
                      </a:solidFill>
                    </a:lnR>
                    <a:lnB w="4763">
                      <a:solidFill>
                        <a:srgbClr val="E1E8E4"/>
                      </a:solidFill>
                    </a:lnB>
                    <a:solidFill>
                      <a:srgbClr val="EEF3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42B"/>
                          </a:solidFill>
                          <a:latin typeface="Arial"/>
                          <a:ea typeface="Arial"/>
                          <a:cs typeface="Arial"/>
                        </a:rPr>
                        <a:t>0.907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E1E8E4"/>
                      </a:solidFill>
                    </a:lnR>
                    <a:lnB w="4763">
                      <a:solidFill>
                        <a:srgbClr val="E1E8E4"/>
                      </a:solidFill>
                    </a:lnB>
                    <a:solidFill>
                      <a:srgbClr val="EEF3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42B"/>
                          </a:solidFill>
                          <a:latin typeface="Arial"/>
                          <a:ea typeface="Arial"/>
                          <a:cs typeface="Arial"/>
                        </a:rPr>
                        <a:t>0.117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E1E8E4"/>
                      </a:solidFill>
                    </a:lnR>
                    <a:lnB w="4763">
                      <a:solidFill>
                        <a:srgbClr val="E1E8E4"/>
                      </a:solidFill>
                    </a:lnB>
                    <a:solidFill>
                      <a:srgbClr val="EEF3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42B"/>
                          </a:solidFill>
                          <a:latin typeface="Arial"/>
                          <a:ea typeface="Arial"/>
                          <a:cs typeface="Arial"/>
                        </a:rPr>
                        <a:t>5.449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E1E8E4"/>
                      </a:solidFill>
                    </a:lnR>
                    <a:lnB w="4763">
                      <a:solidFill>
                        <a:srgbClr val="E1E8E4"/>
                      </a:solidFill>
                    </a:lnB>
                    <a:solidFill>
                      <a:srgbClr val="EEF3F0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AFDD6D-429D-4E45-B0E1-5E2AFB68A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5757B"/>
                </a:solidFill>
                <a:latin typeface="Arial"/>
                <a:ea typeface="Arial"/>
                <a:cs typeface="Arial"/>
              </a:rPr>
              <a:t>Synthetic research prototype. Not for diagnosis, contraception or conception planning.</a:t>
            </a:r>
          </a:p>
        </p:txBody>
      </p:sp>
    </p:spTree>
    <p:extLst>
      <p:ext uri="{BB962C8B-B14F-4D97-AF65-F5344CB8AC3E}">
        <p14:creationId xmlns:p14="http://schemas.microsoft.com/office/powerpoint/2010/main" val="86067866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EC7281-4964-4892-BA6A-CD34FD089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defPPr>
            <a:lvl1pPr>
              <a:defRPr sz="330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1pPr>
            <a:lvl2pPr>
              <a:defRPr sz="330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2pPr>
            <a:lvl3pPr>
              <a:defRPr sz="330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3pPr>
            <a:lvl4pPr>
              <a:defRPr sz="330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4pPr>
            <a:lvl5pPr>
              <a:defRPr sz="330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5pPr>
            <a:lvl6pPr>
              <a:defRPr sz="330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6pPr>
            <a:lvl7pPr>
              <a:defRPr sz="330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7pPr>
            <a:lvl8pPr>
              <a:defRPr sz="330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8pPr>
            <a:lvl9pPr>
              <a:defRPr sz="330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pPr>
            <a:r>
              <a:rPr sz="3300" b="0">
                <a:solidFill>
                  <a:srgbClr val="17242B"/>
                </a:solidFill>
                <a:latin typeface="Arial"/>
                <a:ea typeface="Arial"/>
                <a:cs typeface="Arial"/>
              </a:rPr>
              <a:t>Evidence at the latest sensor snapshot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E90B88-765F-4836-9DA6-4A0104B96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5757B"/>
                </a:solidFill>
                <a:latin typeface="Arial"/>
                <a:ea typeface="Arial"/>
                <a:cs typeface="Arial"/>
              </a:rPr>
              <a:t>Predeclared temperature sensor tier, descriptive seed means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DFB9FF-0B9C-4502-B6EB-6202E1C05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90750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0E766E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0E766E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0E766E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0E766E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0E766E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0E766E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0E766E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0E766E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0E766E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0E766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0E766E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0E766E"/>
                </a:solidFill>
                <a:latin typeface="Arial"/>
                <a:ea typeface="Arial"/>
                <a:cs typeface="Arial"/>
              </a:rPr>
              <a:t>Synthetic day 18, Tier 2: AUROC 0.907, Brier 0.117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756A56-9499-475C-866A-E82E79A13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19438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42B"/>
                </a:solidFill>
                <a:latin typeface="Arial"/>
                <a:ea typeface="Arial"/>
                <a:cs typeface="Arial"/>
              </a:rPr>
              <a:t>3,240 synthetic test cycles across 3 frozen seeds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988C94-1D48-4F5D-8EFC-BF927F931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48125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42B"/>
                </a:solidFill>
                <a:latin typeface="Arial"/>
                <a:ea typeface="Arial"/>
                <a:cs typeface="Arial"/>
              </a:rPr>
              <a:t>A separate frozen evaluation artifact is available.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F996E7-E9E6-4DE7-9E69-A98EBE9E7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76813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42B"/>
                </a:solidFill>
                <a:latin typeface="Arial"/>
                <a:ea typeface="Arial"/>
                <a:cs typeface="Arial"/>
              </a:rPr>
              <a:t>Standard average precision and calibration diagnostics are available from stored predictions.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2342EE-FF72-46AA-AD6F-0CEDECF1A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5757B"/>
                </a:solidFill>
                <a:latin typeface="Arial"/>
                <a:ea typeface="Arial"/>
                <a:cs typeface="Arial"/>
              </a:rPr>
              <a:t>Synthetic research prototype. Not for diagnosis, contraception or conception planning.</a:t>
            </a:r>
          </a:p>
        </p:txBody>
      </p:sp>
    </p:spTree>
    <p:extLst>
      <p:ext uri="{BB962C8B-B14F-4D97-AF65-F5344CB8AC3E}">
        <p14:creationId xmlns:p14="http://schemas.microsoft.com/office/powerpoint/2010/main" val="118478841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68CA2A-A26A-4137-AD20-D014D551B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defPPr>
            <a:lvl1pPr>
              <a:defRPr sz="330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1pPr>
            <a:lvl2pPr>
              <a:defRPr sz="330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2pPr>
            <a:lvl3pPr>
              <a:defRPr sz="330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3pPr>
            <a:lvl4pPr>
              <a:defRPr sz="330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4pPr>
            <a:lvl5pPr>
              <a:defRPr sz="330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5pPr>
            <a:lvl6pPr>
              <a:defRPr sz="330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6pPr>
            <a:lvl7pPr>
              <a:defRPr sz="330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7pPr>
            <a:lvl8pPr>
              <a:defRPr sz="330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8pPr>
            <a:lvl9pPr>
              <a:defRPr sz="330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pPr>
            <a:r>
              <a:rPr sz="3300" b="0">
                <a:solidFill>
                  <a:srgbClr val="17242B"/>
                </a:solidFill>
                <a:latin typeface="Arial"/>
                <a:ea typeface="Arial"/>
                <a:cs typeface="Arial"/>
              </a:rPr>
              <a:t>Frozen sequential alert-policy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B22669-8AB7-4B61-A5BC-598E1908B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5757B"/>
                </a:solidFill>
                <a:latin typeface="Arial"/>
                <a:ea typeface="Arial"/>
                <a:cs typeface="Arial"/>
              </a:rPr>
              <a:t>Earliest safe threshold crossing only; all values are synthetic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C36A53-B84B-4502-AD76-57E3C876C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90750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0E766E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0E766E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0E766E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0E766E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0E766E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0E766E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0E766E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0E766E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0E766E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0E766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0E766E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0E766E"/>
                </a:solidFill>
                <a:latin typeface="Arial"/>
                <a:ea typeface="Arial"/>
                <a:cs typeface="Arial"/>
              </a:rPr>
              <a:t>Tier 2: 1,634 alerts across 3,240 generated cycles; alert precision 0.730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546C4B-198C-4C3E-9C82-C6687BAE0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19438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42B"/>
                </a:solidFill>
                <a:latin typeface="Arial"/>
                <a:ea typeface="Arial"/>
                <a:cs typeface="Arial"/>
              </a:rPr>
              <a:t>Missed generated events: 484/1,677 (0.289); false alerts: 1.484 per synthetic patient-year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1FBA70-C26B-412A-9F5F-20FEC89E4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48125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42B"/>
                </a:solidFill>
                <a:latin typeface="Arial"/>
                <a:ea typeface="Arial"/>
                <a:cs typeface="Arial"/>
              </a:rPr>
              <a:t>Median generated-event lead time: 17.000 days among 790 true-positive cycles with a generated ovulation day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770B2A-F0C2-429E-95E5-892E40590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76813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42B"/>
                </a:solidFill>
                <a:latin typeface="Arial"/>
                <a:ea typeface="Arial"/>
                <a:cs typeface="Arial"/>
              </a:rPr>
              <a:t>Safety is evaluated at every snapshot; no later score can change an earlier alert.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B74C93-976C-4F54-B8AA-561BC8C19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5757B"/>
                </a:solidFill>
                <a:latin typeface="Arial"/>
                <a:ea typeface="Arial"/>
                <a:cs typeface="Arial"/>
              </a:rPr>
              <a:t>Synthetic research prototype. Not for diagnosis, contraception or conception planning.</a:t>
            </a:r>
          </a:p>
        </p:txBody>
      </p:sp>
    </p:spTree>
    <p:extLst>
      <p:ext uri="{BB962C8B-B14F-4D97-AF65-F5344CB8AC3E}">
        <p14:creationId xmlns:p14="http://schemas.microsoft.com/office/powerpoint/2010/main" val="189972839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50E17E-EA68-49B6-A74D-32F96A06A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defPPr>
            <a:lvl1pPr>
              <a:defRPr sz="330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1pPr>
            <a:lvl2pPr>
              <a:defRPr sz="330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2pPr>
            <a:lvl3pPr>
              <a:defRPr sz="330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3pPr>
            <a:lvl4pPr>
              <a:defRPr sz="330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4pPr>
            <a:lvl5pPr>
              <a:defRPr sz="330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5pPr>
            <a:lvl6pPr>
              <a:defRPr sz="330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6pPr>
            <a:lvl7pPr>
              <a:defRPr sz="330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7pPr>
            <a:lvl8pPr>
              <a:defRPr sz="330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8pPr>
            <a:lvl9pPr>
              <a:defRPr sz="330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pPr>
            <a:r>
              <a:rPr sz="3300" b="0">
                <a:solidFill>
                  <a:srgbClr val="17242B"/>
                </a:solidFill>
                <a:latin typeface="Arial"/>
                <a:ea typeface="Arial"/>
                <a:cs typeface="Arial"/>
              </a:rPr>
              <a:t>Frozen synthetic robustness extension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F3C892-C1C5-4F68-BE31-65A1A8FD9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5757B"/>
                </a:solidFill>
                <a:latin typeface="Arial"/>
                <a:ea typeface="Arial"/>
                <a:cs typeface="Arial"/>
              </a:rPr>
              <a:t>Fixed Tier-2 day-18 model and threshold under predeclared perturbations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0AD25A-3046-4A45-9EDA-F50D8620A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90750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0E766E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0E766E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0E766E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0E766E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0E766E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0E766E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0E766E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0E766E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0E766E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0E766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0E766E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0E766E"/>
                </a:solidFill>
                <a:latin typeface="Arial"/>
                <a:ea typeface="Arial"/>
                <a:cs typeface="Arial"/>
              </a:rPr>
              <a:t>At 60% additional forced missing temperature readings: AUROC 0.884, Brier 0.140, safety withholding 1.000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DA19B7-02BD-4B95-9D5B-C3E31BEBE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19438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42B"/>
                </a:solidFill>
                <a:latin typeface="Arial"/>
                <a:ea typeface="Arial"/>
                <a:cs typeface="Arial"/>
              </a:rPr>
              <a:t>At +0.01°C/day drift: AUROC 0.906, Brier 0.300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002669-1B2F-44EE-9D61-D6D09219B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48125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42B"/>
                </a:solidFill>
                <a:latin typeface="Arial"/>
                <a:ea typeface="Arial"/>
                <a:cs typeface="Arial"/>
              </a:rPr>
              <a:t>At a +4-day generated timing shift on independent synthetic cohorts: AUROC 0.863, Brier 0.145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8B335D-CBFA-4332-B5AF-343AA56EB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76813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42B"/>
                </a:solidFill>
                <a:latin typeface="Arial"/>
                <a:ea typeface="Arial"/>
                <a:cs typeface="Arial"/>
              </a:rPr>
              <a:t>These are simulator sensitivity tests, not device robustness or clinical validation.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731343-2368-4FB0-89F7-4ACCB38CF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5757B"/>
                </a:solidFill>
                <a:latin typeface="Arial"/>
                <a:ea typeface="Arial"/>
                <a:cs typeface="Arial"/>
              </a:rPr>
              <a:t>Synthetic research prototype. Not for diagnosis, contraception or conception planning.</a:t>
            </a:r>
          </a:p>
        </p:txBody>
      </p:sp>
    </p:spTree>
    <p:extLst>
      <p:ext uri="{BB962C8B-B14F-4D97-AF65-F5344CB8AC3E}">
        <p14:creationId xmlns:p14="http://schemas.microsoft.com/office/powerpoint/2010/main" val="110331287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629CF2-2098-4C6E-A9D5-7DF614D8C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defPPr>
            <a:lvl1pPr>
              <a:defRPr sz="330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1pPr>
            <a:lvl2pPr>
              <a:defRPr sz="330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2pPr>
            <a:lvl3pPr>
              <a:defRPr sz="330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3pPr>
            <a:lvl4pPr>
              <a:defRPr sz="330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4pPr>
            <a:lvl5pPr>
              <a:defRPr sz="330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5pPr>
            <a:lvl6pPr>
              <a:defRPr sz="330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6pPr>
            <a:lvl7pPr>
              <a:defRPr sz="330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7pPr>
            <a:lvl8pPr>
              <a:defRPr sz="330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8pPr>
            <a:lvl9pPr>
              <a:defRPr sz="330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pPr>
            <a:r>
              <a:rPr sz="3300" b="0">
                <a:solidFill>
                  <a:srgbClr val="17242B"/>
                </a:solidFill>
                <a:latin typeface="Arial"/>
                <a:ea typeface="Arial"/>
                <a:cs typeface="Arial"/>
              </a:rPr>
              <a:t>Timing-posterior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715A0A-F040-4BFB-9416-A77611EBD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5757B"/>
                </a:solidFill>
                <a:latin typeface="Arial"/>
                <a:ea typeface="Arial"/>
                <a:cs typeface="Arial"/>
              </a:rPr>
              <a:t>Train-only calendar/static prior plus temperature, RHR and HRV likelihoods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61681B-B90C-4726-A45E-EDCDAF808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90750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0E766E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0E766E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0E766E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0E766E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0E766E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0E766E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0E766E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0E766E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0E766E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0E766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0E766E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0E766E"/>
                </a:solidFill>
                <a:latin typeface="Arial"/>
                <a:ea typeface="Arial"/>
                <a:cs typeface="Arial"/>
              </a:rPr>
              <a:t>Synthetic Bayesian-posterior Brier 0.098; fitted logistic Brier 0.117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B55BB1-6486-4107-A610-C655B659E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19438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42B"/>
                </a:solidFill>
                <a:latin typeface="Arial"/>
                <a:ea typeface="Arial"/>
                <a:cs typeface="Arial"/>
              </a:rPr>
              <a:t>Twin minus logistic Brier -0.018, patient-cluster 95% CI [-0.022, -0.014]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C80783-0C5D-4E8A-A213-31EC950DA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48125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42B"/>
                </a:solidFill>
                <a:latin typeface="Arial"/>
                <a:ea typeface="Arial"/>
                <a:cs typeface="Arial"/>
              </a:rPr>
              <a:t>noninferior synthetic check; still separate interpretation layer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68268D-7F86-4A66-8883-289381B4B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76813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42B"/>
                </a:solidFill>
                <a:latin typeface="Arial"/>
                <a:ea typeface="Arial"/>
                <a:cs typeface="Arial"/>
              </a:rPr>
              <a:t>Separate from the logistic score, threshold, safety gate and alert policy.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FFF8FB-E5BD-44D5-BA82-117DCFA6E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5757B"/>
                </a:solidFill>
                <a:latin typeface="Arial"/>
                <a:ea typeface="Arial"/>
                <a:cs typeface="Arial"/>
              </a:rPr>
              <a:t>Synthetic research prototype. Not for diagnosis, contraception or conception planning.</a:t>
            </a:r>
          </a:p>
        </p:txBody>
      </p:sp>
    </p:spTree>
    <p:extLst>
      <p:ext uri="{BB962C8B-B14F-4D97-AF65-F5344CB8AC3E}">
        <p14:creationId xmlns:p14="http://schemas.microsoft.com/office/powerpoint/2010/main" val="1550954698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D35B10-189C-4F57-90D0-B62D5C64C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defPPr>
            <a:lvl1pPr>
              <a:defRPr sz="330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1pPr>
            <a:lvl2pPr>
              <a:defRPr sz="330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2pPr>
            <a:lvl3pPr>
              <a:defRPr sz="330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3pPr>
            <a:lvl4pPr>
              <a:defRPr sz="330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4pPr>
            <a:lvl5pPr>
              <a:defRPr sz="330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5pPr>
            <a:lvl6pPr>
              <a:defRPr sz="330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6pPr>
            <a:lvl7pPr>
              <a:defRPr sz="330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7pPr>
            <a:lvl8pPr>
              <a:defRPr sz="330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8pPr>
            <a:lvl9pPr>
              <a:defRPr sz="330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pPr>
            <a:r>
              <a:rPr sz="3300" b="0">
                <a:solidFill>
                  <a:srgbClr val="17242B"/>
                </a:solidFill>
                <a:latin typeface="Arial"/>
                <a:ea typeface="Arial"/>
                <a:cs typeface="Arial"/>
              </a:rPr>
              <a:t>Simulated assay-like extension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F27041-B0D7-4561-A76D-1D7CD0572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5757B"/>
                </a:solidFill>
                <a:latin typeface="Arial"/>
                <a:ea typeface="Arial"/>
                <a:cs typeface="Arial"/>
              </a:rPr>
              <a:t>Post-freeze, noisy simulator proxies; neither clinical labs nor measured hormones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144DB0-9593-4C2E-B839-A32D33EA6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90750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0E766E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0E766E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0E766E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0E766E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0E766E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0E766E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0E766E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0E766E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0E766E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0E766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0E766E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0E766E"/>
                </a:solidFill>
                <a:latin typeface="Arial"/>
                <a:ea typeface="Arial"/>
                <a:cs typeface="Arial"/>
              </a:rPr>
              <a:t>Tier 2 plus simulated assay-like indices: AUROC 0.907, standard AP 0.885, Brier 0.118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317938-9268-4386-8F2B-80199533C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19438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42B"/>
                </a:solidFill>
                <a:latin typeface="Arial"/>
                <a:ea typeface="Arial"/>
                <a:cs typeface="Arial"/>
              </a:rPr>
              <a:t>Original Tier-3 oracle-adjacent internal reference: AUROC 0.907, Brier 0.117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C240F7-7E44-44A1-9AB4-6172A3ABB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48125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42B"/>
                </a:solidFill>
                <a:latin typeface="Arial"/>
                <a:ea typeface="Arial"/>
                <a:cs typeface="Arial"/>
              </a:rPr>
              <a:t>The proxy uses positive exp(latent) values and independent 15% CV assay noise.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26F1AC-8B70-413C-94F7-7C41046C9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76813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42B"/>
                </a:solidFill>
                <a:latin typeface="Arial"/>
                <a:ea typeface="Arial"/>
                <a:cs typeface="Arial"/>
              </a:rPr>
              <a:t>It retains simulator-internal leakage risk and is not a clinical EHR-fusion claim.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F75E00-FCFD-4A8D-B5B9-C88CF1033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5757B"/>
                </a:solidFill>
                <a:latin typeface="Arial"/>
                <a:ea typeface="Arial"/>
                <a:cs typeface="Arial"/>
              </a:rPr>
              <a:t>Synthetic research prototype. Not for diagnosis, contraception or conception planning.</a:t>
            </a:r>
          </a:p>
        </p:txBody>
      </p:sp>
    </p:spTree>
    <p:extLst>
      <p:ext uri="{BB962C8B-B14F-4D97-AF65-F5344CB8AC3E}">
        <p14:creationId xmlns:p14="http://schemas.microsoft.com/office/powerpoint/2010/main" val="878639850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B87A91-332B-4961-BDED-C538A7631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defPPr>
            <a:lvl1pPr>
              <a:defRPr sz="330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1pPr>
            <a:lvl2pPr>
              <a:defRPr sz="330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2pPr>
            <a:lvl3pPr>
              <a:defRPr sz="330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3pPr>
            <a:lvl4pPr>
              <a:defRPr sz="330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4pPr>
            <a:lvl5pPr>
              <a:defRPr sz="330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5pPr>
            <a:lvl6pPr>
              <a:defRPr sz="330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6pPr>
            <a:lvl7pPr>
              <a:defRPr sz="330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7pPr>
            <a:lvl8pPr>
              <a:defRPr sz="330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8pPr>
            <a:lvl9pPr>
              <a:defRPr sz="330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pPr>
            <a:r>
              <a:rPr sz="3300" b="0">
                <a:solidFill>
                  <a:srgbClr val="17242B"/>
                </a:solidFill>
                <a:latin typeface="Arial"/>
                <a:ea typeface="Arial"/>
                <a:cs typeface="Arial"/>
              </a:rPr>
              <a:t>Local operations measurement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8AEF2C-6E7A-4420-921E-C4E35385E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5757B"/>
                </a:solidFill>
                <a:latin typeface="Arial"/>
                <a:ea typeface="Arial"/>
                <a:cs typeface="Arial"/>
              </a:rPr>
              <a:t>One persisted frozen Tier-2 model on the build host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CA6843-03E0-4D27-BFE7-FEE1E8B30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90750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0E766E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0E766E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0E766E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0E766E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0E766E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0E766E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0E766E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0E766E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0E766E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0E766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0E766E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0E766E"/>
                </a:solidFill>
                <a:latin typeface="Arial"/>
                <a:ea typeface="Arial"/>
                <a:cs typeface="Arial"/>
              </a:rPr>
              <a:t>Cold new-process first prediction: 1193.724 ms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A4F925-57C8-41D3-B351-0EE44637C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19438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42B"/>
                </a:solidFill>
                <a:latin typeface="Arial"/>
                <a:ea typeface="Arial"/>
                <a:cs typeface="Arial"/>
              </a:rPr>
              <a:t>Warm inference: mean 0.533 ms, p95 0.565 ms across 1,000 calls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8F8F7B-A7D0-44C8-8083-D22BC5FD4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48125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42B"/>
                </a:solidFill>
                <a:latin typeface="Arial"/>
                <a:ea typeface="Arial"/>
                <a:cs typeface="Arial"/>
              </a:rPr>
              <a:t>Local process peak RSS: 193104 KiB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0B2F8E-647A-4379-8B4F-1A0988FC8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76813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42B"/>
                </a:solidFill>
                <a:latin typeface="Arial"/>
                <a:ea typeface="Arial"/>
                <a:cs typeface="Arial"/>
              </a:rPr>
              <a:t>Host-specific engineering measurement, not a production-service SLA.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930492-2158-46BA-A5F9-CD8B4904B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5757B"/>
                </a:solidFill>
                <a:latin typeface="Arial"/>
                <a:ea typeface="Arial"/>
                <a:cs typeface="Arial"/>
              </a:rPr>
              <a:t>Synthetic research prototype. Not for diagnosis, contraception or conception planning.</a:t>
            </a:r>
          </a:p>
        </p:txBody>
      </p:sp>
    </p:spTree>
    <p:extLst>
      <p:ext uri="{BB962C8B-B14F-4D97-AF65-F5344CB8AC3E}">
        <p14:creationId xmlns:p14="http://schemas.microsoft.com/office/powerpoint/2010/main" val="1474253695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C6A2C7-A558-4946-BD75-194BAA425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defPPr>
            <a:lvl1pPr>
              <a:defRPr sz="330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1pPr>
            <a:lvl2pPr>
              <a:defRPr sz="330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2pPr>
            <a:lvl3pPr>
              <a:defRPr sz="330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3pPr>
            <a:lvl4pPr>
              <a:defRPr sz="330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4pPr>
            <a:lvl5pPr>
              <a:defRPr sz="330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5pPr>
            <a:lvl6pPr>
              <a:defRPr sz="330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6pPr>
            <a:lvl7pPr>
              <a:defRPr sz="330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7pPr>
            <a:lvl8pPr>
              <a:defRPr sz="330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8pPr>
            <a:lvl9pPr>
              <a:defRPr sz="330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pPr>
            <a:r>
              <a:rPr sz="3300" b="0">
                <a:solidFill>
                  <a:srgbClr val="17242B"/>
                </a:solidFill>
                <a:latin typeface="Arial"/>
                <a:ea typeface="Arial"/>
                <a:cs typeface="Arial"/>
              </a:rPr>
              <a:t>Frozen synthetic conformal coverage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BF74BA-2B39-434D-8023-89B169F7E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5757B"/>
                </a:solidFill>
                <a:latin typeface="Arial"/>
                <a:ea typeface="Arial"/>
                <a:cs typeface="Arial"/>
              </a:rPr>
              <a:t>Marginal classification sets and separate heuristic timing bands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FF6E84-C8C5-46AE-A846-43CB272B7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90750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0E766E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0E766E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0E766E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0E766E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0E766E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0E766E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0E766E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0E766E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0E766E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0E766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0E766E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0E766E"/>
                </a:solidFill>
                <a:latin typeface="Arial"/>
                <a:ea typeface="Arial"/>
                <a:cs typeface="Arial"/>
              </a:rPr>
              <a:t>Day-18 Tier-2 classification-set coverage: 0.901; mean set size 1.155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6E21D5-3856-4F61-B00A-4189846B0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19438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42B"/>
                </a:solidFill>
                <a:latin typeface="Arial"/>
                <a:ea typeface="Arial"/>
                <a:cs typeface="Arial"/>
              </a:rPr>
              <a:t>Heuristic ovulation-day band coverage: 0.056; mean width 24.000 days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A2BDE1-2FA3-4C14-90A0-307841342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48125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42B"/>
                </a:solidFill>
                <a:latin typeface="Arial"/>
                <a:ea typeface="Arial"/>
                <a:cs typeface="Arial"/>
              </a:rPr>
              <a:t>The classification-set result is near its synthetic 90% target.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6EBC07-AF78-4FF3-B07B-FD2FA8259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76813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42B"/>
                </a:solidFill>
                <a:latin typeface="Arial"/>
                <a:ea typeface="Arial"/>
                <a:cs typeface="Arial"/>
              </a:rPr>
              <a:t>The day-band result is poor; do not use it as a reliable timing interval.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3E55CB-A23D-4693-977E-BE456B54B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5757B"/>
                </a:solidFill>
                <a:latin typeface="Arial"/>
                <a:ea typeface="Arial"/>
                <a:cs typeface="Arial"/>
              </a:rPr>
              <a:t>Synthetic research prototype. Not for diagnosis, contraception or conception planning.</a:t>
            </a:r>
          </a:p>
        </p:txBody>
      </p:sp>
    </p:spTree>
    <p:extLst>
      <p:ext uri="{BB962C8B-B14F-4D97-AF65-F5344CB8AC3E}">
        <p14:creationId xmlns:p14="http://schemas.microsoft.com/office/powerpoint/2010/main" val="867676320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90D83F-B95E-4C7C-863D-05D8A729F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defPPr>
            <a:lvl1pPr>
              <a:defRPr sz="330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1pPr>
            <a:lvl2pPr>
              <a:defRPr sz="330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2pPr>
            <a:lvl3pPr>
              <a:defRPr sz="330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3pPr>
            <a:lvl4pPr>
              <a:defRPr sz="330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4pPr>
            <a:lvl5pPr>
              <a:defRPr sz="330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5pPr>
            <a:lvl6pPr>
              <a:defRPr sz="330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6pPr>
            <a:lvl7pPr>
              <a:defRPr sz="330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7pPr>
            <a:lvl8pPr>
              <a:defRPr sz="330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8pPr>
            <a:lvl9pPr>
              <a:defRPr sz="330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pPr>
            <a:r>
              <a:rPr sz="3300" b="0">
                <a:solidFill>
                  <a:srgbClr val="17242B"/>
                </a:solidFill>
                <a:latin typeface="Arial"/>
                <a:ea typeface="Arial"/>
                <a:cs typeface="Arial"/>
              </a:rPr>
              <a:t>What the clinician view shows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CCDEAE-9D67-442B-875D-289DEA98E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5757B"/>
                </a:solidFill>
                <a:latin typeface="Arial"/>
                <a:ea typeface="Arial"/>
                <a:cs typeface="Arial"/>
              </a:rPr>
              <a:t>Decision-support research display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A6A5B8-9433-43E9-8386-1BFC4ED0B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90750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0E766E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0E766E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0E766E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0E766E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0E766E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0E766E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0E766E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0E766E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0E766E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0E766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0E766E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0E766E"/>
                </a:solidFill>
                <a:latin typeface="Arial"/>
                <a:ea typeface="Arial"/>
                <a:cs typeface="Arial"/>
              </a:rPr>
              <a:t>Fitted probability beside its own validation threshold and held-out model evidence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751CF2-B531-4CDE-A0E6-13F00B3A0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19438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42B"/>
                </a:solidFill>
                <a:latin typeface="Arial"/>
                <a:ea typeface="Arial"/>
                <a:cs typeface="Arial"/>
              </a:rPr>
              <a:t>Exact additive feature contributions and explicit imputation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8BA545-874B-438A-BA5E-6F08D982A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48125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42B"/>
                </a:solidFill>
                <a:latin typeface="Arial"/>
                <a:ea typeface="Arial"/>
                <a:cs typeface="Arial"/>
              </a:rPr>
              <a:t>Heuristic day estimate and conditional, illustrative day band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9A6D9B-ECF7-4DDA-B738-443E90413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76813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42B"/>
                </a:solidFill>
                <a:latin typeface="Arial"/>
                <a:ea typeface="Arial"/>
                <a:cs typeface="Arial"/>
              </a:rPr>
              <a:t>Data-quality ribbon and the reason for any withholding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AEB6F3-B17D-49EA-A0DC-700F65480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5757B"/>
                </a:solidFill>
                <a:latin typeface="Arial"/>
                <a:ea typeface="Arial"/>
                <a:cs typeface="Arial"/>
              </a:rPr>
              <a:t>Synthetic research prototype. Not for diagnosis, contraception or conception planning.</a:t>
            </a:r>
          </a:p>
        </p:txBody>
      </p:sp>
    </p:spTree>
    <p:extLst>
      <p:ext uri="{BB962C8B-B14F-4D97-AF65-F5344CB8AC3E}">
        <p14:creationId xmlns:p14="http://schemas.microsoft.com/office/powerpoint/2010/main" val="777649044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9A1E9B-1D61-4B87-BF25-BF56B1403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defPPr>
            <a:lvl1pPr>
              <a:defRPr sz="330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1pPr>
            <a:lvl2pPr>
              <a:defRPr sz="330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2pPr>
            <a:lvl3pPr>
              <a:defRPr sz="330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3pPr>
            <a:lvl4pPr>
              <a:defRPr sz="330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4pPr>
            <a:lvl5pPr>
              <a:defRPr sz="330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5pPr>
            <a:lvl6pPr>
              <a:defRPr sz="330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6pPr>
            <a:lvl7pPr>
              <a:defRPr sz="330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7pPr>
            <a:lvl8pPr>
              <a:defRPr sz="330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8pPr>
            <a:lvl9pPr>
              <a:defRPr sz="330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pPr>
            <a:r>
              <a:rPr sz="3300" b="0">
                <a:solidFill>
                  <a:srgbClr val="17242B"/>
                </a:solidFill>
                <a:latin typeface="Arial"/>
                <a:ea typeface="Arial"/>
                <a:cs typeface="Arial"/>
              </a:rPr>
              <a:t>Guardrails live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546EC8-5684-4969-BCD8-48E22A3CB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5757B"/>
                </a:solidFill>
                <a:latin typeface="Arial"/>
                <a:ea typeface="Arial"/>
                <a:cs typeface="Arial"/>
              </a:rPr>
              <a:t>Missing safety information causes abstention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082FBA-3D2E-4F68-A25C-F891111DC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90750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0E766E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0E766E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0E766E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0E766E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0E766E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0E766E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0E766E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0E766E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0E766E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0E766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0E766E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0E766E"/>
                </a:solidFill>
                <a:latin typeface="Arial"/>
                <a:ea typeface="Arial"/>
                <a:cs typeface="Arial"/>
              </a:rPr>
              <a:t>Contraception, thyroid and prolactin flags, age and pregnancy-related states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7E4D35-84C7-4104-9FC2-3758C8BA9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19438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42B"/>
                </a:solidFill>
                <a:latin typeface="Arial"/>
                <a:ea typeface="Arial"/>
                <a:cs typeface="Arial"/>
              </a:rPr>
              <a:t>Early post-menarche, perimenopause and insufficient observed temperature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BA1641-5EFA-4B44-B637-F8F2559AE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48125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42B"/>
                </a:solidFill>
                <a:latin typeface="Arial"/>
                <a:ea typeface="Arial"/>
                <a:cs typeface="Arial"/>
              </a:rPr>
              <a:t>Withholding removes personal scores, intervals, explanations, sandbox outputs and alerts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D3073D-0DB5-42C3-B17E-C47E54680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76813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42B"/>
                </a:solidFill>
                <a:latin typeface="Arial"/>
                <a:ea typeface="Arial"/>
                <a:cs typeface="Arial"/>
              </a:rPr>
              <a:t>The workflow is synthetic and its safety effectiveness has not been clinically evaluated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F6F0E5-E27D-4820-A77F-9A87A7F25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5757B"/>
                </a:solidFill>
                <a:latin typeface="Arial"/>
                <a:ea typeface="Arial"/>
                <a:cs typeface="Arial"/>
              </a:rPr>
              <a:t>Synthetic research prototype. Not for diagnosis, contraception or conception planning.</a:t>
            </a:r>
          </a:p>
        </p:txBody>
      </p:sp>
    </p:spTree>
    <p:extLst>
      <p:ext uri="{BB962C8B-B14F-4D97-AF65-F5344CB8AC3E}">
        <p14:creationId xmlns:p14="http://schemas.microsoft.com/office/powerpoint/2010/main" val="504867335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D43BA5-2F48-428C-818F-E7C66CBB3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defPPr>
            <a:lvl1pPr>
              <a:defRPr sz="330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1pPr>
            <a:lvl2pPr>
              <a:defRPr sz="330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2pPr>
            <a:lvl3pPr>
              <a:defRPr sz="330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3pPr>
            <a:lvl4pPr>
              <a:defRPr sz="330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4pPr>
            <a:lvl5pPr>
              <a:defRPr sz="330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5pPr>
            <a:lvl6pPr>
              <a:defRPr sz="330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6pPr>
            <a:lvl7pPr>
              <a:defRPr sz="330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7pPr>
            <a:lvl8pPr>
              <a:defRPr sz="330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8pPr>
            <a:lvl9pPr>
              <a:defRPr sz="330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pPr>
            <a:r>
              <a:rPr sz="3300" b="0">
                <a:solidFill>
                  <a:srgbClr val="17242B"/>
                </a:solidFill>
                <a:latin typeface="Arial"/>
                <a:ea typeface="Arial"/>
                <a:cs typeface="Arial"/>
              </a:rPr>
              <a:t>The twin and assumption sandbox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9635B2-17AA-4842-9AD4-0388D8CA0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5757B"/>
                </a:solidFill>
                <a:latin typeface="Arial"/>
                <a:ea typeface="Arial"/>
                <a:cs typeface="Arial"/>
              </a:rPr>
              <a:t>Clear boundaries around simulated physiology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145585-75FE-4F34-BB11-197C3E8D5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90750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0E766E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0E766E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0E766E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0E766E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0E766E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0E766E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0E766E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0E766E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0E766E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0E766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0E766E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0E766E"/>
                </a:solidFill>
                <a:latin typeface="Arial"/>
                <a:ea typeface="Arial"/>
                <a:cs typeface="Arial"/>
              </a:rPr>
              <a:t>Reproductive and metabolic equations generate an illustrative state trajectory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1B894C-2768-427D-83F1-3B08CB74A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19438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42B"/>
                </a:solidFill>
                <a:latin typeface="Arial"/>
                <a:ea typeface="Arial"/>
                <a:cs typeface="Arial"/>
              </a:rPr>
              <a:t>The twin does not affect the logistic score or its reported performance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56F0C3-BB92-4792-A1F1-63949C9FE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48125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42B"/>
                </a:solidFill>
                <a:latin typeface="Arial"/>
                <a:ea typeface="Arial"/>
                <a:cs typeface="Arial"/>
              </a:rPr>
              <a:t>The sandbox edits invented model inputs. It does not predict a treatment effect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2A3AC3-C354-4265-8130-AAEFDC171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76813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42B"/>
                </a:solidFill>
                <a:latin typeface="Arial"/>
                <a:ea typeface="Arial"/>
                <a:cs typeface="Arial"/>
              </a:rPr>
              <a:t>Glucose threshold crossings are simulated counts, not an evaluated glucose forecast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84E51D-D810-4770-8736-BC8655240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5757B"/>
                </a:solidFill>
                <a:latin typeface="Arial"/>
                <a:ea typeface="Arial"/>
                <a:cs typeface="Arial"/>
              </a:rPr>
              <a:t>Synthetic research prototype. Not for diagnosis, contraception or conception planning.</a:t>
            </a:r>
          </a:p>
        </p:txBody>
      </p:sp>
    </p:spTree>
    <p:extLst>
      <p:ext uri="{BB962C8B-B14F-4D97-AF65-F5344CB8AC3E}">
        <p14:creationId xmlns:p14="http://schemas.microsoft.com/office/powerpoint/2010/main" val="1907307906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CA82B7-2310-4592-95F0-94646B6C7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defPPr>
            <a:lvl1pPr>
              <a:defRPr sz="330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1pPr>
            <a:lvl2pPr>
              <a:defRPr sz="330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2pPr>
            <a:lvl3pPr>
              <a:defRPr sz="330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3pPr>
            <a:lvl4pPr>
              <a:defRPr sz="330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4pPr>
            <a:lvl5pPr>
              <a:defRPr sz="330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5pPr>
            <a:lvl6pPr>
              <a:defRPr sz="330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6pPr>
            <a:lvl7pPr>
              <a:defRPr sz="330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7pPr>
            <a:lvl8pPr>
              <a:defRPr sz="330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8pPr>
            <a:lvl9pPr>
              <a:defRPr sz="330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pPr>
            <a:r>
              <a:rPr sz="3300" b="0">
                <a:solidFill>
                  <a:srgbClr val="17242B"/>
                </a:solidFill>
                <a:latin typeface="Arial"/>
                <a:ea typeface="Arial"/>
                <a:cs typeface="Arial"/>
              </a:rPr>
              <a:t>Where it fails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BAF06D-F16B-43E9-B734-93889B26D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5757B"/>
                </a:solidFill>
                <a:latin typeface="Arial"/>
                <a:ea typeface="Arial"/>
                <a:cs typeface="Arial"/>
              </a:rPr>
              <a:t>All declared Kushi scenarios remain visible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774AF3-36A1-483F-B949-00E9358E2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90750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0E766E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0E766E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0E766E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0E766E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0E766E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0E766E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0E766E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0E766E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0E766E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0E766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0E766E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0E766E"/>
                </a:solidFill>
                <a:latin typeface="Arial"/>
                <a:ea typeface="Arial"/>
                <a:cs typeface="Arial"/>
              </a:rPr>
              <a:t>Display the fixed scenario seeds with misses, false alarms or withholding unchanged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E5AA31-C254-4724-9FB1-63ACD00AD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19438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42B"/>
                </a:solidFill>
                <a:latin typeface="Arial"/>
                <a:ea typeface="Arial"/>
                <a:cs typeface="Arial"/>
              </a:rPr>
              <a:t>Different snapshots can fall back to calendar even when sensors are available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179B1F-9234-4ECF-B6D6-55FD190CE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48125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42B"/>
                </a:solidFill>
                <a:latin typeface="Arial"/>
                <a:ea typeface="Arial"/>
                <a:cs typeface="Arial"/>
              </a:rPr>
              <a:t>A class set containing both outcomes does not identify one result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83AA6E-51D6-4EC2-BFAE-2963D3548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76813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42B"/>
                </a:solidFill>
                <a:latin typeface="Arial"/>
                <a:ea typeface="Arial"/>
                <a:cs typeface="Arial"/>
              </a:rPr>
              <a:t>Robustness, timing-posterior and conformal evidence are reported; the heuristic day band fails its frozen coverage check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0948C4-F876-4F13-950B-B70424DD3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5757B"/>
                </a:solidFill>
                <a:latin typeface="Arial"/>
                <a:ea typeface="Arial"/>
                <a:cs typeface="Arial"/>
              </a:rPr>
              <a:t>Synthetic research prototype. Not for diagnosis, contraception or conception planning.</a:t>
            </a:r>
          </a:p>
        </p:txBody>
      </p:sp>
    </p:spTree>
    <p:extLst>
      <p:ext uri="{BB962C8B-B14F-4D97-AF65-F5344CB8AC3E}">
        <p14:creationId xmlns:p14="http://schemas.microsoft.com/office/powerpoint/2010/main" val="1804037127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A698AD-5425-4AB2-8B23-EBF26A30E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defPPr>
            <a:lvl1pPr>
              <a:defRPr sz="330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1pPr>
            <a:lvl2pPr>
              <a:defRPr sz="330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2pPr>
            <a:lvl3pPr>
              <a:defRPr sz="330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3pPr>
            <a:lvl4pPr>
              <a:defRPr sz="330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4pPr>
            <a:lvl5pPr>
              <a:defRPr sz="330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5pPr>
            <a:lvl6pPr>
              <a:defRPr sz="330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6pPr>
            <a:lvl7pPr>
              <a:defRPr sz="330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7pPr>
            <a:lvl8pPr>
              <a:defRPr sz="330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8pPr>
            <a:lvl9pPr>
              <a:defRPr sz="330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pPr>
            <a:r>
              <a:rPr sz="3300" b="0">
                <a:solidFill>
                  <a:srgbClr val="17242B"/>
                </a:solidFill>
                <a:latin typeface="Arial"/>
                <a:ea typeface="Arial"/>
                <a:cs typeface="Arial"/>
              </a:rPr>
              <a:t>Validity limits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91A237-2F03-4C00-9781-56008F425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5757B"/>
                </a:solidFill>
                <a:latin typeface="Arial"/>
                <a:ea typeface="Arial"/>
                <a:cs typeface="Arial"/>
              </a:rPr>
              <a:t>Synthetic recovery is not prospective evidence in women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4ADBB3-7A69-4731-97DF-57BF215EB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90750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0E766E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0E766E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0E766E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0E766E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0E766E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0E766E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0E766E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0E766E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0E766E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0E766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0E766E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0E766E"/>
                </a:solidFill>
                <a:latin typeface="Arial"/>
                <a:ea typeface="Arial"/>
                <a:cs typeface="Arial"/>
              </a:rPr>
              <a:t>Labels and sensor changes share generator assumptions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E1F768-E5E3-4C42-890B-6CC4B641C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19438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42B"/>
                </a:solidFill>
                <a:latin typeface="Arial"/>
                <a:ea typeface="Arial"/>
                <a:cs typeface="Arial"/>
              </a:rPr>
              <a:t>EHR-lite includes a label-generating internal latent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786115-2CF5-4383-A3DA-29924C4A4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48125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42B"/>
                </a:solidFill>
                <a:latin typeface="Arial"/>
                <a:ea typeface="Arial"/>
                <a:cs typeface="Arial"/>
              </a:rPr>
              <a:t>Old test seeds were reused during development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0C1D4F-4159-4D49-87AD-DEA86A0EF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76813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42B"/>
                </a:solidFill>
                <a:latin typeface="Arial"/>
                <a:ea typeface="Arial"/>
                <a:cs typeface="Arial"/>
              </a:rPr>
              <a:t>The frozen synthetic sequential alert policy is evaluated; robustness and clinical safety effectiveness remain separate work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A568B5-5BE0-41F2-A99F-98E8F6859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5757B"/>
                </a:solidFill>
                <a:latin typeface="Arial"/>
                <a:ea typeface="Arial"/>
                <a:cs typeface="Arial"/>
              </a:rPr>
              <a:t>Synthetic research prototype. Not for diagnosis, contraception or conception planning.</a:t>
            </a:r>
          </a:p>
        </p:txBody>
      </p:sp>
    </p:spTree>
    <p:extLst>
      <p:ext uri="{BB962C8B-B14F-4D97-AF65-F5344CB8AC3E}">
        <p14:creationId xmlns:p14="http://schemas.microsoft.com/office/powerpoint/2010/main" val="143155237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F4AB8A-6B0E-42C6-9080-8147B2E10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defPPr>
            <a:lvl1pPr>
              <a:defRPr sz="330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1pPr>
            <a:lvl2pPr>
              <a:defRPr sz="330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2pPr>
            <a:lvl3pPr>
              <a:defRPr sz="330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3pPr>
            <a:lvl4pPr>
              <a:defRPr sz="330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4pPr>
            <a:lvl5pPr>
              <a:defRPr sz="330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5pPr>
            <a:lvl6pPr>
              <a:defRPr sz="330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6pPr>
            <a:lvl7pPr>
              <a:defRPr sz="330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7pPr>
            <a:lvl8pPr>
              <a:defRPr sz="330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8pPr>
            <a:lvl9pPr>
              <a:defRPr sz="330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pPr>
            <a:r>
              <a:rPr sz="3300" b="0">
                <a:solidFill>
                  <a:srgbClr val="17242B"/>
                </a:solidFill>
                <a:latin typeface="Arial"/>
                <a:ea typeface="Arial"/>
                <a:cs typeface="Arial"/>
              </a:rPr>
              <a:t>Reproducible demonstration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C4D24A-6376-440B-A567-D63B7C142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5757B"/>
                </a:solidFill>
                <a:latin typeface="Arial"/>
                <a:ea typeface="Arial"/>
                <a:cs typeface="Arial"/>
              </a:rPr>
              <a:t>Public source, inspectable artifacts and explicit next work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E5373C-16F0-47E3-956D-E60ED9947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90750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0E766E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0E766E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0E766E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0E766E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0E766E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0E766E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0E766E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0E766E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0E766E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0E766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0E766E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0E766E"/>
                </a:solidFill>
                <a:latin typeface="Arial"/>
                <a:ea typeface="Arial"/>
                <a:cs typeface="Arial"/>
              </a:rPr>
              <a:t>README, model cards and the audit link every claim to evidence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DA73D8-7598-4395-8CE1-2F6CC8B93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19438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42B"/>
                </a:solidFill>
                <a:latin typeface="Arial"/>
                <a:ea typeface="Arial"/>
                <a:cs typeface="Arial"/>
              </a:rPr>
              <a:t>Persisted inference reproduces the benchmark and exposes exact feature calculations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120630-54E0-4D17-AFB5-4447A597E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48125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42B"/>
                </a:solidFill>
                <a:latin typeface="Arial"/>
                <a:ea typeface="Arial"/>
                <a:cs typeface="Arial"/>
              </a:rPr>
              <a:t>The required video remains a human recording and upload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79ACD1-38A5-4E3C-B991-78025322A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76813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42B"/>
                </a:solidFill>
                <a:latin typeface="Arial"/>
                <a:ea typeface="Arial"/>
                <a:cs typeface="Arial"/>
              </a:rPr>
              <a:t>Clinical validation, clinician feedback and sim-to-real evaluation remain outstanding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08655A-BFE3-4EAE-8670-2BC0DBA4E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5757B"/>
                </a:solidFill>
                <a:latin typeface="Arial"/>
                <a:ea typeface="Arial"/>
                <a:cs typeface="Arial"/>
              </a:rPr>
              <a:t>Synthetic research prototype. Not for diagnosis, contraception or conception planning.</a:t>
            </a:r>
          </a:p>
        </p:txBody>
      </p:sp>
    </p:spTree>
    <p:extLst>
      <p:ext uri="{BB962C8B-B14F-4D97-AF65-F5344CB8AC3E}">
        <p14:creationId xmlns:p14="http://schemas.microsoft.com/office/powerpoint/2010/main" val="139859849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2026-10-20T09:17:43.7810000Z</dcterms:created>
  <dcterms:modified xsi:type="dcterms:W3CDTF">2026-10-20T09:17:43.7810000Z</dcterms:modified>
</coreProperties>
</file>