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cfb7575e604941" /><Relationship Type="http://schemas.openxmlformats.org/officeDocument/2006/relationships/extended-properties" Target="/docProps/app.xml" Id="Ra22fa7d422c5453f" /><Relationship Type="http://schemas.openxmlformats.org/officeDocument/2006/relationships/officeDocument" Target="/ppt/presentation.xml" Id="Reef911b2cf7d4ac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4b2b306ac1411a"/>
  </p:sldMasterIdLst>
  <p:notesMasterIdLst>
    <p:notesMasterId xmlns:r="http://schemas.openxmlformats.org/officeDocument/2006/relationships" r:id="R0ee218450be24b36"/>
  </p:notesMasterIdLst>
  <p:sldIdLst>
    <p:sldId xmlns:r="http://schemas.openxmlformats.org/officeDocument/2006/relationships" id="256" r:id="R695bac98c1c0432b"/>
    <p:sldId xmlns:r="http://schemas.openxmlformats.org/officeDocument/2006/relationships" id="257" r:id="R5394636ab84f4246"/>
    <p:sldId xmlns:r="http://schemas.openxmlformats.org/officeDocument/2006/relationships" id="258" r:id="R04ef364e87ef44f7"/>
    <p:sldId xmlns:r="http://schemas.openxmlformats.org/officeDocument/2006/relationships" id="259" r:id="R5bf18a3f164b489e"/>
    <p:sldId xmlns:r="http://schemas.openxmlformats.org/officeDocument/2006/relationships" id="260" r:id="Rb697f210bd8f407d"/>
    <p:sldId xmlns:r="http://schemas.openxmlformats.org/officeDocument/2006/relationships" id="261" r:id="R16900cbc94974a91"/>
    <p:sldId xmlns:r="http://schemas.openxmlformats.org/officeDocument/2006/relationships" id="262" r:id="Ra18051a655084944"/>
    <p:sldId xmlns:r="http://schemas.openxmlformats.org/officeDocument/2006/relationships" id="263" r:id="Rb9e8da5e47a845da"/>
    <p:sldId xmlns:r="http://schemas.openxmlformats.org/officeDocument/2006/relationships" id="264" r:id="R1d43e70da42e4e0e"/>
    <p:sldId xmlns:r="http://schemas.openxmlformats.org/officeDocument/2006/relationships" id="265" r:id="R9239a8b8f1a045a3"/>
    <p:sldId xmlns:r="http://schemas.openxmlformats.org/officeDocument/2006/relationships" id="266" r:id="R3215a47e987343eb"/>
    <p:sldId xmlns:r="http://schemas.openxmlformats.org/officeDocument/2006/relationships" id="267" r:id="R7d5f97eeffb3497d"/>
    <p:sldId xmlns:r="http://schemas.openxmlformats.org/officeDocument/2006/relationships" id="268" r:id="R14d8aa81aecb4323"/>
    <p:sldId xmlns:r="http://schemas.openxmlformats.org/officeDocument/2006/relationships" id="269" r:id="Rc89f3f7da84443d8"/>
    <p:sldId xmlns:r="http://schemas.openxmlformats.org/officeDocument/2006/relationships" id="270" r:id="Raff49510f8e64d9e"/>
    <p:sldId xmlns:r="http://schemas.openxmlformats.org/officeDocument/2006/relationships" id="271" r:id="R013cdb24f7bb4240"/>
    <p:sldId xmlns:r="http://schemas.openxmlformats.org/officeDocument/2006/relationships" id="272" r:id="Rba1c7dcd4a484e36"/>
    <p:sldId xmlns:r="http://schemas.openxmlformats.org/officeDocument/2006/relationships" id="273" r:id="Rc48b91dc1b804a70"/>
    <p:sldId xmlns:r="http://schemas.openxmlformats.org/officeDocument/2006/relationships" id="274" r:id="R2685fb2f203e487a"/>
    <p:sldId xmlns:r="http://schemas.openxmlformats.org/officeDocument/2006/relationships" id="275" r:id="R8b258c4d71a54700"/>
    <p:sldId xmlns:r="http://schemas.openxmlformats.org/officeDocument/2006/relationships" id="276" r:id="R56e0419dc89d4e8e"/>
    <p:sldId xmlns:r="http://schemas.openxmlformats.org/officeDocument/2006/relationships" id="277" r:id="R94f1d922b2a74c3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5c3a8a8ce944942" /><Relationship Type="http://schemas.openxmlformats.org/officeDocument/2006/relationships/slideMaster" Target="/ppt/slideMasters/slideMaster1.xml" Id="R7d4b2b306ac1411a" /><Relationship Type="http://schemas.openxmlformats.org/officeDocument/2006/relationships/notesMaster" Target="/ppt/notesMasters/notesMaster1.xml" Id="R0ee218450be24b36" /><Relationship Type="http://schemas.openxmlformats.org/officeDocument/2006/relationships/presProps" Target="/ppt/presProps.xml" Id="R371f388731404e29" /><Relationship Type="http://schemas.openxmlformats.org/officeDocument/2006/relationships/tableStyles" Target="/ppt/tableStyles.xml" Id="Rd1579229a1d347d1" /><Relationship Type="http://schemas.openxmlformats.org/officeDocument/2006/relationships/slide" Target="/ppt/slides/slide1.xml" Id="R695bac98c1c0432b" /><Relationship Type="http://schemas.openxmlformats.org/officeDocument/2006/relationships/slide" Target="/ppt/slides/slide2.xml" Id="R5394636ab84f4246" /><Relationship Type="http://schemas.openxmlformats.org/officeDocument/2006/relationships/slide" Target="/ppt/slides/slide3.xml" Id="R04ef364e87ef44f7" /><Relationship Type="http://schemas.openxmlformats.org/officeDocument/2006/relationships/slide" Target="/ppt/slides/slide4.xml" Id="R5bf18a3f164b489e" /><Relationship Type="http://schemas.openxmlformats.org/officeDocument/2006/relationships/slide" Target="/ppt/slides/slide5.xml" Id="Rb697f210bd8f407d" /><Relationship Type="http://schemas.openxmlformats.org/officeDocument/2006/relationships/slide" Target="/ppt/slides/slide6.xml" Id="R16900cbc94974a91" /><Relationship Type="http://schemas.openxmlformats.org/officeDocument/2006/relationships/slide" Target="/ppt/slides/slide7.xml" Id="Ra18051a655084944" /><Relationship Type="http://schemas.openxmlformats.org/officeDocument/2006/relationships/slide" Target="/ppt/slides/slide8.xml" Id="Rb9e8da5e47a845da" /><Relationship Type="http://schemas.openxmlformats.org/officeDocument/2006/relationships/slide" Target="/ppt/slides/slide9.xml" Id="R1d43e70da42e4e0e" /><Relationship Type="http://schemas.openxmlformats.org/officeDocument/2006/relationships/slide" Target="/ppt/slides/slide10.xml" Id="R9239a8b8f1a045a3" /><Relationship Type="http://schemas.openxmlformats.org/officeDocument/2006/relationships/slide" Target="/ppt/slides/slide11.xml" Id="R3215a47e987343eb" /><Relationship Type="http://schemas.openxmlformats.org/officeDocument/2006/relationships/slide" Target="/ppt/slides/slide12.xml" Id="R7d5f97eeffb3497d" /><Relationship Type="http://schemas.openxmlformats.org/officeDocument/2006/relationships/slide" Target="/ppt/slides/slide13.xml" Id="R14d8aa81aecb4323" /><Relationship Type="http://schemas.openxmlformats.org/officeDocument/2006/relationships/slide" Target="/ppt/slides/slide14.xml" Id="Rc89f3f7da84443d8" /><Relationship Type="http://schemas.openxmlformats.org/officeDocument/2006/relationships/slide" Target="/ppt/slides/slide15.xml" Id="Raff49510f8e64d9e" /><Relationship Type="http://schemas.openxmlformats.org/officeDocument/2006/relationships/slide" Target="/ppt/slides/slide16.xml" Id="R013cdb24f7bb4240" /><Relationship Type="http://schemas.openxmlformats.org/officeDocument/2006/relationships/slide" Target="/ppt/slides/slide17.xml" Id="Rba1c7dcd4a484e36" /><Relationship Type="http://schemas.openxmlformats.org/officeDocument/2006/relationships/slide" Target="/ppt/slides/slide18.xml" Id="Rc48b91dc1b804a70" /><Relationship Type="http://schemas.openxmlformats.org/officeDocument/2006/relationships/slide" Target="/ppt/slides/slide19.xml" Id="R2685fb2f203e487a" /><Relationship Type="http://schemas.openxmlformats.org/officeDocument/2006/relationships/slide" Target="/ppt/slides/slide20.xml" Id="R8b258c4d71a54700" /><Relationship Type="http://schemas.openxmlformats.org/officeDocument/2006/relationships/slide" Target="/ppt/slides/slide21.xml" Id="R56e0419dc89d4e8e" /><Relationship Type="http://schemas.openxmlformats.org/officeDocument/2006/relationships/slide" Target="/ppt/slides/slide22.xml" Id="R94f1d922b2a74c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6712331153410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d9226895364f3d" /><Relationship Type="http://schemas.openxmlformats.org/officeDocument/2006/relationships/notesMaster" Target="/ppt/notesMasters/notesMaster1.xml" Id="R4747a50f04d34f4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ffcdf6ef084815" /><Relationship Type="http://schemas.openxmlformats.org/officeDocument/2006/relationships/notesMaster" Target="/ppt/notesMasters/notesMaster1.xml" Id="R54dc9b90b94241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35fb10c8e874ca7" /><Relationship Type="http://schemas.openxmlformats.org/officeDocument/2006/relationships/notesMaster" Target="/ppt/notesMasters/notesMaster1.xml" Id="R957eb39606d142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2a74cdbfe943c4" /><Relationship Type="http://schemas.openxmlformats.org/officeDocument/2006/relationships/notesMaster" Target="/ppt/notesMasters/notesMaster1.xml" Id="R0cdbbe32d52d45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3df37ea4f14899" /><Relationship Type="http://schemas.openxmlformats.org/officeDocument/2006/relationships/notesMaster" Target="/ppt/notesMasters/notesMaster1.xml" Id="R7335b5915029433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36aaad8b0b4e45" /><Relationship Type="http://schemas.openxmlformats.org/officeDocument/2006/relationships/notesMaster" Target="/ppt/notesMasters/notesMaster1.xml" Id="R0c0644ebd70e4c3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52aa33ac68241ec" /><Relationship Type="http://schemas.openxmlformats.org/officeDocument/2006/relationships/notesMaster" Target="/ppt/notesMasters/notesMaster1.xml" Id="Ree75bfcfe58a45f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8978678835241dd" /><Relationship Type="http://schemas.openxmlformats.org/officeDocument/2006/relationships/notesMaster" Target="/ppt/notesMasters/notesMaster1.xml" Id="Rec6695013ca9402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9bbf506efd4d86" /><Relationship Type="http://schemas.openxmlformats.org/officeDocument/2006/relationships/notesMaster" Target="/ppt/notesMasters/notesMaster1.xml" Id="R8e02a6703a68482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4922c0f8b384035" /><Relationship Type="http://schemas.openxmlformats.org/officeDocument/2006/relationships/notesMaster" Target="/ppt/notesMasters/notesMaster1.xml" Id="R592f599182ab443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2e173f32a044482" /><Relationship Type="http://schemas.openxmlformats.org/officeDocument/2006/relationships/notesMaster" Target="/ppt/notesMasters/notesMaster1.xml" Id="R9f8d27cd2b444f8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5ca3f3494f54620" /><Relationship Type="http://schemas.openxmlformats.org/officeDocument/2006/relationships/notesMaster" Target="/ppt/notesMasters/notesMaster1.xml" Id="Ra3e38d32767a493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a305f222d6a4967" /><Relationship Type="http://schemas.openxmlformats.org/officeDocument/2006/relationships/notesMaster" Target="/ppt/notesMasters/notesMaster1.xml" Id="R1251cde4447c47d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31166fc57a94c92" /><Relationship Type="http://schemas.openxmlformats.org/officeDocument/2006/relationships/notesMaster" Target="/ppt/notesMasters/notesMaster1.xml" Id="Re87413c5cf054cc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619d85f383c4c16" /><Relationship Type="http://schemas.openxmlformats.org/officeDocument/2006/relationships/notesMaster" Target="/ppt/notesMasters/notesMaster1.xml" Id="Ra0ce0ae09b6a4a1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32751693ae44717" /><Relationship Type="http://schemas.openxmlformats.org/officeDocument/2006/relationships/notesMaster" Target="/ppt/notesMasters/notesMaster1.xml" Id="Rceacf3a6b54a4e9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6a07e7a94534ef7" /><Relationship Type="http://schemas.openxmlformats.org/officeDocument/2006/relationships/notesMaster" Target="/ppt/notesMasters/notesMaster1.xml" Id="Ra4ee4534cf0c485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97525ab067745ce" /><Relationship Type="http://schemas.openxmlformats.org/officeDocument/2006/relationships/notesMaster" Target="/ppt/notesMasters/notesMaster1.xml" Id="R7f84df79d6934a9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3b1c9f82b584ac4" /><Relationship Type="http://schemas.openxmlformats.org/officeDocument/2006/relationships/notesMaster" Target="/ppt/notesMasters/notesMaster1.xml" Id="R7a748310a8284b6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6b1a2c348c04efc" /><Relationship Type="http://schemas.openxmlformats.org/officeDocument/2006/relationships/notesMaster" Target="/ppt/notesMasters/notesMaster1.xml" Id="R99045551f90f408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61934fcfdc9454e" /><Relationship Type="http://schemas.openxmlformats.org/officeDocument/2006/relationships/notesMaster" Target="/ppt/notesMasters/notesMaster1.xml" Id="R091e85462a35402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72614d96f1b48d9" /><Relationship Type="http://schemas.openxmlformats.org/officeDocument/2006/relationships/notesMaster" Target="/ppt/notesMasters/notesMaster1.xml" Id="Rebbab9bcc43e4c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Cycle-by-cycle late or absent ovulation research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Monitoring irregular cycles without claiming a PMOS diagnosis Primary population-context source: https://pmc.ncbi.nlm.nih.gov/articles/PMC11581580/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Fictional synthetic persona - not a real patient - not performance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EHR-lite is implemented and explicitly oracle-adjacent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The dashboard loads the same persisted pipeline used by the benchmark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Every explicit operating choice uses train or validation 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Predeclared temperature sensor tier, descriptive seed means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Earliest safe threshold crossing only; all values are synthetic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Fixed Tier-2 day-18 model and threshold under predeclared perturbations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Train-only calendar/static prior plus temperature, RHR and HRV likelihoods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Decision-support research display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Missing safety information causes abstention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Clear boundaries around simulated physiology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All declared Kushi scenarios remain visible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Synthetic recovery is not prospective evidence in women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Public source, inspectable artifacts and explicit next work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d6b25b6da5422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a024f9a8ab4cf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eb486d0430496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7233733749474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c144dcef2e46a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99a23ff54b41a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77F06F7-32FE-44DB-8EB9-560596C204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E9130B4-6C3A-4E4D-811C-86749CF20C2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8C0A094-9516-4F02-84CE-1F385BB76C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D002F4D-C3A4-4858-9E20-CE351157AC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E5EBCEE-4E2F-49F4-B9D9-E7021809EF5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DB45550-1C0C-4A4F-84D8-C18C6A72EC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73D95C7-8DE8-4B9C-8AE4-5213287311F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D6EBFD3-EECE-4A8D-9786-7B5BEB87FCC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49C918-9E93-4B90-BE6D-A7392972BB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672C0EA-50BE-449A-92CD-10BB28EC64B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47f44d00671474b" /><Relationship Type="http://schemas.openxmlformats.org/officeDocument/2006/relationships/slideLayout" Target="/ppt/slideLayouts/slideLayout1.xml" Id="R9dcda54b3e604ce0" /><Relationship Type="http://schemas.openxmlformats.org/officeDocument/2006/relationships/slideLayout" Target="/ppt/slideLayouts/slideLayout2.xml" Id="Rc579450d0d7d4c38" /><Relationship Type="http://schemas.openxmlformats.org/officeDocument/2006/relationships/slideLayout" Target="/ppt/slideLayouts/slideLayout3.xml" Id="R0c64d66b480b4f70" /><Relationship Type="http://schemas.openxmlformats.org/officeDocument/2006/relationships/slideLayout" Target="/ppt/slideLayouts/slideLayout4.xml" Id="R80db90f79d9c4bed" /><Relationship Type="http://schemas.openxmlformats.org/officeDocument/2006/relationships/slideLayout" Target="/ppt/slideLayouts/slideLayout5.xml" Id="Ra6a3bc7ef01445db" /><Relationship Type="http://schemas.openxmlformats.org/officeDocument/2006/relationships/slideLayout" Target="/ppt/slideLayouts/slideLayout6.xml" Id="Ref4cb8964aba4b5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cda54b3e604ce0"/>
    <p:sldLayoutId xmlns:r="http://schemas.openxmlformats.org/officeDocument/2006/relationships" id="2147483650" r:id="Rc579450d0d7d4c38"/>
    <p:sldLayoutId xmlns:r="http://schemas.openxmlformats.org/officeDocument/2006/relationships" id="2147483651" r:id="R0c64d66b480b4f70"/>
    <p:sldLayoutId xmlns:r="http://schemas.openxmlformats.org/officeDocument/2006/relationships" id="2147483652" r:id="R80db90f79d9c4bed"/>
    <p:sldLayoutId xmlns:r="http://schemas.openxmlformats.org/officeDocument/2006/relationships" id="2147483653" r:id="Ra6a3bc7ef01445db"/>
    <p:sldLayoutId xmlns:r="http://schemas.openxmlformats.org/officeDocument/2006/relationships" id="2147483654" r:id="Ref4cb8964aba4b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859dd6174b4c5f" /><Relationship Type="http://schemas.openxmlformats.org/officeDocument/2006/relationships/notesSlide" Target="/ppt/notesSlides/notesSlide1.xml" Id="R43c540b3babd465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dfd7b1174d4b42" /><Relationship Type="http://schemas.openxmlformats.org/officeDocument/2006/relationships/notesSlide" Target="/ppt/notesSlides/notesSlide2.xml" Id="R45b7e3bc34dd437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41ff48fb6a4f3f" /><Relationship Type="http://schemas.openxmlformats.org/officeDocument/2006/relationships/notesSlide" Target="/ppt/notesSlides/notesSlide3.xml" Id="R6f34dac5efb647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b8a767ef90425f" /><Relationship Type="http://schemas.openxmlformats.org/officeDocument/2006/relationships/notesSlide" Target="/ppt/notesSlides/notesSlide4.xml" Id="R91b2839d15e34e4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e953bbe1184dcd" /><Relationship Type="http://schemas.openxmlformats.org/officeDocument/2006/relationships/notesSlide" Target="/ppt/notesSlides/notesSlide5.xml" Id="R68f47535a002486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70bec77a9c43b7" /><Relationship Type="http://schemas.openxmlformats.org/officeDocument/2006/relationships/notesSlide" Target="/ppt/notesSlides/notesSlide6.xml" Id="Ra728ce847e6a48e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45e526149e4ec7" /><Relationship Type="http://schemas.openxmlformats.org/officeDocument/2006/relationships/notesSlide" Target="/ppt/notesSlides/notesSlide7.xml" Id="Rbad9dafc997945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bac589875e4bfa" /><Relationship Type="http://schemas.openxmlformats.org/officeDocument/2006/relationships/notesSlide" Target="/ppt/notesSlides/notesSlide8.xml" Id="R79e14f4cc1d64d0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592b563d9844cf" /><Relationship Type="http://schemas.openxmlformats.org/officeDocument/2006/relationships/notesSlide" Target="/ppt/notesSlides/notesSlide9.xml" Id="R032206776ea0459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92845a32ee48e8" /><Relationship Type="http://schemas.openxmlformats.org/officeDocument/2006/relationships/notesSlide" Target="/ppt/notesSlides/notesSlide10.xml" Id="Rf630bc520510463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21cce521cf4430" /><Relationship Type="http://schemas.openxmlformats.org/officeDocument/2006/relationships/notesSlide" Target="/ppt/notesSlides/notesSlide11.xml" Id="R94f14efcdcaa429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632e3255e44b82" /><Relationship Type="http://schemas.openxmlformats.org/officeDocument/2006/relationships/notesSlide" Target="/ppt/notesSlides/notesSlide12.xml" Id="R31ed7aeea91a4bc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da7e6a78fa4891" /><Relationship Type="http://schemas.openxmlformats.org/officeDocument/2006/relationships/notesSlide" Target="/ppt/notesSlides/notesSlide13.xml" Id="Re7802ecbad9143c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f636b5b7404f10" /><Relationship Type="http://schemas.openxmlformats.org/officeDocument/2006/relationships/notesSlide" Target="/ppt/notesSlides/notesSlide14.xml" Id="Ra6560fdb4f514e8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504644e7304352" /><Relationship Type="http://schemas.openxmlformats.org/officeDocument/2006/relationships/notesSlide" Target="/ppt/notesSlides/notesSlide15.xml" Id="Rcbfc2b8cb9e3496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4e910fa70040ea" /><Relationship Type="http://schemas.openxmlformats.org/officeDocument/2006/relationships/notesSlide" Target="/ppt/notesSlides/notesSlide16.xml" Id="Rb504634b64374ef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206ff336f64623" /><Relationship Type="http://schemas.openxmlformats.org/officeDocument/2006/relationships/notesSlide" Target="/ppt/notesSlides/notesSlide17.xml" Id="R370fca6264734c5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c247a8ba57404b" /><Relationship Type="http://schemas.openxmlformats.org/officeDocument/2006/relationships/notesSlide" Target="/ppt/notesSlides/notesSlide18.xml" Id="R723c1306342546d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fd7dd0e61c48d4" /><Relationship Type="http://schemas.openxmlformats.org/officeDocument/2006/relationships/notesSlide" Target="/ppt/notesSlides/notesSlide19.xml" Id="Rd4edb3fcc72d442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551bba7a1d450b" /><Relationship Type="http://schemas.openxmlformats.org/officeDocument/2006/relationships/notesSlide" Target="/ppt/notesSlides/notesSlide20.xml" Id="R90c9dce10844473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b3355f6c094ccb" /><Relationship Type="http://schemas.openxmlformats.org/officeDocument/2006/relationships/notesSlide" Target="/ppt/notesSlides/notesSlide21.xml" Id="R08d7053bf472452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144d7ca5d44755" /><Relationship Type="http://schemas.openxmlformats.org/officeDocument/2006/relationships/notesSlide" Target="/ppt/notesSlides/notesSlide22.xml" Id="R703c6babe1cd4e0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BF2B04-30BA-441B-A906-6E3282F57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5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CycleTwin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5A2B1C-3A43-4803-ABC1-97213523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Cycle-by-cycle late or absent ovulation research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B36349-801F-48D8-AF92-5129D8F7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Team CycleTwin / VIT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131C46-E34F-48B3-B05B-3D6F461D6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fitted synthetic forecasting workflow with explicit safety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6855DD-6DBA-4AE3-96E2-7589462E6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Meet Kushi: fictional persona, never performance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AC38DF-C4E5-4628-92FE-B00C0C9F5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4454640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3FA923-A129-4B86-ADE5-D266928EF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research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0C5053-1F2F-40A8-99D7-B99FD17D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Monitoring irregular cycles without claiming a PMOS diagnosis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2ACD51-E3E6-4D36-9EC2-EDD9C7A24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Target: generated ovulation after the configured cutoff, or generated absence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D09C9D-194B-4604-9A2C-BFC7FC9A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India context: 7.2% by NIH criteria and 19.6% by Rotterdam criteria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5532D-FDFC-434D-A444-B4DA224B7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Published prevalence depends on definition. It is not the simulator mixture or model accuracy.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7C07C-73E7-4E33-BC36-8AC4782A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8341939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2BCE6F-83A8-4920-A9FF-B6BC0BB57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Meet Kushi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F479DD-8DBD-43D5-861C-6F956325A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Fictional synthetic persona - not a real patient - not performance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8B1AEC-D627-4297-9C1C-0852F495D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21 years, year 3 B.Tech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2BF0D0-6963-4107-9044-83FC66DA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Hostel life, exam-season sleep debt, mother with type 2 diabetes, smartwatch wearer.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BD3F3C-AFFA-4537-8A96-97FEA92E2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Actual generated past lengths: 41, 38, 41, 38, 44, 51 days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F81AD3-4096-4976-870C-D6C67DB0B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Selection uses generator truth and a declared seed, never predicted 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BF0BCD-3947-4D78-B577-99C0F090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1221209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B77D36-1F4A-4B65-93C8-BC05F6D8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Static and dynamic input streams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4477FA-E8BD-4354-8BC6-ABB0994C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EHR-lite is implemented and explicitly oracle-adjacent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F60EEF-E9D7-4B39-975D-D373A237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Static: generated IR latent, androgen, age, BMI and family history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F9B7CC-0792-430C-A811-17C8E9FB9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Dynamic: calendar history, RHR, HRV, steps, sleep and temperature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18484A-ACB1-45C7-9E6B-1E916FCC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measured hormone values. The XML parser demonstrates input shape only.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CE7735-DD07-43FB-AB1B-DB6426EF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7300044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CBB8F9-6D80-4CA3-9E54-206D832AADE2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620000" y="52149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88DFEF-09F1-45BF-81E2-79BDB5C6223A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906000" y="4000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7DC726-3813-4070-986E-0FF9B5F765BE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20000" y="34290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1B7FC1-0369-4C70-AF23-5AD825FD45E0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762375" y="3429000"/>
            <a:ext cx="714375" cy="738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505008-9083-4184-AC17-BE0D619ADBF1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62375" y="2738438"/>
            <a:ext cx="714375" cy="690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138987-B1C9-425D-AE19-9C49821FA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One fitted prediction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3BF6D7-3961-4B5A-AA23-3309DA0C9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The dashboard loads the same persisted pipeline used by the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EA7CAF-C51B-4762-9FC0-8A322B01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static EHR-lite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Oracle-adjacent internals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992975-EB28-472E-B853-7B5B0FCF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nightly data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Calendar and wearables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82D60A-82E8-40A4-9E36-5C2B9923C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Shared feature builder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 and scaling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E3088-31D9-47AB-979F-AE84446B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logistic model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calibration and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22B207-EE4D-46F5-822F-4E311160A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Fail-closed safety gate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 personal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E5DB1A-6A9F-48EE-8987-8316ADFE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Doctor / Kushi dashboard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Probability and exact contributions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9990B9-AF0E-4E81-8562-BBCA694C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illustrative twin</a:t>
            </a:r>
          </a:p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contribution to fitted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3E1A96-0CF0-47A7-8BAB-DE873D84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6340587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BF9165-7E8F-4983-AFF2-521A422AC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and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2C7E82-D213-4EF8-8363-722541417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Every explicit operating choice uses train or validation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C48302-E7D6-4F5C-BAF1-6CED674F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Patient counts per development seed: train 840, validation 180, test 180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5117A8-CC49-45A5-BE18-69E08BED4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medians and scaling, logistic regression, validation Platt calibration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47A0BE-DF8E-4B3B-9FB0-0F46B105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Brier-gain rule selects richer features or calendar fallback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303B32-ACAC-417F-BAAD-BF336AC3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F1 chooses the threshold. Test outcomes never choose that threshold.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CCF067-6BAC-420B-ACDD-B25A6806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852483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9A0F94-7C42-433A-A9CF-BE0AAC6E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A42DC6-04BE-4CC3-B515-0F41C257D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FA5D1A-31F7-452D-826E-803E4D3D7407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296C22-19ED-4800-AB83-B3F2F42AC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3765491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737BEF-C1A8-4388-B379-CAE33F608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A9357E-FA02-4E9E-9BA1-9CE0FB5D7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9C99CC-B63D-4FE3-8DB0-387263C04FD1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6.069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0.843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5.565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ED59BE-D1CE-44FC-9A86-7124B726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9987065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76E4FC-90E8-4829-8626-3B6EF14C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16E22F-DFFF-4105-B7EE-2248838AB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5FFD51-14FE-4074-BED7-203F2FAFBC3D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400D89-5CF6-421D-9DC7-B746CF87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0488832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A878E9-D170-4A8D-AD07-446C85BB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9FC808-5E48-41BF-8303-CFEDB814B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2B9613-3AD8-471B-B07F-30A158CD412F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8CAB5E-C02C-4CD9-9C3C-155B50510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7681767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1E2011-F41D-4F61-9B2B-282D1AC77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AFC7B6-BAF7-4328-AAD6-1F0D9DE76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7E8000-C7B8-4B0D-A1B0-5BFA38BA927E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5.251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5.251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6.790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6.319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FAD04B-A774-422F-8C71-396D46DA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85948466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EDAA76-FE6E-450C-873B-DA0E3DC9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A60F88-B236-4C3A-93FC-C4B943F3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0957BB-2C88-4F08-A9DB-381A0E69CC43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5.449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5.449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E6526E-0B66-4D16-9B0B-8BB19E42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22543848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5CCA5-6C5F-4BED-8797-A2A298FC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Evidence at the latest sensor snapshot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35E6A8-CB51-4DA6-A173-05E9E21A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Predeclared temperature sensor tier, descriptive seed means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C80600-4105-4467-A345-ED914C5C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Synthetic day 18, Tier 2: AUROC 0.907, Brier 0.117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3815A-5A92-4BD6-A3C5-BE2161D0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3,240 synthetic test cycles across 3 frozen seeds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478F83-B360-4875-A7B4-010637569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separate frozen evaluation artifact is available.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1BF974-125D-4AAD-AF5E-D7DAE24C7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Standard average precision and calibration diagnostics are available from stored predictions.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81710A-06EF-489A-AD64-3CFA2AF1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75006005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E1AC63-367D-4992-9E41-71E5500B2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sequential alert-policy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F7381E-17DB-4F4A-8274-5432CCAC3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Earliest safe threshold crossing only; all values are synthetic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33B667-CE48-4D43-9A1E-FC3C61434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Tier 2: 1,634 alerts across 3,240 generated cycles; alert precision 0.730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C47894-209D-49A3-9D15-1D627072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Missed generated events: 484/1,677 (0.289); false alerts: 1.484 per synthetic patient-year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2CA45-B07A-448D-9B22-9E7E18E9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Median generated-event lead time: 17.000 days among 790 true-positive cycles with a generated ovulation day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80441B-8A88-46F6-ABC0-7EDCA5FAF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Safety is evaluated at every snapshot; no later score can change an earlier alert.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69FAC9-6F53-4653-B7D9-F02D562B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05691756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FBF4B5-3148-4B30-8645-63FC19E1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robustness extension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D29735-459F-423E-9616-9118095E1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Fixed Tier-2 day-18 model and threshold under predeclared perturbations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B7AB17-DDB0-4FA6-9890-A1F10B34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At 60% additional forced missing temperature readings: AUROC 0.884, Brier 0.140, safety withholding 1.000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04DBB6-4E2F-481D-911C-9D5303DC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At +0.01°C/day drift: AUROC 0.906, Brier 0.300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70E202-63FF-48DC-B55B-8D6326863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At a +4-day generated timing shift on independent synthetic cohorts: AUROC 0.863, Brier 0.145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A78872-C538-40F1-A179-CBB91D79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These are simulator sensitivity tests, not device robustness or clinical validation.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A4DEA6-4D2C-4831-A115-23EA90177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66618006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9CA2B9-DCD0-4D14-AE39-AFD393AC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Timing-posterior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4580CC-F4E4-4AA1-ACAA-541E55A4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Train-only calendar/static prior plus temperature, RHR and HRV likelihoods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3D8A35-E605-4017-A2B3-6F4EC5D2E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Synthetic Bayesian-posterior Brier 0.098; fitted logistic Brier 0.117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DAE4A2-92F1-4641-99D6-5BE032E4B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Twin minus logistic Brier -0.018, patient-cluster 95% CI [-0.022, -0.014]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7A3CDF-8FA8-4714-A10E-CD6443EC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noninferior synthetic check; still separate interpretation layer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AFB353-6403-4E24-8CC6-2A948350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from the logistic score, threshold, safety gate and alert policy.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0F02EE-A90A-4C1A-A444-B50D1E54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97630297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C275CB-9B0C-46D0-900E-608E822F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What the clinician view shows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2A9559-1E6F-4435-80EE-A975E92E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Decision-support research display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7BAEE1-8E63-4793-ADCF-7C42DAD0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Fitted probability beside its own validation threshold and held-out model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9BE5A7-B70A-4917-A6F7-82FEDEBB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Exact additive feature contributions and explicit imputation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5B8A98-679C-4E7E-80C6-D5EB61411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Heuristic day estimate and conditional, illustrative day band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62B0B3-9EF4-428C-8107-6943EDE96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Data-quality ribbon and the reason for any withholding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F07C9F-058C-4A09-9879-8872048C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33563492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03ADC1-65EF-421C-B7F3-5DF4DB43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Guardrails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57B1FF-439B-405B-A118-C1B2B9DE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Missing safety information causes abstention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0373BF-F2E1-400C-AB89-0AB9AABB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Contraception, thyroid and prolactin flags, age and pregnancy-related states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8CFBA0-D076-4331-92E5-258AFB659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Early post-menarche, perimenopause and insufficient observed temperature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9CB254-0083-4C6F-AF8A-ED600A50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Withholding removes personal scores, intervals, explanations, sandbox outputs and alerts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563380-79D4-43AA-810C-2603607E2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workflow is synthetic and its safety effectiveness has not been clinically evaluated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1081EF-888B-4A4E-A168-AE5F83500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01420635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50CE4A-1EB4-4B6F-88D6-9C6DB1C1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twin and assumption sandbox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EBF43B-64F7-4C16-A9C2-84B0C5E30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Clear boundaries around simulated physiology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43D4DB-5672-4AC6-95DB-54FBD339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Reproductive and metabolic equations generate an illustrative state trajectory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BF4858-A229-4A71-9708-060FD134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twin does not affect the logistic score or its reported performance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25995D-82D3-421B-9F9D-855097C87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sandbox edits invented model inputs. It does not predict a treatment effect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8322C1-C531-4753-B7D2-E7FC58CB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Glucose threshold crossings are simulated counts, not an evaluated glucose forecast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585BEF-FAE3-4C84-BAED-8DB9BA56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92989875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6E1E29-1D95-4240-80E4-091E3BF3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Where it fails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564456-5546-4AF1-9BF5-E81F5748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All declared Kushi scenarios remain visible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9B6677-7A3A-4A0E-BDDB-4AFFEA4A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Display the fixed scenario seeds with misses, false alarms or withholding unchanged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08AE7-D375-4CCF-93FD-3532324A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Different snapshots can fall back to calendar even when sensors are available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D7E238-2C29-4309-B4D1-1B74AEBE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class set containing both outcomes does not identify one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C1F15F-2FD6-4CEE-A965-FBCBC681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Robustness, state-estimator and conformal coverage evidence remain separate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04461B-81D0-45F9-9586-77157159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46077496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3536E1-3090-4B90-87C9-C749DB08A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Validity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C5CEAE-46CA-4AEC-B70C-57C620C9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recovery is not prospective evidence in women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A6F038-1092-4294-9C35-6503EDC4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Labels and sensor changes share generator assumptions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95DB0B-2F24-4985-B7DA-BF5F0552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EHR-lite includes a label-generating internal latent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1288A-0D19-4BD4-A60D-75DAE659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Old test seeds were reused during development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1891AC-2AD3-4201-A6CA-82E2BFAA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frozen synthetic sequential alert policy is evaluated; robustness and clinical safety effectiveness remain separate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28D1FA-427B-48ED-B56B-CC11BD28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3490210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F5A707-1E3F-40EE-B767-959D96685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Reproducible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2DB348-E9A7-406D-8DA1-E9675C93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Public source, inspectable artifacts and explicit next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5BED6B-DB1D-450D-BC41-0C83E99E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README, model cards and the audit link every claim to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BF836F-DD14-409E-9C2C-AAF01E93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inference reproduces the benchmark and exposes exact feature calculations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8BE501-D8EA-440A-A767-BB5A2D32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required video remains a human recording and upload task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C28FB5-E8B1-47AD-9DFE-713D67A36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Clinical validation, clinician feedback and sim-to-real evaluation remain outstanding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3F0CCE-1937-4A1F-85D3-D421BE50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1711158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2026-10-20T09:09:22.6790000Z</dcterms:created>
  <dcterms:modified xsi:type="dcterms:W3CDTF">2026-10-20T09:09:22.6790000Z</dcterms:modified>
</coreProperties>
</file>