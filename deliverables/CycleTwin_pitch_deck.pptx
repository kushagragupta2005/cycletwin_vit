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d056af9001b40de" /><Relationship Type="http://schemas.openxmlformats.org/officeDocument/2006/relationships/extended-properties" Target="/docProps/app.xml" Id="R4273b12aee314432" /><Relationship Type="http://schemas.openxmlformats.org/officeDocument/2006/relationships/officeDocument" Target="/ppt/presentation.xml" Id="R71d1f9d5d60743d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a4f0b75980f426a"/>
  </p:sldMasterIdLst>
  <p:notesMasterIdLst>
    <p:notesMasterId xmlns:r="http://schemas.openxmlformats.org/officeDocument/2006/relationships" r:id="Rc6478a51685648fd"/>
  </p:notesMasterIdLst>
  <p:sldIdLst>
    <p:sldId xmlns:r="http://schemas.openxmlformats.org/officeDocument/2006/relationships" id="256" r:id="Rdbc00f4b37ca4f93"/>
    <p:sldId xmlns:r="http://schemas.openxmlformats.org/officeDocument/2006/relationships" id="257" r:id="R29d3cace6621486b"/>
    <p:sldId xmlns:r="http://schemas.openxmlformats.org/officeDocument/2006/relationships" id="258" r:id="Rd7f2df4460bc43e3"/>
    <p:sldId xmlns:r="http://schemas.openxmlformats.org/officeDocument/2006/relationships" id="259" r:id="R6c3cbe465c25474e"/>
    <p:sldId xmlns:r="http://schemas.openxmlformats.org/officeDocument/2006/relationships" id="260" r:id="Rf3d9a312ac5c41a4"/>
    <p:sldId xmlns:r="http://schemas.openxmlformats.org/officeDocument/2006/relationships" id="261" r:id="R9dabf320297640fd"/>
    <p:sldId xmlns:r="http://schemas.openxmlformats.org/officeDocument/2006/relationships" id="262" r:id="R143b4554a2b44463"/>
    <p:sldId xmlns:r="http://schemas.openxmlformats.org/officeDocument/2006/relationships" id="263" r:id="R4f374b8a6be44475"/>
    <p:sldId xmlns:r="http://schemas.openxmlformats.org/officeDocument/2006/relationships" id="264" r:id="R47613dfc89d64960"/>
    <p:sldId xmlns:r="http://schemas.openxmlformats.org/officeDocument/2006/relationships" id="265" r:id="R5f751f737d39492b"/>
    <p:sldId xmlns:r="http://schemas.openxmlformats.org/officeDocument/2006/relationships" id="266" r:id="Rfdf7f69de2dc4816"/>
    <p:sldId xmlns:r="http://schemas.openxmlformats.org/officeDocument/2006/relationships" id="267" r:id="R17b2a3885d18404d"/>
    <p:sldId xmlns:r="http://schemas.openxmlformats.org/officeDocument/2006/relationships" id="268" r:id="R4d9d4f6037164c03"/>
    <p:sldId xmlns:r="http://schemas.openxmlformats.org/officeDocument/2006/relationships" id="269" r:id="R3a4f909ee8c54af6"/>
    <p:sldId xmlns:r="http://schemas.openxmlformats.org/officeDocument/2006/relationships" id="270" r:id="R7798ca70aa404f57"/>
    <p:sldId xmlns:r="http://schemas.openxmlformats.org/officeDocument/2006/relationships" id="271" r:id="Rce317064d9004ef6"/>
    <p:sldId xmlns:r="http://schemas.openxmlformats.org/officeDocument/2006/relationships" id="272" r:id="R5b2e9ea698754350"/>
    <p:sldId xmlns:r="http://schemas.openxmlformats.org/officeDocument/2006/relationships" id="273" r:id="Rde53771608454a0b"/>
    <p:sldId xmlns:r="http://schemas.openxmlformats.org/officeDocument/2006/relationships" id="274" r:id="R7c531d96d57243c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ccfbb528db45ac" /><Relationship Type="http://schemas.openxmlformats.org/officeDocument/2006/relationships/slideMaster" Target="/ppt/slideMasters/slideMaster1.xml" Id="R5a4f0b75980f426a" /><Relationship Type="http://schemas.openxmlformats.org/officeDocument/2006/relationships/notesMaster" Target="/ppt/notesMasters/notesMaster1.xml" Id="Rc6478a51685648fd" /><Relationship Type="http://schemas.openxmlformats.org/officeDocument/2006/relationships/presProps" Target="/ppt/presProps.xml" Id="Rd9e712aabb524485" /><Relationship Type="http://schemas.openxmlformats.org/officeDocument/2006/relationships/tableStyles" Target="/ppt/tableStyles.xml" Id="R9381cc6bd9324cf2" /><Relationship Type="http://schemas.openxmlformats.org/officeDocument/2006/relationships/slide" Target="/ppt/slides/slide1.xml" Id="Rdbc00f4b37ca4f93" /><Relationship Type="http://schemas.openxmlformats.org/officeDocument/2006/relationships/slide" Target="/ppt/slides/slide2.xml" Id="R29d3cace6621486b" /><Relationship Type="http://schemas.openxmlformats.org/officeDocument/2006/relationships/slide" Target="/ppt/slides/slide3.xml" Id="Rd7f2df4460bc43e3" /><Relationship Type="http://schemas.openxmlformats.org/officeDocument/2006/relationships/slide" Target="/ppt/slides/slide4.xml" Id="R6c3cbe465c25474e" /><Relationship Type="http://schemas.openxmlformats.org/officeDocument/2006/relationships/slide" Target="/ppt/slides/slide5.xml" Id="Rf3d9a312ac5c41a4" /><Relationship Type="http://schemas.openxmlformats.org/officeDocument/2006/relationships/slide" Target="/ppt/slides/slide6.xml" Id="R9dabf320297640fd" /><Relationship Type="http://schemas.openxmlformats.org/officeDocument/2006/relationships/slide" Target="/ppt/slides/slide7.xml" Id="R143b4554a2b44463" /><Relationship Type="http://schemas.openxmlformats.org/officeDocument/2006/relationships/slide" Target="/ppt/slides/slide8.xml" Id="R4f374b8a6be44475" /><Relationship Type="http://schemas.openxmlformats.org/officeDocument/2006/relationships/slide" Target="/ppt/slides/slide9.xml" Id="R47613dfc89d64960" /><Relationship Type="http://schemas.openxmlformats.org/officeDocument/2006/relationships/slide" Target="/ppt/slides/slide10.xml" Id="R5f751f737d39492b" /><Relationship Type="http://schemas.openxmlformats.org/officeDocument/2006/relationships/slide" Target="/ppt/slides/slide11.xml" Id="Rfdf7f69de2dc4816" /><Relationship Type="http://schemas.openxmlformats.org/officeDocument/2006/relationships/slide" Target="/ppt/slides/slide12.xml" Id="R17b2a3885d18404d" /><Relationship Type="http://schemas.openxmlformats.org/officeDocument/2006/relationships/slide" Target="/ppt/slides/slide13.xml" Id="R4d9d4f6037164c03" /><Relationship Type="http://schemas.openxmlformats.org/officeDocument/2006/relationships/slide" Target="/ppt/slides/slide14.xml" Id="R3a4f909ee8c54af6" /><Relationship Type="http://schemas.openxmlformats.org/officeDocument/2006/relationships/slide" Target="/ppt/slides/slide15.xml" Id="R7798ca70aa404f57" /><Relationship Type="http://schemas.openxmlformats.org/officeDocument/2006/relationships/slide" Target="/ppt/slides/slide16.xml" Id="Rce317064d9004ef6" /><Relationship Type="http://schemas.openxmlformats.org/officeDocument/2006/relationships/slide" Target="/ppt/slides/slide17.xml" Id="R5b2e9ea698754350" /><Relationship Type="http://schemas.openxmlformats.org/officeDocument/2006/relationships/slide" Target="/ppt/slides/slide18.xml" Id="Rde53771608454a0b" /><Relationship Type="http://schemas.openxmlformats.org/officeDocument/2006/relationships/slide" Target="/ppt/slides/slide19.xml" Id="R7c531d96d57243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a217f2e0121432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26ca0da6eee493e" /><Relationship Type="http://schemas.openxmlformats.org/officeDocument/2006/relationships/notesMaster" Target="/ppt/notesMasters/notesMaster1.xml" Id="R8b930f165908466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b55e26470054cbc" /><Relationship Type="http://schemas.openxmlformats.org/officeDocument/2006/relationships/notesMaster" Target="/ppt/notesMasters/notesMaster1.xml" Id="Rfe60df71daae4e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f1985b72ea9484c" /><Relationship Type="http://schemas.openxmlformats.org/officeDocument/2006/relationships/notesMaster" Target="/ppt/notesMasters/notesMaster1.xml" Id="Ra4eba06af697416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163a62b29c473a" /><Relationship Type="http://schemas.openxmlformats.org/officeDocument/2006/relationships/notesMaster" Target="/ppt/notesMasters/notesMaster1.xml" Id="R0f6da44de0bd45c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cf12e5c35e34f79" /><Relationship Type="http://schemas.openxmlformats.org/officeDocument/2006/relationships/notesMaster" Target="/ppt/notesMasters/notesMaster1.xml" Id="R88e573ef54ed4fb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d79f89c9321467f" /><Relationship Type="http://schemas.openxmlformats.org/officeDocument/2006/relationships/notesMaster" Target="/ppt/notesMasters/notesMaster1.xml" Id="Rb096ecabb08f43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6d9665e97056414a" /><Relationship Type="http://schemas.openxmlformats.org/officeDocument/2006/relationships/notesMaster" Target="/ppt/notesMasters/notesMaster1.xml" Id="R17b0e03fcb2e4fb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d13808f23ba4c74" /><Relationship Type="http://schemas.openxmlformats.org/officeDocument/2006/relationships/notesMaster" Target="/ppt/notesMasters/notesMaster1.xml" Id="R95bb7328c0c7462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579cc3abc014cb9" /><Relationship Type="http://schemas.openxmlformats.org/officeDocument/2006/relationships/notesMaster" Target="/ppt/notesMasters/notesMaster1.xml" Id="R1ef6b3f62d4f43c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6ba16f192854645" /><Relationship Type="http://schemas.openxmlformats.org/officeDocument/2006/relationships/notesMaster" Target="/ppt/notesMasters/notesMaster1.xml" Id="R58ff3687a02a4d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ce8bdf62c2541ac" /><Relationship Type="http://schemas.openxmlformats.org/officeDocument/2006/relationships/notesMaster" Target="/ppt/notesMasters/notesMaster1.xml" Id="R57655e8f72064d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16c29ee4bc4bbc" /><Relationship Type="http://schemas.openxmlformats.org/officeDocument/2006/relationships/notesMaster" Target="/ppt/notesMasters/notesMaster1.xml" Id="R9fc34e89082c4f5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db47645a0194696" /><Relationship Type="http://schemas.openxmlformats.org/officeDocument/2006/relationships/notesMaster" Target="/ppt/notesMasters/notesMaster1.xml" Id="R379faeff841f4aab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e969fadc6914948" /><Relationship Type="http://schemas.openxmlformats.org/officeDocument/2006/relationships/notesMaster" Target="/ppt/notesMasters/notesMaster1.xml" Id="Ra028adeabaf74dc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53d52c654974040" /><Relationship Type="http://schemas.openxmlformats.org/officeDocument/2006/relationships/notesMaster" Target="/ppt/notesMasters/notesMaster1.xml" Id="Rddcdcdedde6f453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24d23f557547ae" /><Relationship Type="http://schemas.openxmlformats.org/officeDocument/2006/relationships/notesMaster" Target="/ppt/notesMasters/notesMaster1.xml" Id="Re5bd00796a2949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3c979cfb4c94038" /><Relationship Type="http://schemas.openxmlformats.org/officeDocument/2006/relationships/notesMaster" Target="/ppt/notesMasters/notesMaster1.xml" Id="Re75f1bdf2f05477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c87b9f4b69742b7" /><Relationship Type="http://schemas.openxmlformats.org/officeDocument/2006/relationships/notesMaster" Target="/ppt/notesMasters/notesMaster1.xml" Id="Ra7910536c11b4f0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06163eb6c1f4256" /><Relationship Type="http://schemas.openxmlformats.org/officeDocument/2006/relationships/notesMaster" Target="/ppt/notesMasters/notesMaster1.xml" Id="Ra1e9d92df56540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Cycle-by-cycle late or absent ovulation research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Monitoring irregular cycles without claiming a PMOS diagnosis Primary population-context source: https://pmc.ncbi.nlm.nih.gov/articles/PMC11581580/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Fictional synthetic persona - not a real patient - not performance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EHR-lite is implemented and explicitly oracle-adjacent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The dashboard loads the same persisted pipeline used by the benchmark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Every explicit operating choice uses train or validation data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Seed means describe the current generator, not clinical forecasting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Reserved seeds, unchanged train/validation choices, one guarded run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Predeclared temperature sensor tier, descriptive seed means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Decision-support research display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Missing safety information causes abstention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Clear boundaries around simulated physiology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All declared Kushi scenarios remain visible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Synthetic recovery is not prospective evidence in women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docs/claims.json, generated by scripts/build_claims.py. All project metrics are synthetic development results. Public source, inspectable artifacts and explicit next work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28a9f34c0149d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f416b3644e4a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ab549d39ee490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0829baf0e784ad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d69c93076144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f1fff0fbdcb4de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DE8F080-0F1B-4BC5-8471-3BEAC183EA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43D1B33-0290-4D9A-B28E-3855AE2E146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7D18E9-61D1-40F0-8F11-0E663A4ECF3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B0FF6D-E736-433D-94B3-429587D5DD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AECC10D-9DF9-4C99-A570-D38C545891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BA8B68A-0F9E-41AE-BE9C-BD2A8D608CF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D93F827-ECEB-49AB-A5A6-D4611678BEB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E28FAED-FDDF-4D84-8678-D3969BEA2F3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C49AEA-4403-4C60-974D-158707050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99B7EEA-5085-48AB-85B7-C603862BEF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ff3c1b40834d61" /><Relationship Type="http://schemas.openxmlformats.org/officeDocument/2006/relationships/slideLayout" Target="/ppt/slideLayouts/slideLayout1.xml" Id="R25f4e5d775a54faf" /><Relationship Type="http://schemas.openxmlformats.org/officeDocument/2006/relationships/slideLayout" Target="/ppt/slideLayouts/slideLayout2.xml" Id="R2d14a44c4f9947fe" /><Relationship Type="http://schemas.openxmlformats.org/officeDocument/2006/relationships/slideLayout" Target="/ppt/slideLayouts/slideLayout3.xml" Id="R0d62523a54f44d35" /><Relationship Type="http://schemas.openxmlformats.org/officeDocument/2006/relationships/slideLayout" Target="/ppt/slideLayouts/slideLayout4.xml" Id="Ra4b9373037764d7b" /><Relationship Type="http://schemas.openxmlformats.org/officeDocument/2006/relationships/slideLayout" Target="/ppt/slideLayouts/slideLayout5.xml" Id="Rbdd98e673d144d58" /><Relationship Type="http://schemas.openxmlformats.org/officeDocument/2006/relationships/slideLayout" Target="/ppt/slideLayouts/slideLayout6.xml" Id="Rbb900651cd9f493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5f4e5d775a54faf"/>
    <p:sldLayoutId xmlns:r="http://schemas.openxmlformats.org/officeDocument/2006/relationships" id="2147483650" r:id="R2d14a44c4f9947fe"/>
    <p:sldLayoutId xmlns:r="http://schemas.openxmlformats.org/officeDocument/2006/relationships" id="2147483651" r:id="R0d62523a54f44d35"/>
    <p:sldLayoutId xmlns:r="http://schemas.openxmlformats.org/officeDocument/2006/relationships" id="2147483652" r:id="Ra4b9373037764d7b"/>
    <p:sldLayoutId xmlns:r="http://schemas.openxmlformats.org/officeDocument/2006/relationships" id="2147483653" r:id="Rbdd98e673d144d58"/>
    <p:sldLayoutId xmlns:r="http://schemas.openxmlformats.org/officeDocument/2006/relationships" id="2147483654" r:id="Rbb900651cd9f493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8bb6f07add42e5" /><Relationship Type="http://schemas.openxmlformats.org/officeDocument/2006/relationships/notesSlide" Target="/ppt/notesSlides/notesSlide1.xml" Id="R6397958a358f4c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cbc450977ed4f2e" /><Relationship Type="http://schemas.openxmlformats.org/officeDocument/2006/relationships/notesSlide" Target="/ppt/notesSlides/notesSlide2.xml" Id="R0b1070fd7191431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1813e54d751410f" /><Relationship Type="http://schemas.openxmlformats.org/officeDocument/2006/relationships/notesSlide" Target="/ppt/notesSlides/notesSlide3.xml" Id="R0f71f6f3e5134f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db32e38e1347bb" /><Relationship Type="http://schemas.openxmlformats.org/officeDocument/2006/relationships/notesSlide" Target="/ppt/notesSlides/notesSlide4.xml" Id="Rf558786d8cff44a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4bb796a0374e1e" /><Relationship Type="http://schemas.openxmlformats.org/officeDocument/2006/relationships/notesSlide" Target="/ppt/notesSlides/notesSlide5.xml" Id="R3ebc1eea2fdd41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1a1b934f6e04247" /><Relationship Type="http://schemas.openxmlformats.org/officeDocument/2006/relationships/notesSlide" Target="/ppt/notesSlides/notesSlide6.xml" Id="R89a42b0039d446c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47bae6ce0e4a8f" /><Relationship Type="http://schemas.openxmlformats.org/officeDocument/2006/relationships/notesSlide" Target="/ppt/notesSlides/notesSlide7.xml" Id="R1cbaeaf6c656462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a231ce8853d4c55" /><Relationship Type="http://schemas.openxmlformats.org/officeDocument/2006/relationships/notesSlide" Target="/ppt/notesSlides/notesSlide8.xml" Id="Rb0d463d2a828453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5522ec7f17b4d95" /><Relationship Type="http://schemas.openxmlformats.org/officeDocument/2006/relationships/notesSlide" Target="/ppt/notesSlides/notesSlide9.xml" Id="Rd4270fa2fa9b4e0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e8a311a8b24cab" /><Relationship Type="http://schemas.openxmlformats.org/officeDocument/2006/relationships/notesSlide" Target="/ppt/notesSlides/notesSlide10.xml" Id="R39d80753d846496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29607bc2f124ccd" /><Relationship Type="http://schemas.openxmlformats.org/officeDocument/2006/relationships/notesSlide" Target="/ppt/notesSlides/notesSlide11.xml" Id="Recf0fd98b0f74e6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dcb7f6e36f4790" /><Relationship Type="http://schemas.openxmlformats.org/officeDocument/2006/relationships/notesSlide" Target="/ppt/notesSlides/notesSlide12.xml" Id="R7b1acde15ba94da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e93affe5eab44fe" /><Relationship Type="http://schemas.openxmlformats.org/officeDocument/2006/relationships/notesSlide" Target="/ppt/notesSlides/notesSlide13.xml" Id="R4ded82d7c97b476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09547ee5bf84247" /><Relationship Type="http://schemas.openxmlformats.org/officeDocument/2006/relationships/notesSlide" Target="/ppt/notesSlides/notesSlide14.xml" Id="Rb83c174c5e4c43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3b73a5dbbb49af" /><Relationship Type="http://schemas.openxmlformats.org/officeDocument/2006/relationships/notesSlide" Target="/ppt/notesSlides/notesSlide15.xml" Id="R4d820700856c41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297640b0744a19" /><Relationship Type="http://schemas.openxmlformats.org/officeDocument/2006/relationships/notesSlide" Target="/ppt/notesSlides/notesSlide16.xml" Id="Ra2f7b8ba7cf9488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a79de671a940ec" /><Relationship Type="http://schemas.openxmlformats.org/officeDocument/2006/relationships/notesSlide" Target="/ppt/notesSlides/notesSlide17.xml" Id="R0c0e36ab99b6475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a82e0858f2417d" /><Relationship Type="http://schemas.openxmlformats.org/officeDocument/2006/relationships/notesSlide" Target="/ppt/notesSlides/notesSlide18.xml" Id="Ra6125898b9884d0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45d0e140d04825" /><Relationship Type="http://schemas.openxmlformats.org/officeDocument/2006/relationships/notesSlide" Target="/ppt/notesSlides/notesSlide19.xml" Id="R067e68973d1f494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764DE0-88D8-4168-9699-BBBFAAC1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5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5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CycleTwin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001CD1-3C1D-4C4D-97F2-E465AA13A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Cycle-by-cycle late or absent ovulation research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401E0-7723-426C-8DDB-F9C19D691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Team CycleTwin / VIT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133908-38FA-4FE1-B8C4-A6F99CC0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fitted synthetic forecasting workflow with explicit safety gates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499C3-03FA-450F-8FBA-BDBC47F2A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Kushi: fictional persona, never performance evidence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0864C1-51A1-46AD-9993-CF52FE0E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5693376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1BEF50-9118-454E-8882-C8F86B8FE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research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12B1DC-4BE3-45D6-93C9-CA99336F1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Monitoring irregular cycles without claiming a PMOS diagnosis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276DFD-D1DD-44C2-962B-98FA792D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Target: generated ovulation after the configured cutoff, or generated absence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D08A1-45F7-4CAE-A277-091FACBC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India context: 7.2% by NIH criteria and 19.6% by Rotterdam criteria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CE139B-48A5-4438-9496-F1B400B75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Published prevalence depends on definition. It is not the simulator mixture or model accuracy.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96D908-D510-4707-B15B-79C68CD4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38344344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0BE154-A887-4830-A389-C48CBB2E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Meet Kushi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2563EF-91F6-4D19-9BFF-67C99263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Fictional synthetic persona - not a real patient - not performance evidence.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D2F786-179F-4868-91A6-FE5DEDF2C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21 years, year 3 B.Tech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6ED450-C78A-411D-B5A9-817AD4024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Hostel life, exam-season sleep debt, mother with type 2 diabetes, smartwatch wearer.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69A4A-0BA7-424B-9D24-71EBD7015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Actual generated past lengths: 41, 38, 41, 38, 44, 51 days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F28866-DD55-435F-9C3F-DFE70199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Selection uses generator truth and a declared seed, never predicted risk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86D288-CFD3-44F4-9E8E-24A63B9B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645323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7C50F1-5AC8-4AD6-BE40-8D13651C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Static and dynamic input streams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1CDF09-6BD5-4152-AE94-FB32C7BDA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EHR-lite is implemented and explicitly oracle-adjacent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A41AC-DD59-4714-ABC7-A9AF56C7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Static: generated IR latent, androgen, age, BMI and family history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D2E035-83A3-44D0-B7AE-4A97DFE1F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2900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Dynamic: calendar history, RHR, HRV, steps, sleep and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30225-86BF-4489-8F09-1D3942F2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672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measured hormone values. The XML parser demonstrates input shape only.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751A7B-4F68-4A09-905F-96A5A8B8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7368987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1A4EFB-8581-4525-A7E7-5CD09F3B8CEE}"/>
              </a:ext>
            </a:extLst>
          </p:cNvPr>
          <p:cNvCxnSpPr>
            <a:stCxn xmlns:a="http://schemas.openxmlformats.org/drawingml/2006/main" id="7" idx="1"/>
            <a:endCxn xmlns:a="http://schemas.openxmlformats.org/drawingml/2006/main" id="8" idx="3"/>
          </p:cNvCxnSpPr>
          <p:nvPr/>
        </p:nvCxnSpPr>
        <p:spPr>
          <a:xfrm xmlns:a="http://schemas.openxmlformats.org/drawingml/2006/main" flipH="1">
            <a:off x="7620000" y="5214938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F99A01-3FD6-46A0-8561-5DB414EA77D7}"/>
              </a:ext>
            </a:extLst>
          </p:cNvPr>
          <p:cNvCxnSpPr>
            <a:stCxn xmlns:a="http://schemas.openxmlformats.org/drawingml/2006/main" id="6" idx="2"/>
            <a:endCxn xmlns:a="http://schemas.openxmlformats.org/drawingml/2006/main" id="7" idx="0"/>
          </p:cNvCxnSpPr>
          <p:nvPr/>
        </p:nvCxnSpPr>
        <p:spPr>
          <a:xfrm xmlns:a="http://schemas.openxmlformats.org/drawingml/2006/main">
            <a:off x="9906000" y="4000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21691C-6DCA-4A6E-B6C2-3B0646BD0FAA}"/>
              </a:ext>
            </a:extLst>
          </p:cNvPr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20000" y="3429000"/>
            <a:ext cx="714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49ED4-D35C-4F17-8F72-9D56366A8A5F}"/>
              </a:ext>
            </a:extLst>
          </p:cNvPr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 flipV="1">
            <a:off x="3762375" y="3429000"/>
            <a:ext cx="714375" cy="7381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ADDE59-BA6E-48BD-A1CA-044613A1E71E}"/>
              </a:ext>
            </a:extLst>
          </p:cNvPr>
          <p:cNvCxnSpPr>
            <a:stCxn xmlns:a="http://schemas.openxmlformats.org/drawingml/2006/main" id="3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762375" y="2738438"/>
            <a:ext cx="714375" cy="6905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0E766E"/>
            </a:solidFill>
            <a:tailEnd type="arrow" w="med" len="med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CF6667-D794-4C12-9020-4B78D8FB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One fitted prediction path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703E46-913E-4ECF-8B63-0F9D9A93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The dashboard loads the same persisted pipeline used by the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40F308-0559-47D7-BD5C-847567E16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2383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static EHR-lite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Oracle-adjacent internals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C812DA-7FDD-4F81-9F8F-0752A655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6712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nightly data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Calendar and wearables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67089B-1658-416A-AB9C-4D01FDB06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Shared feature builder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 and scaling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F0D42-1ECA-400B-8A47-87CF3CB62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857500"/>
            <a:ext cx="31432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logistic model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calibration and threshold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71A87C-90B1-4273-A489-CF9EFEBB2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Fail-closed safety gate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 personal outputs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E7021-45DD-4AE1-A495-77DBF9749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714875"/>
            <a:ext cx="314325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1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Doctor / Kushi dashboard</a:t>
            </a:r>
          </a:p>
          <a:p xmlns:a="http://schemas.openxmlformats.org/drawingml/2006/main">
            <a:pPr>
              <a:defRPr sz="180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800">
                <a:solidFill>
                  <a:srgbClr val="17242B"/>
                </a:solidFill>
                <a:latin typeface="Arial"/>
                <a:ea typeface="Arial"/>
                <a:cs typeface="Arial"/>
              </a:rPr>
              <a:t>Probability and exact contributions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493C89-7C29-4EE8-BAEC-8D1387B6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191125"/>
            <a:ext cx="314325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EF"/>
          </a:solidFill>
          <a:ln xmlns:a="http://schemas.openxmlformats.org/drawingml/2006/main" w="9525">
            <a:solidFill>
              <a:srgbClr val="C8DCD5"/>
            </a:solidFill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Separate illustrative twin</a:t>
            </a:r>
          </a:p>
          <a:p xmlns:a="http://schemas.openxmlformats.org/drawingml/2006/main">
            <a:pPr>
              <a:defRPr sz="165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17242B"/>
                </a:solidFill>
                <a:latin typeface="Arial"/>
                <a:ea typeface="Arial"/>
                <a:cs typeface="Arial"/>
              </a:rPr>
              <a:t>No contribution to fitted score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36B424-B62E-422A-9B23-1E078F283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256108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79B30-7966-411E-BC59-930F020DB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and selection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B47232-D7EF-4B19-B13B-54156025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Every explicit operating choice uses train or validation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424434-45E1-4A51-BFD8-62125C0CE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Patient counts per development seed: train 840, validation 180, test 180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159CCE-8B37-44AD-839C-7473558E6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Training medians and scaling, logistic regression, validation Platt calibration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C89E64-4909-4E09-A877-15E5F7331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Brier-gain rule selects richer features or calendar fallback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64C26E-1646-47D0-BE20-03CCBCF6E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Validation F1 chooses the threshold. Test outcomes never choose that threshold.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E84A6-860C-46AF-A430-7DE57044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967868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957890-A175-4523-92E6-874941293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24EAB7-AE2E-4988-9725-27929D987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053D4-6348-4BAB-BF96-138302E90E2D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5.004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12D691-5907-449F-928F-7F0834DD6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166814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792D6C-9589-46A9-A46E-C70506C0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CBA04A-CA5E-451E-ABE3-A2738630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22175-6FA5-4113-86EF-5FF8FA0AE457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5.132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6.069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0.843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5.565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9B3752-0FC8-4F0A-8886-1EAA712D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304342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E39535-6072-4F8D-9ADF-D6360EF06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Synthetic development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9996C-8C96-4F7E-993D-11533BBFA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Seed means describe the current generator, not clinical forecasting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BA309-0AC3-4EEA-BE9F-7F089D5010EE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0.906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5.267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D060B3-8F8C-40A7-9391-60D49AF6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0310628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8C680D-16AC-4232-8BFA-1420E76D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C861A8C-0020-4B7A-8045-7E84399B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111530-C5BE-43E2-91A0-65F5657C374A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5.142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8F319A-C15E-4041-AA25-7A87F7449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9119127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C0443E-FB8B-468B-B694-1594142A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56661C-4B19-4FA1-BCB0-1A9E30605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7C424-A766-4B6A-A090-240C08126858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5.251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0.155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6.790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0.850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0.158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6.319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69C055-08E1-4AB9-B6F7-261BF8BB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69749280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A52B30-11D5-464E-B8A8-21B01059E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Frozen synthetic evidence: day 18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75D36A-F0DB-40D7-9E29-FF6B81935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Reserved seeds, unchanged train/validation choices, one guarded run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20606F-B09F-4DC3-95A3-95C18B7E648E}"/>
              </a:ext>
            </a:extLst>
          </p:cNvPr>
          <p:cNvGraphicFramePr/>
          <p:nvPr/>
        </p:nvGraphicFramePr>
        <p:xfrm>
          <a:off xmlns:a="http://schemas.openxmlformats.org/drawingml/2006/main" x="609600" y="204787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33500"/>
                <a:gridCol w="1333500"/>
                <a:gridCol w="2619375"/>
                <a:gridCol w="2619375"/>
                <a:gridCol w="3067050"/>
              </a:tblGrid>
              <a:tr h="7810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Day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AUROC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Brier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Mean day MAE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T w="4763">
                      <a:solidFill>
                        <a:srgbClr val="E1E8E4"/>
                      </a:solidFill>
                    </a:lnT>
                    <a:lnB w="4763">
                      <a:solidFill>
                        <a:srgbClr val="E1E8E4"/>
                      </a:solidFill>
                    </a:lnB>
                    <a:solidFill>
                      <a:srgbClr val="0E766E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0.839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0.164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5.570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91440" marR="91440" marT="45720" marB="45720">
                    <a:lnL w="4763">
                      <a:solidFill>
                        <a:srgbClr val="E1E8E4"/>
                      </a:solidFill>
                    </a:lnL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0.907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0.117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7242B"/>
                          </a:solidFill>
                          <a:latin typeface="Arial"/>
                          <a:ea typeface="Arial"/>
                          <a:cs typeface="Arial"/>
                        </a:rPr>
                        <a:t>5.449</a:t>
                      </a:r>
                    </a:p>
                  </a:txBody>
                  <a:tcPr marL="91440" marR="91440" marT="45720" marB="45720">
                    <a:lnR w="4763">
                      <a:solidFill>
                        <a:srgbClr val="E1E8E4"/>
                      </a:solidFill>
                    </a:lnR>
                    <a:lnB w="4763">
                      <a:solidFill>
                        <a:srgbClr val="E1E8E4"/>
                      </a:solidFill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6F2CA2-4541-421F-80C0-666F9738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48730982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81C42C-6A30-4664-B8E4-BF5E980D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Evidence at the latest sensor snapshot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530AFC-75E4-470B-991D-CF8174F5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Predeclared temperature sensor tier, descriptive seed means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3CDDE-C08C-47A8-9AB7-AC14C9B5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Synthetic day 18, Tier 2: AUROC 0.907, Brier 0.117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0C60D0-FAAB-430C-8DED-059395227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3,240 synthetic test cycles across 3 frozen seeds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CD18F3-B8BC-466B-B848-6D1874D2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separate frozen evaluation artifact is 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37CF60-A0B0-4BD8-A2BB-693B46B6C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Standard average precision and calibration diagnostics are available from stored predictions.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C9FD1D-F670-4928-9C99-3FE3F106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906007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BD691B-54C7-4997-8885-2E5123A3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What the clinician view shows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4389B8-7197-4EDC-8425-D9163B8CA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Decision-support research display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8D80BE-BED0-4C8E-A5F7-1CF08AD53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Fitted probability beside its own validation threshold and held-out model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133ED9-8104-4447-994C-33A279CD0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Exact additive feature contributions and explicit imputation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CF6896-F622-4815-B57D-6ABE90227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Heuristic day estimate and conditional, illustrative day band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D913C-4977-46E7-B00E-3CB7BB92B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Data-quality ribbon and the reason for any withholding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09B258-D2F8-4407-B1E5-7211C9E3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213316794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9F1565-622C-46EE-96E0-005426E10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Guardrails live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CE0A5-E2E2-4C57-A49A-24F7BE6E3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Missing safety information causes abstention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9E54FA-342C-4CC1-A384-C7D8DB68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Contraception, thyroid and prolactin flags, age and pregnancy-related states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41D5DC-B149-43B3-A2F7-55E4E9A09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Early post-menarche, perimenopause and insufficient observed temperature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3F5BD7-C851-4F1B-BCEE-0E479CBE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Withholding removes personal scores, intervals, explanations, sandbox outputs and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B1E9507-28C0-4089-9DFB-3D8C5023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workflow is synthetic and its safety effectiveness has not been clinically evaluated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32D877-D634-4502-9483-FB41D1D4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8860023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780810-BDA5-4026-8A63-F274D8DB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and assumption sandbox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10609-F70B-4FBE-9FB7-13B4685E3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Clear boundaries around simulated physiology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E9D52D-75A7-4732-8191-6A46B4C0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Reproductive and metabolic equations generate an illustrative state trajectory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E48E8-24E2-4AE1-BEC3-E810D8A0C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twin does not affect the logistic score or its reported performance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20F9E2-A054-4E1F-A433-BDD38F68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sandbox edits invented model inputs. It does not predict a treatment effect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63BD59-C0B1-4ACF-AC28-D1723F178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Glucose threshold crossings are simulated counts, not an evaluated glucose forecast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A76A54-5C4E-40B0-BCE8-A17B5B32B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0497765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A21B3C-BDA4-4ECB-B1E4-54D4E6B0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Where it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E226C3-9450-451F-823B-A7B7CB2BC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All declared Kushi scenarios remain visible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8451448-5F31-465B-8A36-137F34A52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Display the fixed scenario seeds with misses, false alarms or withholding unchanged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728223-ED6E-4B0B-B836-0EC47036C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Different snapshots can fall back to calendar even when sensors are available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145E38-14C1-4965-9B3B-4E4C61CEE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A class set containing both outcomes does not identify one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7E221E-A69C-4FB2-A369-A13526CB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Robustness, state-estimator and conformal coverage evidence remain separate work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199940-9AED-47A3-8B8D-1D44380B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2125771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BB571-289F-404E-B0EC-D63DD4B6F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Validity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B3069B-CE1D-43B4-A785-97E22BA4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recovery is not prospective evidence in women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E2A5BE-72C3-491A-86A3-DEDE01161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Labels and sensor changes share generator assumptions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345FD-220F-49A3-B422-7BE93446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EHR-lite includes a label-generating internal latent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AC41A5-0B51-46F2-8D0A-C8B26702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Old test seeds were reused during development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E9E9BF-C590-44A3-8A67-13503EB7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current benchmark does not evaluate the complete sequential alert policy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8F1438-6459-4C48-8FE4-03F24C68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184630942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A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27F8EC-6234-4878-8271-EE6C90F9F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Reproducible demonstration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307F34-502C-4927-AD05-DEBF366A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57300"/>
            <a:ext cx="10972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Public source, inspectable artifacts and explicit next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37CC0E-D7AF-49A6-954A-27ED33DED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0E766E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0E766E"/>
                </a:solidFill>
                <a:latin typeface="Arial"/>
                <a:ea typeface="Arial"/>
                <a:cs typeface="Arial"/>
              </a:rPr>
              <a:t>README, model cards and the audit link every claim to evidence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22F196-A18E-46CB-A412-507B77A8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9438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Persisted inference reproduces the benchmark and exposes exact feature calculations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5F9DF4-8075-4A44-82BC-662AAB161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48125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The required video remains a human recording and upload task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6C1862-9D71-421F-98B9-1A7E566E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76813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17242B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7242B"/>
                </a:solidFill>
                <a:latin typeface="Arial"/>
                <a:ea typeface="Arial"/>
                <a:cs typeface="Arial"/>
              </a:rPr>
              <a:t>Clinical validation, clinician feedback and sim-to-real evaluation remain outstanding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9435E2-6A93-4E10-9DD8-2B751CF1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65757B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5757B"/>
                </a:solidFill>
                <a:latin typeface="Arial"/>
                <a:ea typeface="Arial"/>
                <a:cs typeface="Arial"/>
              </a:rPr>
              <a:t>Synthetic research prototype. Not for diagnosis, contraception or conception planning.</a:t>
            </a:r>
          </a:p>
        </p:txBody>
      </p:sp>
    </p:spTree>
    <p:extLst>
      <p:ext uri="{BB962C8B-B14F-4D97-AF65-F5344CB8AC3E}">
        <p14:creationId xmlns:p14="http://schemas.microsoft.com/office/powerpoint/2010/main" val="45214476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2026-10-20T09:02:25.6300000Z</dcterms:created>
  <dcterms:modified xsi:type="dcterms:W3CDTF">2026-10-20T09:02:25.6300000Z</dcterms:modified>
</coreProperties>
</file>