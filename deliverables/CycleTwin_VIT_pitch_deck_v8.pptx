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fafd1a56584146" /><Relationship Type="http://schemas.openxmlformats.org/officeDocument/2006/relationships/extended-properties" Target="/docProps/app.xml" Id="R311eedb1a5284837" /><Relationship Type="http://schemas.openxmlformats.org/officeDocument/2006/relationships/officeDocument" Target="/ppt/presentation.xml" Id="R37247d3b7d1547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a51be8403e401c"/>
  </p:sldMasterIdLst>
  <p:notesMasterIdLst>
    <p:notesMasterId xmlns:r="http://schemas.openxmlformats.org/officeDocument/2006/relationships" r:id="Rb6b6fd0240f4499b"/>
  </p:notesMasterIdLst>
  <p:sldIdLst>
    <p:sldId xmlns:r="http://schemas.openxmlformats.org/officeDocument/2006/relationships" id="256" r:id="Rf041b0006c71493c"/>
    <p:sldId xmlns:r="http://schemas.openxmlformats.org/officeDocument/2006/relationships" id="257" r:id="R861249ba059b4235"/>
    <p:sldId xmlns:r="http://schemas.openxmlformats.org/officeDocument/2006/relationships" id="258" r:id="Rb662e0708d6c45a4"/>
    <p:sldId xmlns:r="http://schemas.openxmlformats.org/officeDocument/2006/relationships" id="259" r:id="R2e5a11c00f264780"/>
    <p:sldId xmlns:r="http://schemas.openxmlformats.org/officeDocument/2006/relationships" id="260" r:id="Rdaea428b7e1c495d"/>
    <p:sldId xmlns:r="http://schemas.openxmlformats.org/officeDocument/2006/relationships" id="261" r:id="R883a939cc44c48f5"/>
    <p:sldId xmlns:r="http://schemas.openxmlformats.org/officeDocument/2006/relationships" id="262" r:id="R3af16079798f4bb4"/>
    <p:sldId xmlns:r="http://schemas.openxmlformats.org/officeDocument/2006/relationships" id="263" r:id="Rc1bc49f9cc1740eb"/>
    <p:sldId xmlns:r="http://schemas.openxmlformats.org/officeDocument/2006/relationships" id="264" r:id="R3da62213f881407b"/>
    <p:sldId xmlns:r="http://schemas.openxmlformats.org/officeDocument/2006/relationships" id="265" r:id="Re600900358a14197"/>
    <p:sldId xmlns:r="http://schemas.openxmlformats.org/officeDocument/2006/relationships" id="266" r:id="R40422d5bab1d42f5"/>
    <p:sldId xmlns:r="http://schemas.openxmlformats.org/officeDocument/2006/relationships" id="267" r:id="R3710a4d26a604d7f"/>
    <p:sldId xmlns:r="http://schemas.openxmlformats.org/officeDocument/2006/relationships" id="268" r:id="Rd109452986a64929"/>
    <p:sldId xmlns:r="http://schemas.openxmlformats.org/officeDocument/2006/relationships" id="269" r:id="R621010da4dde44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9dcf179b2447d7" /><Relationship Type="http://schemas.openxmlformats.org/officeDocument/2006/relationships/slideMaster" Target="/ppt/slideMasters/slideMaster1.xml" Id="Rc5a51be8403e401c" /><Relationship Type="http://schemas.openxmlformats.org/officeDocument/2006/relationships/notesMaster" Target="/ppt/notesMasters/notesMaster1.xml" Id="Rb6b6fd0240f4499b" /><Relationship Type="http://schemas.openxmlformats.org/officeDocument/2006/relationships/presProps" Target="/ppt/presProps.xml" Id="Rabbda32fb137474e" /><Relationship Type="http://schemas.openxmlformats.org/officeDocument/2006/relationships/tableStyles" Target="/ppt/tableStyles.xml" Id="Rad3c830deab44318" /><Relationship Type="http://schemas.openxmlformats.org/officeDocument/2006/relationships/slide" Target="/ppt/slides/slide1.xml" Id="Rf041b0006c71493c" /><Relationship Type="http://schemas.openxmlformats.org/officeDocument/2006/relationships/slide" Target="/ppt/slides/slide2.xml" Id="R861249ba059b4235" /><Relationship Type="http://schemas.openxmlformats.org/officeDocument/2006/relationships/slide" Target="/ppt/slides/slide3.xml" Id="Rb662e0708d6c45a4" /><Relationship Type="http://schemas.openxmlformats.org/officeDocument/2006/relationships/slide" Target="/ppt/slides/slide4.xml" Id="R2e5a11c00f264780" /><Relationship Type="http://schemas.openxmlformats.org/officeDocument/2006/relationships/slide" Target="/ppt/slides/slide5.xml" Id="Rdaea428b7e1c495d" /><Relationship Type="http://schemas.openxmlformats.org/officeDocument/2006/relationships/slide" Target="/ppt/slides/slide6.xml" Id="R883a939cc44c48f5" /><Relationship Type="http://schemas.openxmlformats.org/officeDocument/2006/relationships/slide" Target="/ppt/slides/slide7.xml" Id="R3af16079798f4bb4" /><Relationship Type="http://schemas.openxmlformats.org/officeDocument/2006/relationships/slide" Target="/ppt/slides/slide8.xml" Id="Rc1bc49f9cc1740eb" /><Relationship Type="http://schemas.openxmlformats.org/officeDocument/2006/relationships/slide" Target="/ppt/slides/slide9.xml" Id="R3da62213f881407b" /><Relationship Type="http://schemas.openxmlformats.org/officeDocument/2006/relationships/slide" Target="/ppt/slides/slide10.xml" Id="Re600900358a14197" /><Relationship Type="http://schemas.openxmlformats.org/officeDocument/2006/relationships/slide" Target="/ppt/slides/slide11.xml" Id="R40422d5bab1d42f5" /><Relationship Type="http://schemas.openxmlformats.org/officeDocument/2006/relationships/slide" Target="/ppt/slides/slide12.xml" Id="R3710a4d26a604d7f" /><Relationship Type="http://schemas.openxmlformats.org/officeDocument/2006/relationships/slide" Target="/ppt/slides/slide13.xml" Id="Rd109452986a64929" /><Relationship Type="http://schemas.openxmlformats.org/officeDocument/2006/relationships/slide" Target="/ppt/slides/slide14.xml" Id="R621010da4dde44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6a6ff027d64e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05393be6024812" /><Relationship Type="http://schemas.openxmlformats.org/officeDocument/2006/relationships/notesMaster" Target="/ppt/notesMasters/notesMaster1.xml" Id="Rb071e3a3adfe4a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30e8b3c23e431f" /><Relationship Type="http://schemas.openxmlformats.org/officeDocument/2006/relationships/notesMaster" Target="/ppt/notesMasters/notesMaster1.xml" Id="R4f21463f29b740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cd6583730f4884" /><Relationship Type="http://schemas.openxmlformats.org/officeDocument/2006/relationships/notesMaster" Target="/ppt/notesMasters/notesMaster1.xml" Id="Re31ad4fa7dae44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257b2fc95444e4" /><Relationship Type="http://schemas.openxmlformats.org/officeDocument/2006/relationships/notesMaster" Target="/ppt/notesMasters/notesMaster1.xml" Id="Rd435b3d6528b49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357e34e8e94ada" /><Relationship Type="http://schemas.openxmlformats.org/officeDocument/2006/relationships/notesMaster" Target="/ppt/notesMasters/notesMaster1.xml" Id="R43601f9c585547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2195a333984471" /><Relationship Type="http://schemas.openxmlformats.org/officeDocument/2006/relationships/notesMaster" Target="/ppt/notesMasters/notesMaster1.xml" Id="Rf6ec3764804d40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7910c0e44d4248" /><Relationship Type="http://schemas.openxmlformats.org/officeDocument/2006/relationships/notesMaster" Target="/ppt/notesMasters/notesMaster1.xml" Id="R430de48e368743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3b67a00a8446aa" /><Relationship Type="http://schemas.openxmlformats.org/officeDocument/2006/relationships/notesMaster" Target="/ppt/notesMasters/notesMaster1.xml" Id="Rac663c471f8e46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790c6d93d94189" /><Relationship Type="http://schemas.openxmlformats.org/officeDocument/2006/relationships/notesMaster" Target="/ppt/notesMasters/notesMaster1.xml" Id="Ra2246784c2664e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5a6c053b164279" /><Relationship Type="http://schemas.openxmlformats.org/officeDocument/2006/relationships/notesMaster" Target="/ppt/notesMasters/notesMaster1.xml" Id="Rae800e4e931644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508aecf3114da3" /><Relationship Type="http://schemas.openxmlformats.org/officeDocument/2006/relationships/notesMaster" Target="/ppt/notesMasters/notesMaster1.xml" Id="R819a3bc5146943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b82612cf6748a7" /><Relationship Type="http://schemas.openxmlformats.org/officeDocument/2006/relationships/notesMaster" Target="/ppt/notesMasters/notesMaster1.xml" Id="R2342c7e479c841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adc2a3c84640be" /><Relationship Type="http://schemas.openxmlformats.org/officeDocument/2006/relationships/notesMaster" Target="/ppt/notesMasters/notesMaster1.xml" Id="R8541c9c846b24c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58dfb1597d4cc3" /><Relationship Type="http://schemas.openxmlformats.org/officeDocument/2006/relationships/notesMaster" Target="/ppt/notesMasters/notesMaster1.xml" Id="Rf7c0ed58e2614e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PMOS (PCOS/PCOD) naming follows the 2026 consensus publication: https://doi.org/10.1016/S0140-6736(26)00717-8.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and timing are simulator design assumptions documented in docs/assumptions.md.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Teede et al., “Polyendocrine metabolic ovarian syndrome, the new name for polycystic ovary syndrome,” Lancet, 2026. https://doi.org/10.1016/S0140-6736(26)00717-8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twin framing is a design direction. This release has no calibrated or validated physiological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HealthKit export fields are based on Apple HealthKit documentation for sleeping wrist temperature and menstrual flow: https://developer.apple.com/documentation/healthkit/hkquantitytypeidentifier/applesleepingwristtemperature and https://developer.apple.com/documentation/healthkit/hkcategorytypeidentifier/menstrualflow.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generation settings and split design: docs/eval_plan.md and src/generator.py.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implementation is in src/model.py. The fixed fallback and temperature threshold are documented in docs/assumptions.md.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Safety rules are implemented in synthetic demo code. They have not been clinically validated.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displayed result values are read from results.json, generated by scripts/run_eval.py under the committed evaluation plan. These are synthetic-only metrics, not clinical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Counterfactual scenarios were requested in the project brief. They are not implemented and no effects are estimated.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analyses remain future work; no robustness result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Apple HealthKit type identifiers were checked against Apple developer documentation. The app handles synthetic export data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Goodale et al. 2019 https://doi.org/10.2196/13404 ; Luo et al. 2020 https://doi.org/10.1109/TBME.2019.2916823 ; Wang et al. 2025 https://doi.org/10.1093/humrep/deaf005 ; Awoniran et al. 2026 preprint https://doi.org/10.64898/2026.07.23.26358666 ; Shamanna et al. 2025 https://doi.org/10.1016/j.aace.2024.11.004 ; Lin et al. 2023 https://doi.org/10.1038/s41746-023-00884-x ; Teede et al. 2023 https://doi.org/10.1210/clinem/dgad463 ; Teede et al. 2026 https://doi.org/10.1016/S0140-6736(26)00717-8 ; Gibbs &amp; Candès 2021 https://papers.neurips.cc/paper_files/paper/2021/hash/0d441de75945e5acbc865406fc9a2559-Abstract.html ; Collins et al. 2024 https://doi.org/10.1136/bmj-2023-078378 ; mcPHASES https://physionet.org/content/mcphases/1.0.0/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mcPHASES is a restricted-access future data source only; no such data are included or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5e2348c41348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2da1ad1670438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bdd47f00fe4ab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58178573fd48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a78ebfaf7b4f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cf2a63d14d40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4D5688-29C9-41E1-8A34-1718F0C264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3303CD0-03A6-4301-ACF9-38AD3740D4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E014717-6729-4222-9140-4DD379AC7C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CEBCB3-C67F-42FD-A3E2-2477D18E9C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5ED0E70-94DF-4AB0-94E6-B030A3D791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4091D5-0DB2-4ADE-A516-483A0C57A9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EB288C-9A35-42FE-8681-7D5B7DA2C8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1F5BE7F-ADA1-43A6-AE2C-5D4F422380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16207E-F1F6-415C-A565-33C7D1207E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CA3DDF-4C17-4F77-9142-81BE4FE7D4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010ef776b24f28" /><Relationship Type="http://schemas.openxmlformats.org/officeDocument/2006/relationships/slideLayout" Target="/ppt/slideLayouts/slideLayout1.xml" Id="R036424c821ea47be" /><Relationship Type="http://schemas.openxmlformats.org/officeDocument/2006/relationships/slideLayout" Target="/ppt/slideLayouts/slideLayout2.xml" Id="Rdbc4de18093e41ff" /><Relationship Type="http://schemas.openxmlformats.org/officeDocument/2006/relationships/slideLayout" Target="/ppt/slideLayouts/slideLayout3.xml" Id="R8f7297d51e864e4d" /><Relationship Type="http://schemas.openxmlformats.org/officeDocument/2006/relationships/slideLayout" Target="/ppt/slideLayouts/slideLayout4.xml" Id="Rb411ad382d454043" /><Relationship Type="http://schemas.openxmlformats.org/officeDocument/2006/relationships/slideLayout" Target="/ppt/slideLayouts/slideLayout5.xml" Id="R5b80f6f8ebea4d0f" /><Relationship Type="http://schemas.openxmlformats.org/officeDocument/2006/relationships/slideLayout" Target="/ppt/slideLayouts/slideLayout6.xml" Id="Rb463a47cc86147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6424c821ea47be"/>
    <p:sldLayoutId xmlns:r="http://schemas.openxmlformats.org/officeDocument/2006/relationships" id="2147483650" r:id="Rdbc4de18093e41ff"/>
    <p:sldLayoutId xmlns:r="http://schemas.openxmlformats.org/officeDocument/2006/relationships" id="2147483651" r:id="R8f7297d51e864e4d"/>
    <p:sldLayoutId xmlns:r="http://schemas.openxmlformats.org/officeDocument/2006/relationships" id="2147483652" r:id="Rb411ad382d454043"/>
    <p:sldLayoutId xmlns:r="http://schemas.openxmlformats.org/officeDocument/2006/relationships" id="2147483653" r:id="R5b80f6f8ebea4d0f"/>
    <p:sldLayoutId xmlns:r="http://schemas.openxmlformats.org/officeDocument/2006/relationships" id="2147483654" r:id="Rb463a47cc86147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8803e5ea754174" /><Relationship Type="http://schemas.openxmlformats.org/officeDocument/2006/relationships/notesSlide" Target="/ppt/notesSlides/notesSlide1.xml" Id="R508d26cc72b442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88580c5a664580" /><Relationship Type="http://schemas.openxmlformats.org/officeDocument/2006/relationships/notesSlide" Target="/ppt/notesSlides/notesSlide2.xml" Id="R8a150ab0ce9a41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f04a7e89d04fff" /><Relationship Type="http://schemas.openxmlformats.org/officeDocument/2006/relationships/notesSlide" Target="/ppt/notesSlides/notesSlide3.xml" Id="Ref2d5df229994b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b9442411424922" /><Relationship Type="http://schemas.openxmlformats.org/officeDocument/2006/relationships/notesSlide" Target="/ppt/notesSlides/notesSlide4.xml" Id="R2a70ad36db7848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0d94bf142b4a9f" /><Relationship Type="http://schemas.openxmlformats.org/officeDocument/2006/relationships/notesSlide" Target="/ppt/notesSlides/notesSlide5.xml" Id="Rbbb9a895869144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0516d381244dca" /><Relationship Type="http://schemas.openxmlformats.org/officeDocument/2006/relationships/notesSlide" Target="/ppt/notesSlides/notesSlide6.xml" Id="Rb9a0661621f444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22d2b4757d4a96" /><Relationship Type="http://schemas.openxmlformats.org/officeDocument/2006/relationships/notesSlide" Target="/ppt/notesSlides/notesSlide7.xml" Id="R3e81d51ad8de44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5891235b5a448f" /><Relationship Type="http://schemas.openxmlformats.org/officeDocument/2006/relationships/notesSlide" Target="/ppt/notesSlides/notesSlide8.xml" Id="R2d383f4b279f43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133c3133f648f6" /><Relationship Type="http://schemas.openxmlformats.org/officeDocument/2006/relationships/notesSlide" Target="/ppt/notesSlides/notesSlide9.xml" Id="R1f43606f3a9a4f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ffc2e1f4c44aab" /><Relationship Type="http://schemas.openxmlformats.org/officeDocument/2006/relationships/notesSlide" Target="/ppt/notesSlides/notesSlide10.xml" Id="R922a188cc91744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5c0bc67a45426a" /><Relationship Type="http://schemas.openxmlformats.org/officeDocument/2006/relationships/notesSlide" Target="/ppt/notesSlides/notesSlide11.xml" Id="Reff03bdf46f64c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34797867c64534" /><Relationship Type="http://schemas.openxmlformats.org/officeDocument/2006/relationships/notesSlide" Target="/ppt/notesSlides/notesSlide12.xml" Id="Rccdccc3e062f48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f321be2ce14bb3" /><Relationship Type="http://schemas.openxmlformats.org/officeDocument/2006/relationships/notesSlide" Target="/ppt/notesSlides/notesSlide13.xml" Id="R75e780970f0d47d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220b6fbdd44534" /><Relationship Type="http://schemas.openxmlformats.org/officeDocument/2006/relationships/notesSlide" Target="/ppt/notesSlides/notesSlide14.xml" Id="R9b273893c7c840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86FBD-3537-4157-AB73-88875AE0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350" b="1">
                <a:solidFill>
                  <a:srgbClr val="FFFFFF"/>
                </a:solidFill>
              </a:defRPr>
            </a:defPPr>
            <a:lvl1pPr>
              <a:defRPr sz="4350" b="1">
                <a:solidFill>
                  <a:srgbClr val="FFFFFF"/>
                </a:solidFill>
              </a:defRPr>
            </a:lvl1pPr>
            <a:lvl2pPr>
              <a:defRPr sz="4350" b="1">
                <a:solidFill>
                  <a:srgbClr val="FFFFFF"/>
                </a:solidFill>
              </a:defRPr>
            </a:lvl2pPr>
            <a:lvl3pPr>
              <a:defRPr sz="4350" b="1">
                <a:solidFill>
                  <a:srgbClr val="FFFFFF"/>
                </a:solidFill>
              </a:defRPr>
            </a:lvl3pPr>
            <a:lvl4pPr>
              <a:defRPr sz="4350" b="1">
                <a:solidFill>
                  <a:srgbClr val="FFFFFF"/>
                </a:solidFill>
              </a:defRPr>
            </a:lvl4pPr>
            <a:lvl5pPr>
              <a:defRPr sz="4350" b="1">
                <a:solidFill>
                  <a:srgbClr val="FFFFFF"/>
                </a:solidFill>
              </a:defRPr>
            </a:lvl5pPr>
            <a:lvl6pPr>
              <a:defRPr sz="4350" b="1">
                <a:solidFill>
                  <a:srgbClr val="FFFFFF"/>
                </a:solidFill>
              </a:defRPr>
            </a:lvl6pPr>
            <a:lvl7pPr>
              <a:defRPr sz="4350" b="1">
                <a:solidFill>
                  <a:srgbClr val="FFFFFF"/>
                </a:solidFill>
              </a:defRPr>
            </a:lvl7pPr>
            <a:lvl8pPr>
              <a:defRPr sz="4350" b="1">
                <a:solidFill>
                  <a:srgbClr val="FFFFFF"/>
                </a:solidFill>
              </a:defRPr>
            </a:lvl8pPr>
            <a:lvl9pPr>
              <a:defRPr sz="4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CycleTwin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21D816-C65C-430C-8D44-8A71FC66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0">
                <a:solidFill>
                  <a:srgbClr val="BFE7E1"/>
                </a:solidFill>
              </a:defRPr>
            </a:defPPr>
            <a:lvl1pPr>
              <a:defRPr sz="2550" b="0">
                <a:solidFill>
                  <a:srgbClr val="BFE7E1"/>
                </a:solidFill>
              </a:defRPr>
            </a:lvl1pPr>
            <a:lvl2pPr>
              <a:defRPr sz="2550" b="0">
                <a:solidFill>
                  <a:srgbClr val="BFE7E1"/>
                </a:solidFill>
              </a:defRPr>
            </a:lvl2pPr>
            <a:lvl3pPr>
              <a:defRPr sz="2550" b="0">
                <a:solidFill>
                  <a:srgbClr val="BFE7E1"/>
                </a:solidFill>
              </a:defRPr>
            </a:lvl3pPr>
            <a:lvl4pPr>
              <a:defRPr sz="2550" b="0">
                <a:solidFill>
                  <a:srgbClr val="BFE7E1"/>
                </a:solidFill>
              </a:defRPr>
            </a:lvl4pPr>
            <a:lvl5pPr>
              <a:defRPr sz="2550" b="0">
                <a:solidFill>
                  <a:srgbClr val="BFE7E1"/>
                </a:solidFill>
              </a:defRPr>
            </a:lvl5pPr>
            <a:lvl6pPr>
              <a:defRPr sz="2550" b="0">
                <a:solidFill>
                  <a:srgbClr val="BFE7E1"/>
                </a:solidFill>
              </a:defRPr>
            </a:lvl6pPr>
            <a:lvl7pPr>
              <a:defRPr sz="2550" b="0">
                <a:solidFill>
                  <a:srgbClr val="BFE7E1"/>
                </a:solidFill>
              </a:defRPr>
            </a:lvl7pPr>
            <a:lvl8pPr>
              <a:defRPr sz="2550" b="0">
                <a:solidFill>
                  <a:srgbClr val="BFE7E1"/>
                </a:solidFill>
              </a:defRPr>
            </a:lvl8pPr>
            <a:lvl9pPr>
              <a:defRPr sz="2550" b="0">
                <a:solidFill>
                  <a:srgbClr val="BFE7E1"/>
                </a:solidFill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BFE7E1"/>
                </a:solidFill>
              </a:defRPr>
            </a:pPr>
            <a:r>
              <a:rPr sz="2550" b="0">
                <a:solidFill>
                  <a:srgbClr val="BFE7E1"/>
                </a:solidFill>
              </a:rPr>
              <a:t>Synthetic cycle forecasting for clinician decision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2AAEF-329B-4BD4-B84A-42E99C79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FFFFF"/>
                </a:solidFill>
              </a:defRPr>
            </a:defPPr>
            <a:lvl1pPr>
              <a:defRPr sz="1575" b="0">
                <a:solidFill>
                  <a:srgbClr val="FFFFFF"/>
                </a:solidFill>
              </a:defRPr>
            </a:lvl1pPr>
            <a:lvl2pPr>
              <a:defRPr sz="1575" b="0">
                <a:solidFill>
                  <a:srgbClr val="FFFFFF"/>
                </a:solidFill>
              </a:defRPr>
            </a:lvl2pPr>
            <a:lvl3pPr>
              <a:defRPr sz="1575" b="0">
                <a:solidFill>
                  <a:srgbClr val="FFFFFF"/>
                </a:solidFill>
              </a:defRPr>
            </a:lvl3pPr>
            <a:lvl4pPr>
              <a:defRPr sz="1575" b="0">
                <a:solidFill>
                  <a:srgbClr val="FFFFFF"/>
                </a:solidFill>
              </a:defRPr>
            </a:lvl4pPr>
            <a:lvl5pPr>
              <a:defRPr sz="1575" b="0">
                <a:solidFill>
                  <a:srgbClr val="FFFFFF"/>
                </a:solidFill>
              </a:defRPr>
            </a:lvl5pPr>
            <a:lvl6pPr>
              <a:defRPr sz="1575" b="0">
                <a:solidFill>
                  <a:srgbClr val="FFFFFF"/>
                </a:solidFill>
              </a:defRPr>
            </a:lvl6pPr>
            <a:lvl7pPr>
              <a:defRPr sz="1575" b="0">
                <a:solidFill>
                  <a:srgbClr val="FFFFFF"/>
                </a:solidFill>
              </a:defRPr>
            </a:lvl7pPr>
            <a:lvl8pPr>
              <a:defRPr sz="1575" b="0">
                <a:solidFill>
                  <a:srgbClr val="FFFFFF"/>
                </a:solidFill>
              </a:defRPr>
            </a:lvl8pPr>
            <a:lvl9pPr>
              <a:defRPr sz="15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Digital Twin Challenge 2026 · Kushagra Gupta · VIT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D950C-BB37-4E7F-9D69-5EA4D34E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2B84B"/>
                </a:solidFill>
              </a:defRPr>
            </a:defPPr>
            <a:lvl1pPr>
              <a:defRPr sz="1350" b="1">
                <a:solidFill>
                  <a:srgbClr val="F2B84B"/>
                </a:solidFill>
              </a:defRPr>
            </a:lvl1pPr>
            <a:lvl2pPr>
              <a:defRPr sz="1350" b="1">
                <a:solidFill>
                  <a:srgbClr val="F2B84B"/>
                </a:solidFill>
              </a:defRPr>
            </a:lvl2pPr>
            <a:lvl3pPr>
              <a:defRPr sz="1350" b="1">
                <a:solidFill>
                  <a:srgbClr val="F2B84B"/>
                </a:solidFill>
              </a:defRPr>
            </a:lvl3pPr>
            <a:lvl4pPr>
              <a:defRPr sz="1350" b="1">
                <a:solidFill>
                  <a:srgbClr val="F2B84B"/>
                </a:solidFill>
              </a:defRPr>
            </a:lvl4pPr>
            <a:lvl5pPr>
              <a:defRPr sz="1350" b="1">
                <a:solidFill>
                  <a:srgbClr val="F2B84B"/>
                </a:solidFill>
              </a:defRPr>
            </a:lvl5pPr>
            <a:lvl6pPr>
              <a:defRPr sz="1350" b="1">
                <a:solidFill>
                  <a:srgbClr val="F2B84B"/>
                </a:solidFill>
              </a:defRPr>
            </a:lvl6pPr>
            <a:lvl7pPr>
              <a:defRPr sz="1350" b="1">
                <a:solidFill>
                  <a:srgbClr val="F2B84B"/>
                </a:solidFill>
              </a:defRPr>
            </a:lvl7pPr>
            <a:lvl8pPr>
              <a:defRPr sz="1350" b="1">
                <a:solidFill>
                  <a:srgbClr val="F2B84B"/>
                </a:solidFill>
              </a:defRPr>
            </a:lvl8pPr>
            <a:lvl9pPr>
              <a:defRPr sz="1350" b="1">
                <a:solidFill>
                  <a:srgbClr val="F2B84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2B84B"/>
                </a:solidFill>
              </a:defRPr>
            </a:pPr>
            <a:r>
              <a:rPr sz="1350" b="1">
                <a:solidFill>
                  <a:srgbClr val="F2B84B"/>
                </a:solidFill>
              </a:rPr>
              <a:t>Synthetic engineering prototype · no clinical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9DBD9-EBB0-40DC-B36C-AC4390E6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FFFFFF"/>
                </a:solidFill>
              </a:defRPr>
            </a:defPPr>
            <a:lvl1pPr>
              <a:defRPr sz="1275" b="0">
                <a:solidFill>
                  <a:srgbClr val="FFFFFF"/>
                </a:solidFill>
              </a:defRPr>
            </a:lvl1pPr>
            <a:lvl2pPr>
              <a:defRPr sz="1275" b="0">
                <a:solidFill>
                  <a:srgbClr val="FFFFFF"/>
                </a:solidFill>
              </a:defRPr>
            </a:lvl2pPr>
            <a:lvl3pPr>
              <a:defRPr sz="1275" b="0">
                <a:solidFill>
                  <a:srgbClr val="FFFFFF"/>
                </a:solidFill>
              </a:defRPr>
            </a:lvl3pPr>
            <a:lvl4pPr>
              <a:defRPr sz="1275" b="0">
                <a:solidFill>
                  <a:srgbClr val="FFFFFF"/>
                </a:solidFill>
              </a:defRPr>
            </a:lvl4pPr>
            <a:lvl5pPr>
              <a:defRPr sz="1275" b="0">
                <a:solidFill>
                  <a:srgbClr val="FFFFFF"/>
                </a:solidFill>
              </a:defRPr>
            </a:lvl5pPr>
            <a:lvl6pPr>
              <a:defRPr sz="1275" b="0">
                <a:solidFill>
                  <a:srgbClr val="FFFFFF"/>
                </a:solidFill>
              </a:defRPr>
            </a:lvl6pPr>
            <a:lvl7pPr>
              <a:defRPr sz="1275" b="0">
                <a:solidFill>
                  <a:srgbClr val="FFFFFF"/>
                </a:solidFill>
              </a:defRPr>
            </a:lvl7pPr>
            <a:lvl8pPr>
              <a:defRPr sz="1275" b="0">
                <a:solidFill>
                  <a:srgbClr val="FFFFFF"/>
                </a:solidFill>
              </a:defRPr>
            </a:lvl8pPr>
            <a:lvl9pPr>
              <a:defRPr sz="12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19484667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9760AB-07C9-4059-87B6-1C5298D0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The forecasting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04A95-B43F-4063-BDC1-3E557C52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690C5-8903-479A-AA66-EC52B3AB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83755-835E-4288-8C30-FEABE845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10001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Can a system flag a likely delayed or absent ovulation early in a cycle, while showing uncertainty and limits?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FAC9D-90A1-4BBB-88F0-575FA07E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E9FE9-A6C4-4012-9411-5ADC9FB9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48050"/>
            <a:ext cx="948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B3A"/>
                </a:solidFill>
              </a:defRPr>
            </a:defPPr>
            <a:lvl1pPr>
              <a:defRPr sz="1650" b="0">
                <a:solidFill>
                  <a:srgbClr val="172B3A"/>
                </a:solidFill>
              </a:defRPr>
            </a:lvl1pPr>
            <a:lvl2pPr>
              <a:defRPr sz="1650" b="0">
                <a:solidFill>
                  <a:srgbClr val="172B3A"/>
                </a:solidFill>
              </a:defRPr>
            </a:lvl2pPr>
            <a:lvl3pPr>
              <a:defRPr sz="1650" b="0">
                <a:solidFill>
                  <a:srgbClr val="172B3A"/>
                </a:solidFill>
              </a:defRPr>
            </a:lvl3pPr>
            <a:lvl4pPr>
              <a:defRPr sz="1650" b="0">
                <a:solidFill>
                  <a:srgbClr val="172B3A"/>
                </a:solidFill>
              </a:defRPr>
            </a:lvl4pPr>
            <a:lvl5pPr>
              <a:defRPr sz="1650" b="0">
                <a:solidFill>
                  <a:srgbClr val="172B3A"/>
                </a:solidFill>
              </a:defRPr>
            </a:lvl5pPr>
            <a:lvl6pPr>
              <a:defRPr sz="1650" b="0">
                <a:solidFill>
                  <a:srgbClr val="172B3A"/>
                </a:solidFill>
              </a:defRPr>
            </a:lvl6pPr>
            <a:lvl7pPr>
              <a:defRPr sz="1650" b="0">
                <a:solidFill>
                  <a:srgbClr val="172B3A"/>
                </a:solidFill>
              </a:defRPr>
            </a:lvl7pPr>
            <a:lvl8pPr>
              <a:defRPr sz="1650" b="0">
                <a:solidFill>
                  <a:srgbClr val="172B3A"/>
                </a:solidFill>
              </a:defRPr>
            </a:lvl8pPr>
            <a:lvl9pPr>
              <a:defRPr sz="16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B3A"/>
                </a:solidFill>
              </a:defRPr>
            </a:pPr>
            <a:r>
              <a:rPr sz="1650" b="0">
                <a:solidFill>
                  <a:srgbClr val="172B3A"/>
                </a:solidFill>
              </a:rPr>
              <a:t>Target: synthetic anovulation or ovulation after cycle day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23E3F-E026-48CE-9066-3A46D43E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F411D-563D-4A76-85BB-12F87249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76700"/>
            <a:ext cx="948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B3A"/>
                </a:solidFill>
              </a:defRPr>
            </a:defPPr>
            <a:lvl1pPr>
              <a:defRPr sz="1650" b="0">
                <a:solidFill>
                  <a:srgbClr val="172B3A"/>
                </a:solidFill>
              </a:defRPr>
            </a:lvl1pPr>
            <a:lvl2pPr>
              <a:defRPr sz="1650" b="0">
                <a:solidFill>
                  <a:srgbClr val="172B3A"/>
                </a:solidFill>
              </a:defRPr>
            </a:lvl2pPr>
            <a:lvl3pPr>
              <a:defRPr sz="1650" b="0">
                <a:solidFill>
                  <a:srgbClr val="172B3A"/>
                </a:solidFill>
              </a:defRPr>
            </a:lvl3pPr>
            <a:lvl4pPr>
              <a:defRPr sz="1650" b="0">
                <a:solidFill>
                  <a:srgbClr val="172B3A"/>
                </a:solidFill>
              </a:defRPr>
            </a:lvl4pPr>
            <a:lvl5pPr>
              <a:defRPr sz="1650" b="0">
                <a:solidFill>
                  <a:srgbClr val="172B3A"/>
                </a:solidFill>
              </a:defRPr>
            </a:lvl5pPr>
            <a:lvl6pPr>
              <a:defRPr sz="1650" b="0">
                <a:solidFill>
                  <a:srgbClr val="172B3A"/>
                </a:solidFill>
              </a:defRPr>
            </a:lvl6pPr>
            <a:lvl7pPr>
              <a:defRPr sz="1650" b="0">
                <a:solidFill>
                  <a:srgbClr val="172B3A"/>
                </a:solidFill>
              </a:defRPr>
            </a:lvl7pPr>
            <a:lvl8pPr>
              <a:defRPr sz="1650" b="0">
                <a:solidFill>
                  <a:srgbClr val="172B3A"/>
                </a:solidFill>
              </a:defRPr>
            </a:lvl8pPr>
            <a:lvl9pPr>
              <a:defRPr sz="16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B3A"/>
                </a:solidFill>
              </a:defRPr>
            </a:pPr>
            <a:r>
              <a:rPr sz="1650" b="0">
                <a:solidFill>
                  <a:srgbClr val="172B3A"/>
                </a:solidFill>
              </a:rPr>
              <a:t>Forecast points: cycle days 10, 14 and 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C7366-B606-44A6-8AD5-7A8C8035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949C8-9491-4EE8-AD95-DE526538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05350"/>
            <a:ext cx="948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B3A"/>
                </a:solidFill>
              </a:defRPr>
            </a:defPPr>
            <a:lvl1pPr>
              <a:defRPr sz="1650" b="0">
                <a:solidFill>
                  <a:srgbClr val="172B3A"/>
                </a:solidFill>
              </a:defRPr>
            </a:lvl1pPr>
            <a:lvl2pPr>
              <a:defRPr sz="1650" b="0">
                <a:solidFill>
                  <a:srgbClr val="172B3A"/>
                </a:solidFill>
              </a:defRPr>
            </a:lvl2pPr>
            <a:lvl3pPr>
              <a:defRPr sz="1650" b="0">
                <a:solidFill>
                  <a:srgbClr val="172B3A"/>
                </a:solidFill>
              </a:defRPr>
            </a:lvl3pPr>
            <a:lvl4pPr>
              <a:defRPr sz="1650" b="0">
                <a:solidFill>
                  <a:srgbClr val="172B3A"/>
                </a:solidFill>
              </a:defRPr>
            </a:lvl4pPr>
            <a:lvl5pPr>
              <a:defRPr sz="1650" b="0">
                <a:solidFill>
                  <a:srgbClr val="172B3A"/>
                </a:solidFill>
              </a:defRPr>
            </a:lvl5pPr>
            <a:lvl6pPr>
              <a:defRPr sz="1650" b="0">
                <a:solidFill>
                  <a:srgbClr val="172B3A"/>
                </a:solidFill>
              </a:defRPr>
            </a:lvl6pPr>
            <a:lvl7pPr>
              <a:defRPr sz="1650" b="0">
                <a:solidFill>
                  <a:srgbClr val="172B3A"/>
                </a:solidFill>
              </a:defRPr>
            </a:lvl7pPr>
            <a:lvl8pPr>
              <a:defRPr sz="1650" b="0">
                <a:solidFill>
                  <a:srgbClr val="172B3A"/>
                </a:solidFill>
              </a:defRPr>
            </a:lvl8pPr>
            <a:lvl9pPr>
              <a:defRPr sz="16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B3A"/>
                </a:solidFill>
              </a:defRPr>
            </a:pPr>
            <a:r>
              <a:rPr sz="1650" b="0">
                <a:solidFill>
                  <a:srgbClr val="172B3A"/>
                </a:solidFill>
              </a:rPr>
              <a:t>Decision-support framing; no diagnostic or reproductive-planning use</a:t>
            </a:r>
          </a:p>
        </p:txBody>
      </p:sp>
    </p:spTree>
    <p:extLst>
      <p:ext uri="{BB962C8B-B14F-4D97-AF65-F5344CB8AC3E}">
        <p14:creationId xmlns:p14="http://schemas.microsoft.com/office/powerpoint/2010/main" val="4500181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3D751-C7A8-4F17-99BF-22225AC9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PMOS is a multi-system condition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71C84-ECC2-458F-BFFB-581692B8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3CA2B-5712-457D-A9CF-0912471D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5F5CE-94DC-4B7F-AD95-8341F5DE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0B7A75"/>
                </a:solidFill>
              </a:defRPr>
            </a:defPPr>
            <a:lvl1pPr>
              <a:defRPr sz="2250" b="1">
                <a:solidFill>
                  <a:srgbClr val="0B7A75"/>
                </a:solidFill>
              </a:defRPr>
            </a:lvl1pPr>
            <a:lvl2pPr>
              <a:defRPr sz="2250" b="1">
                <a:solidFill>
                  <a:srgbClr val="0B7A75"/>
                </a:solidFill>
              </a:defRPr>
            </a:lvl2pPr>
            <a:lvl3pPr>
              <a:defRPr sz="2250" b="1">
                <a:solidFill>
                  <a:srgbClr val="0B7A75"/>
                </a:solidFill>
              </a:defRPr>
            </a:lvl3pPr>
            <a:lvl4pPr>
              <a:defRPr sz="2250" b="1">
                <a:solidFill>
                  <a:srgbClr val="0B7A75"/>
                </a:solidFill>
              </a:defRPr>
            </a:lvl4pPr>
            <a:lvl5pPr>
              <a:defRPr sz="2250" b="1">
                <a:solidFill>
                  <a:srgbClr val="0B7A75"/>
                </a:solidFill>
              </a:defRPr>
            </a:lvl5pPr>
            <a:lvl6pPr>
              <a:defRPr sz="2250" b="1">
                <a:solidFill>
                  <a:srgbClr val="0B7A75"/>
                </a:solidFill>
              </a:defRPr>
            </a:lvl6pPr>
            <a:lvl7pPr>
              <a:defRPr sz="2250" b="1">
                <a:solidFill>
                  <a:srgbClr val="0B7A75"/>
                </a:solidFill>
              </a:defRPr>
            </a:lvl7pPr>
            <a:lvl8pPr>
              <a:defRPr sz="2250" b="1">
                <a:solidFill>
                  <a:srgbClr val="0B7A75"/>
                </a:solidFill>
              </a:defRPr>
            </a:lvl8pPr>
            <a:lvl9pPr>
              <a:defRPr sz="22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B7A75"/>
                </a:solidFill>
              </a:defRPr>
            </a:pPr>
            <a:r>
              <a:rPr sz="2250" b="1">
                <a:solidFill>
                  <a:srgbClr val="0B7A75"/>
                </a:solidFill>
              </a:rPr>
              <a:t>Polyendocrine metabolic ovarian syndrome (PMOS; PCOS/PCOD)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DABA4-E06A-49E6-AA3E-723A14F7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0048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72B3A"/>
                </a:solidFill>
              </a:defRPr>
            </a:defPPr>
            <a:lvl1pPr>
              <a:defRPr sz="2025" b="0">
                <a:solidFill>
                  <a:srgbClr val="172B3A"/>
                </a:solidFill>
              </a:defRPr>
            </a:lvl1pPr>
            <a:lvl2pPr>
              <a:defRPr sz="2025" b="0">
                <a:solidFill>
                  <a:srgbClr val="172B3A"/>
                </a:solidFill>
              </a:defRPr>
            </a:lvl2pPr>
            <a:lvl3pPr>
              <a:defRPr sz="2025" b="0">
                <a:solidFill>
                  <a:srgbClr val="172B3A"/>
                </a:solidFill>
              </a:defRPr>
            </a:lvl3pPr>
            <a:lvl4pPr>
              <a:defRPr sz="2025" b="0">
                <a:solidFill>
                  <a:srgbClr val="172B3A"/>
                </a:solidFill>
              </a:defRPr>
            </a:lvl4pPr>
            <a:lvl5pPr>
              <a:defRPr sz="2025" b="0">
                <a:solidFill>
                  <a:srgbClr val="172B3A"/>
                </a:solidFill>
              </a:defRPr>
            </a:lvl5pPr>
            <a:lvl6pPr>
              <a:defRPr sz="2025" b="0">
                <a:solidFill>
                  <a:srgbClr val="172B3A"/>
                </a:solidFill>
              </a:defRPr>
            </a:lvl6pPr>
            <a:lvl7pPr>
              <a:defRPr sz="2025" b="0">
                <a:solidFill>
                  <a:srgbClr val="172B3A"/>
                </a:solidFill>
              </a:defRPr>
            </a:lvl7pPr>
            <a:lvl8pPr>
              <a:defRPr sz="2025" b="0">
                <a:solidFill>
                  <a:srgbClr val="172B3A"/>
                </a:solidFill>
              </a:defRPr>
            </a:lvl8pPr>
            <a:lvl9pPr>
              <a:defRPr sz="20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B3A"/>
                </a:solidFill>
              </a:defRPr>
            </a:pPr>
            <a:r>
              <a:rPr sz="2025" b="0">
                <a:solidFill>
                  <a:srgbClr val="172B3A"/>
                </a:solidFill>
              </a:rPr>
              <a:t>The project frames the problem across reproductive and metabolic signals. The synthetic build currently evaluates only a reproductive-axis proxy.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3708D-3E43-4326-9CF7-45CB2A6B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0048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96B76"/>
                </a:solidFill>
              </a:defRPr>
            </a:defPPr>
            <a:lvl1pPr>
              <a:defRPr sz="1500" b="0">
                <a:solidFill>
                  <a:srgbClr val="596B76"/>
                </a:solidFill>
              </a:defRPr>
            </a:lvl1pPr>
            <a:lvl2pPr>
              <a:defRPr sz="1500" b="0">
                <a:solidFill>
                  <a:srgbClr val="596B76"/>
                </a:solidFill>
              </a:defRPr>
            </a:lvl2pPr>
            <a:lvl3pPr>
              <a:defRPr sz="1500" b="0">
                <a:solidFill>
                  <a:srgbClr val="596B76"/>
                </a:solidFill>
              </a:defRPr>
            </a:lvl3pPr>
            <a:lvl4pPr>
              <a:defRPr sz="1500" b="0">
                <a:solidFill>
                  <a:srgbClr val="596B76"/>
                </a:solidFill>
              </a:defRPr>
            </a:lvl4pPr>
            <a:lvl5pPr>
              <a:defRPr sz="1500" b="0">
                <a:solidFill>
                  <a:srgbClr val="596B76"/>
                </a:solidFill>
              </a:defRPr>
            </a:lvl5pPr>
            <a:lvl6pPr>
              <a:defRPr sz="1500" b="0">
                <a:solidFill>
                  <a:srgbClr val="596B76"/>
                </a:solidFill>
              </a:defRPr>
            </a:lvl6pPr>
            <a:lvl7pPr>
              <a:defRPr sz="1500" b="0">
                <a:solidFill>
                  <a:srgbClr val="596B76"/>
                </a:solidFill>
              </a:defRPr>
            </a:lvl7pPr>
            <a:lvl8pPr>
              <a:defRPr sz="1500" b="0">
                <a:solidFill>
                  <a:srgbClr val="596B76"/>
                </a:solidFill>
              </a:defRPr>
            </a:lvl8pPr>
            <a:lvl9pPr>
              <a:defRPr sz="15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B76"/>
                </a:solidFill>
              </a:defRPr>
            </a:pPr>
            <a:r>
              <a:rPr sz="1500" b="0">
                <a:solidFill>
                  <a:srgbClr val="596B76"/>
                </a:solidFill>
              </a:rPr>
              <a:t>Terminology follows Teede et al., The Lancet, 2026. The simulated phenotype labels are not diagnostic criteria.</a:t>
            </a:r>
          </a:p>
        </p:txBody>
      </p:sp>
    </p:spTree>
    <p:extLst>
      <p:ext uri="{BB962C8B-B14F-4D97-AF65-F5344CB8AC3E}">
        <p14:creationId xmlns:p14="http://schemas.microsoft.com/office/powerpoint/2010/main" val="3389048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62D0AF-5892-4571-BDAB-A83F90C7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Why a digital-twin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7B2A3-837D-4B26-845F-DE104F52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CBD31-7C15-4D2E-B846-8CAFF85D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76621-4736-4832-B234-D645C9A9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B7A75"/>
                </a:solidFill>
              </a:defRPr>
            </a:defPPr>
            <a:lvl1pPr>
              <a:defRPr sz="1725" b="1">
                <a:solidFill>
                  <a:srgbClr val="0B7A75"/>
                </a:solidFill>
              </a:defRPr>
            </a:lvl1pPr>
            <a:lvl2pPr>
              <a:defRPr sz="1725" b="1">
                <a:solidFill>
                  <a:srgbClr val="0B7A75"/>
                </a:solidFill>
              </a:defRPr>
            </a:lvl2pPr>
            <a:lvl3pPr>
              <a:defRPr sz="1725" b="1">
                <a:solidFill>
                  <a:srgbClr val="0B7A75"/>
                </a:solidFill>
              </a:defRPr>
            </a:lvl3pPr>
            <a:lvl4pPr>
              <a:defRPr sz="1725" b="1">
                <a:solidFill>
                  <a:srgbClr val="0B7A75"/>
                </a:solidFill>
              </a:defRPr>
            </a:lvl4pPr>
            <a:lvl5pPr>
              <a:defRPr sz="1725" b="1">
                <a:solidFill>
                  <a:srgbClr val="0B7A75"/>
                </a:solidFill>
              </a:defRPr>
            </a:lvl5pPr>
            <a:lvl6pPr>
              <a:defRPr sz="1725" b="1">
                <a:solidFill>
                  <a:srgbClr val="0B7A75"/>
                </a:solidFill>
              </a:defRPr>
            </a:lvl6pPr>
            <a:lvl7pPr>
              <a:defRPr sz="1725" b="1">
                <a:solidFill>
                  <a:srgbClr val="0B7A75"/>
                </a:solidFill>
              </a:defRPr>
            </a:lvl7pPr>
            <a:lvl8pPr>
              <a:defRPr sz="1725" b="1">
                <a:solidFill>
                  <a:srgbClr val="0B7A75"/>
                </a:solidFill>
              </a:defRPr>
            </a:lvl8pPr>
            <a:lvl9pPr>
              <a:defRPr sz="172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7A75"/>
                </a:solidFill>
              </a:defRPr>
            </a:pPr>
            <a:r>
              <a:rPr sz="1725" b="1">
                <a:solidFill>
                  <a:srgbClr val="0B7A75"/>
                </a:solidFill>
              </a:rPr>
              <a:t>Planned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E3FDB-19E6-4300-B2AC-5C7BAD42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B7A75"/>
                </a:solidFill>
              </a:defRPr>
            </a:defPPr>
            <a:lvl1pPr>
              <a:defRPr sz="1875" b="1">
                <a:solidFill>
                  <a:srgbClr val="0B7A75"/>
                </a:solidFill>
              </a:defRPr>
            </a:lvl1pPr>
            <a:lvl2pPr>
              <a:defRPr sz="1875" b="1">
                <a:solidFill>
                  <a:srgbClr val="0B7A75"/>
                </a:solidFill>
              </a:defRPr>
            </a:lvl2pPr>
            <a:lvl3pPr>
              <a:defRPr sz="1875" b="1">
                <a:solidFill>
                  <a:srgbClr val="0B7A75"/>
                </a:solidFill>
              </a:defRPr>
            </a:lvl3pPr>
            <a:lvl4pPr>
              <a:defRPr sz="1875" b="1">
                <a:solidFill>
                  <a:srgbClr val="0B7A75"/>
                </a:solidFill>
              </a:defRPr>
            </a:lvl4pPr>
            <a:lvl5pPr>
              <a:defRPr sz="1875" b="1">
                <a:solidFill>
                  <a:srgbClr val="0B7A75"/>
                </a:solidFill>
              </a:defRPr>
            </a:lvl5pPr>
            <a:lvl6pPr>
              <a:defRPr sz="1875" b="1">
                <a:solidFill>
                  <a:srgbClr val="0B7A75"/>
                </a:solidFill>
              </a:defRPr>
            </a:lvl6pPr>
            <a:lvl7pPr>
              <a:defRPr sz="1875" b="1">
                <a:solidFill>
                  <a:srgbClr val="0B7A75"/>
                </a:solidFill>
              </a:defRPr>
            </a:lvl7pPr>
            <a:lvl8pPr>
              <a:defRPr sz="1875" b="1">
                <a:solidFill>
                  <a:srgbClr val="0B7A75"/>
                </a:solidFill>
              </a:defRPr>
            </a:lvl8pPr>
            <a:lvl9pPr>
              <a:defRPr sz="187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7A75"/>
                </a:solidFill>
              </a:defRPr>
            </a:pPr>
            <a:r>
              <a:rPr sz="187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3B808-6DDE-4639-8741-74E01765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52650"/>
            <a:ext cx="4438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Reproductive follicle and ovulation dynamics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90894-AF57-4579-A90C-CAB66972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B7A75"/>
                </a:solidFill>
              </a:defRPr>
            </a:defPPr>
            <a:lvl1pPr>
              <a:defRPr sz="1875" b="1">
                <a:solidFill>
                  <a:srgbClr val="0B7A75"/>
                </a:solidFill>
              </a:defRPr>
            </a:lvl1pPr>
            <a:lvl2pPr>
              <a:defRPr sz="1875" b="1">
                <a:solidFill>
                  <a:srgbClr val="0B7A75"/>
                </a:solidFill>
              </a:defRPr>
            </a:lvl2pPr>
            <a:lvl3pPr>
              <a:defRPr sz="1875" b="1">
                <a:solidFill>
                  <a:srgbClr val="0B7A75"/>
                </a:solidFill>
              </a:defRPr>
            </a:lvl3pPr>
            <a:lvl4pPr>
              <a:defRPr sz="1875" b="1">
                <a:solidFill>
                  <a:srgbClr val="0B7A75"/>
                </a:solidFill>
              </a:defRPr>
            </a:lvl4pPr>
            <a:lvl5pPr>
              <a:defRPr sz="1875" b="1">
                <a:solidFill>
                  <a:srgbClr val="0B7A75"/>
                </a:solidFill>
              </a:defRPr>
            </a:lvl5pPr>
            <a:lvl6pPr>
              <a:defRPr sz="1875" b="1">
                <a:solidFill>
                  <a:srgbClr val="0B7A75"/>
                </a:solidFill>
              </a:defRPr>
            </a:lvl6pPr>
            <a:lvl7pPr>
              <a:defRPr sz="1875" b="1">
                <a:solidFill>
                  <a:srgbClr val="0B7A75"/>
                </a:solidFill>
              </a:defRPr>
            </a:lvl7pPr>
            <a:lvl8pPr>
              <a:defRPr sz="1875" b="1">
                <a:solidFill>
                  <a:srgbClr val="0B7A75"/>
                </a:solidFill>
              </a:defRPr>
            </a:lvl8pPr>
            <a:lvl9pPr>
              <a:defRPr sz="187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7A75"/>
                </a:solidFill>
              </a:defRPr>
            </a:pPr>
            <a:r>
              <a:rPr sz="187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26590-B88D-4621-8D04-EFDA2178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71800"/>
            <a:ext cx="4438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Metabolic glucose dynamics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23943-55AB-454A-BF25-DE4CA282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B7A75"/>
                </a:solidFill>
              </a:defRPr>
            </a:defPPr>
            <a:lvl1pPr>
              <a:defRPr sz="1875" b="1">
                <a:solidFill>
                  <a:srgbClr val="0B7A75"/>
                </a:solidFill>
              </a:defRPr>
            </a:lvl1pPr>
            <a:lvl2pPr>
              <a:defRPr sz="1875" b="1">
                <a:solidFill>
                  <a:srgbClr val="0B7A75"/>
                </a:solidFill>
              </a:defRPr>
            </a:lvl2pPr>
            <a:lvl3pPr>
              <a:defRPr sz="1875" b="1">
                <a:solidFill>
                  <a:srgbClr val="0B7A75"/>
                </a:solidFill>
              </a:defRPr>
            </a:lvl3pPr>
            <a:lvl4pPr>
              <a:defRPr sz="1875" b="1">
                <a:solidFill>
                  <a:srgbClr val="0B7A75"/>
                </a:solidFill>
              </a:defRPr>
            </a:lvl4pPr>
            <a:lvl5pPr>
              <a:defRPr sz="1875" b="1">
                <a:solidFill>
                  <a:srgbClr val="0B7A75"/>
                </a:solidFill>
              </a:defRPr>
            </a:lvl5pPr>
            <a:lvl6pPr>
              <a:defRPr sz="1875" b="1">
                <a:solidFill>
                  <a:srgbClr val="0B7A75"/>
                </a:solidFill>
              </a:defRPr>
            </a:lvl6pPr>
            <a:lvl7pPr>
              <a:defRPr sz="1875" b="1">
                <a:solidFill>
                  <a:srgbClr val="0B7A75"/>
                </a:solidFill>
              </a:defRPr>
            </a:lvl7pPr>
            <a:lvl8pPr>
              <a:defRPr sz="1875" b="1">
                <a:solidFill>
                  <a:srgbClr val="0B7A75"/>
                </a:solidFill>
              </a:defRPr>
            </a:lvl8pPr>
            <a:lvl9pPr>
              <a:defRPr sz="187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7A75"/>
                </a:solidFill>
              </a:defRPr>
            </a:pPr>
            <a:r>
              <a:rPr sz="187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FC406-A7B0-4CEC-BEBB-B401273B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4438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Shared insulin-resistance latent with reverse cycle coupling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476D1-37C8-4311-BD15-11E7EF28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B7A75"/>
                </a:solidFill>
              </a:defRPr>
            </a:defPPr>
            <a:lvl1pPr>
              <a:defRPr sz="1725" b="1">
                <a:solidFill>
                  <a:srgbClr val="0B7A75"/>
                </a:solidFill>
              </a:defRPr>
            </a:lvl1pPr>
            <a:lvl2pPr>
              <a:defRPr sz="1725" b="1">
                <a:solidFill>
                  <a:srgbClr val="0B7A75"/>
                </a:solidFill>
              </a:defRPr>
            </a:lvl2pPr>
            <a:lvl3pPr>
              <a:defRPr sz="1725" b="1">
                <a:solidFill>
                  <a:srgbClr val="0B7A75"/>
                </a:solidFill>
              </a:defRPr>
            </a:lvl3pPr>
            <a:lvl4pPr>
              <a:defRPr sz="1725" b="1">
                <a:solidFill>
                  <a:srgbClr val="0B7A75"/>
                </a:solidFill>
              </a:defRPr>
            </a:lvl4pPr>
            <a:lvl5pPr>
              <a:defRPr sz="1725" b="1">
                <a:solidFill>
                  <a:srgbClr val="0B7A75"/>
                </a:solidFill>
              </a:defRPr>
            </a:lvl5pPr>
            <a:lvl6pPr>
              <a:defRPr sz="1725" b="1">
                <a:solidFill>
                  <a:srgbClr val="0B7A75"/>
                </a:solidFill>
              </a:defRPr>
            </a:lvl6pPr>
            <a:lvl7pPr>
              <a:defRPr sz="1725" b="1">
                <a:solidFill>
                  <a:srgbClr val="0B7A75"/>
                </a:solidFill>
              </a:defRPr>
            </a:lvl7pPr>
            <a:lvl8pPr>
              <a:defRPr sz="1725" b="1">
                <a:solidFill>
                  <a:srgbClr val="0B7A75"/>
                </a:solidFill>
              </a:defRPr>
            </a:lvl8pPr>
            <a:lvl9pPr>
              <a:defRPr sz="172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7A75"/>
                </a:solidFill>
              </a:defRPr>
            </a:pPr>
            <a:r>
              <a:rPr sz="1725" b="1">
                <a:solidFill>
                  <a:srgbClr val="0B7A75"/>
                </a:solidFill>
              </a:rPr>
              <a:t>Current 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D0E9F5-B78B-47F3-BFF9-3E94E62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97465-4FA9-4011-87D5-771C87FD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52650"/>
            <a:ext cx="4343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Stochastic synthetic cycle generator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B2C6F-AD48-4A04-AD4E-01402AEC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3BC46-B6CE-4B5C-8052-39A57685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343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Fixed risk score and temperature coverline heuristic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19E7F-54DC-4042-9648-9F2C1301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909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CA0029-01A0-443A-9907-98A3CE23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90950"/>
            <a:ext cx="4343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Simplified coupled twin shown in dashboard; not calibrated</a:t>
            </a:r>
          </a:p>
        </p:txBody>
      </p:sp>
    </p:spTree>
    <p:extLst>
      <p:ext uri="{BB962C8B-B14F-4D97-AF65-F5344CB8AC3E}">
        <p14:creationId xmlns:p14="http://schemas.microsoft.com/office/powerpoint/2010/main" val="20794728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D9D480-12D5-46F8-B947-69E72217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Data fusion and sensor tiers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102CA-04C9-43A9-B761-59127B36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1B8DC-3443-4F81-8577-31959A2E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17F10-0493-4F30-B381-3AC3F874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809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DF1ED"/>
          </a:solidFill>
          <a:ln xmlns:a="http://schemas.openxmlformats.org/drawingml/2006/main" w="9525">
            <a:solidFill>
              <a:srgbClr val="C9D5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56522-9FAB-4C7C-A238-245114A5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Tier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43178-3855-46B2-9427-7EA6D69E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B3A"/>
                </a:solidFill>
              </a:defRPr>
            </a:defPPr>
            <a:lvl1pPr>
              <a:defRPr sz="1425" b="0">
                <a:solidFill>
                  <a:srgbClr val="172B3A"/>
                </a:solidFill>
              </a:defRPr>
            </a:lvl1pPr>
            <a:lvl2pPr>
              <a:defRPr sz="1425" b="0">
                <a:solidFill>
                  <a:srgbClr val="172B3A"/>
                </a:solidFill>
              </a:defRPr>
            </a:lvl2pPr>
            <a:lvl3pPr>
              <a:defRPr sz="1425" b="0">
                <a:solidFill>
                  <a:srgbClr val="172B3A"/>
                </a:solidFill>
              </a:defRPr>
            </a:lvl3pPr>
            <a:lvl4pPr>
              <a:defRPr sz="1425" b="0">
                <a:solidFill>
                  <a:srgbClr val="172B3A"/>
                </a:solidFill>
              </a:defRPr>
            </a:lvl4pPr>
            <a:lvl5pPr>
              <a:defRPr sz="1425" b="0">
                <a:solidFill>
                  <a:srgbClr val="172B3A"/>
                </a:solidFill>
              </a:defRPr>
            </a:lvl5pPr>
            <a:lvl6pPr>
              <a:defRPr sz="1425" b="0">
                <a:solidFill>
                  <a:srgbClr val="172B3A"/>
                </a:solidFill>
              </a:defRPr>
            </a:lvl6pPr>
            <a:lvl7pPr>
              <a:defRPr sz="1425" b="0">
                <a:solidFill>
                  <a:srgbClr val="172B3A"/>
                </a:solidFill>
              </a:defRPr>
            </a:lvl7pPr>
            <a:lvl8pPr>
              <a:defRPr sz="1425" b="0">
                <a:solidFill>
                  <a:srgbClr val="172B3A"/>
                </a:solidFill>
              </a:defRPr>
            </a:lvl8pPr>
            <a:lvl9pPr>
              <a:defRPr sz="14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B3A"/>
                </a:solidFill>
              </a:defRPr>
            </a:pPr>
            <a:r>
              <a:rPr sz="1425" b="0">
                <a:solidFill>
                  <a:srgbClr val="172B3A"/>
                </a:solidFill>
              </a:rPr>
              <a:t>Period logs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384A6-D2FD-42B8-933E-FB555360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22885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596B76"/>
                </a:solidFill>
              </a:defRPr>
            </a:defPPr>
            <a:lvl1pPr>
              <a:defRPr sz="2250" b="1">
                <a:solidFill>
                  <a:srgbClr val="596B76"/>
                </a:solidFill>
              </a:defRPr>
            </a:lvl1pPr>
            <a:lvl2pPr>
              <a:defRPr sz="2250" b="1">
                <a:solidFill>
                  <a:srgbClr val="596B76"/>
                </a:solidFill>
              </a:defRPr>
            </a:lvl2pPr>
            <a:lvl3pPr>
              <a:defRPr sz="2250" b="1">
                <a:solidFill>
                  <a:srgbClr val="596B76"/>
                </a:solidFill>
              </a:defRPr>
            </a:lvl3pPr>
            <a:lvl4pPr>
              <a:defRPr sz="2250" b="1">
                <a:solidFill>
                  <a:srgbClr val="596B76"/>
                </a:solidFill>
              </a:defRPr>
            </a:lvl4pPr>
            <a:lvl5pPr>
              <a:defRPr sz="2250" b="1">
                <a:solidFill>
                  <a:srgbClr val="596B76"/>
                </a:solidFill>
              </a:defRPr>
            </a:lvl5pPr>
            <a:lvl6pPr>
              <a:defRPr sz="2250" b="1">
                <a:solidFill>
                  <a:srgbClr val="596B76"/>
                </a:solidFill>
              </a:defRPr>
            </a:lvl6pPr>
            <a:lvl7pPr>
              <a:defRPr sz="2250" b="1">
                <a:solidFill>
                  <a:srgbClr val="596B76"/>
                </a:solidFill>
              </a:defRPr>
            </a:lvl7pPr>
            <a:lvl8pPr>
              <a:defRPr sz="2250" b="1">
                <a:solidFill>
                  <a:srgbClr val="596B76"/>
                </a:solidFill>
              </a:defRPr>
            </a:lvl8pPr>
            <a:lvl9pPr>
              <a:defRPr sz="2250" b="1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96B76"/>
                </a:solidFill>
              </a:defRPr>
            </a:pPr>
            <a:r>
              <a:rPr sz="2250" b="1">
                <a:solidFill>
                  <a:srgbClr val="596B76"/>
                </a:solidFill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F9EC6-C219-470F-B9D8-522445B3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1809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DF1ED"/>
          </a:solidFill>
          <a:ln xmlns:a="http://schemas.openxmlformats.org/drawingml/2006/main" w="9525">
            <a:solidFill>
              <a:srgbClr val="C9D5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1BDAA-2BD6-4915-8FB2-EDF08C03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81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Tier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37619-5D65-47B9-BC77-A9F76468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193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B3A"/>
                </a:solidFill>
              </a:defRPr>
            </a:defPPr>
            <a:lvl1pPr>
              <a:defRPr sz="1425" b="0">
                <a:solidFill>
                  <a:srgbClr val="172B3A"/>
                </a:solidFill>
              </a:defRPr>
            </a:lvl1pPr>
            <a:lvl2pPr>
              <a:defRPr sz="1425" b="0">
                <a:solidFill>
                  <a:srgbClr val="172B3A"/>
                </a:solidFill>
              </a:defRPr>
            </a:lvl2pPr>
            <a:lvl3pPr>
              <a:defRPr sz="1425" b="0">
                <a:solidFill>
                  <a:srgbClr val="172B3A"/>
                </a:solidFill>
              </a:defRPr>
            </a:lvl3pPr>
            <a:lvl4pPr>
              <a:defRPr sz="1425" b="0">
                <a:solidFill>
                  <a:srgbClr val="172B3A"/>
                </a:solidFill>
              </a:defRPr>
            </a:lvl4pPr>
            <a:lvl5pPr>
              <a:defRPr sz="1425" b="0">
                <a:solidFill>
                  <a:srgbClr val="172B3A"/>
                </a:solidFill>
              </a:defRPr>
            </a:lvl5pPr>
            <a:lvl6pPr>
              <a:defRPr sz="1425" b="0">
                <a:solidFill>
                  <a:srgbClr val="172B3A"/>
                </a:solidFill>
              </a:defRPr>
            </a:lvl6pPr>
            <a:lvl7pPr>
              <a:defRPr sz="1425" b="0">
                <a:solidFill>
                  <a:srgbClr val="172B3A"/>
                </a:solidFill>
              </a:defRPr>
            </a:lvl7pPr>
            <a:lvl8pPr>
              <a:defRPr sz="1425" b="0">
                <a:solidFill>
                  <a:srgbClr val="172B3A"/>
                </a:solidFill>
              </a:defRPr>
            </a:lvl8pPr>
            <a:lvl9pPr>
              <a:defRPr sz="14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B3A"/>
                </a:solidFill>
              </a:defRPr>
            </a:pPr>
            <a:r>
              <a:rPr sz="1425" b="0">
                <a:solidFill>
                  <a:srgbClr val="172B3A"/>
                </a:solidFill>
              </a:rPr>
              <a:t>+ resting HR*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AC053-C03F-49DB-BE10-B915688A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22885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596B76"/>
                </a:solidFill>
              </a:defRPr>
            </a:defPPr>
            <a:lvl1pPr>
              <a:defRPr sz="2250" b="1">
                <a:solidFill>
                  <a:srgbClr val="596B76"/>
                </a:solidFill>
              </a:defRPr>
            </a:lvl1pPr>
            <a:lvl2pPr>
              <a:defRPr sz="2250" b="1">
                <a:solidFill>
                  <a:srgbClr val="596B76"/>
                </a:solidFill>
              </a:defRPr>
            </a:lvl2pPr>
            <a:lvl3pPr>
              <a:defRPr sz="2250" b="1">
                <a:solidFill>
                  <a:srgbClr val="596B76"/>
                </a:solidFill>
              </a:defRPr>
            </a:lvl3pPr>
            <a:lvl4pPr>
              <a:defRPr sz="2250" b="1">
                <a:solidFill>
                  <a:srgbClr val="596B76"/>
                </a:solidFill>
              </a:defRPr>
            </a:lvl4pPr>
            <a:lvl5pPr>
              <a:defRPr sz="2250" b="1">
                <a:solidFill>
                  <a:srgbClr val="596B76"/>
                </a:solidFill>
              </a:defRPr>
            </a:lvl5pPr>
            <a:lvl6pPr>
              <a:defRPr sz="2250" b="1">
                <a:solidFill>
                  <a:srgbClr val="596B76"/>
                </a:solidFill>
              </a:defRPr>
            </a:lvl6pPr>
            <a:lvl7pPr>
              <a:defRPr sz="2250" b="1">
                <a:solidFill>
                  <a:srgbClr val="596B76"/>
                </a:solidFill>
              </a:defRPr>
            </a:lvl7pPr>
            <a:lvl8pPr>
              <a:defRPr sz="2250" b="1">
                <a:solidFill>
                  <a:srgbClr val="596B76"/>
                </a:solidFill>
              </a:defRPr>
            </a:lvl8pPr>
            <a:lvl9pPr>
              <a:defRPr sz="2250" b="1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96B76"/>
                </a:solidFill>
              </a:defRPr>
            </a:pPr>
            <a:r>
              <a:rPr sz="2250" b="1">
                <a:solidFill>
                  <a:srgbClr val="596B76"/>
                </a:solidFill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0C706-B77A-4AC4-BAF0-C9EED532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66900"/>
            <a:ext cx="1809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DF1ED"/>
          </a:solidFill>
          <a:ln xmlns:a="http://schemas.openxmlformats.org/drawingml/2006/main" w="9525">
            <a:solidFill>
              <a:srgbClr val="C9D5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9EF39-4672-4361-A647-135B3BB0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81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Tier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01123-DADD-4B9E-9952-8BDFA793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193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B3A"/>
                </a:solidFill>
              </a:defRPr>
            </a:defPPr>
            <a:lvl1pPr>
              <a:defRPr sz="1425" b="0">
                <a:solidFill>
                  <a:srgbClr val="172B3A"/>
                </a:solidFill>
              </a:defRPr>
            </a:lvl1pPr>
            <a:lvl2pPr>
              <a:defRPr sz="1425" b="0">
                <a:solidFill>
                  <a:srgbClr val="172B3A"/>
                </a:solidFill>
              </a:defRPr>
            </a:lvl2pPr>
            <a:lvl3pPr>
              <a:defRPr sz="1425" b="0">
                <a:solidFill>
                  <a:srgbClr val="172B3A"/>
                </a:solidFill>
              </a:defRPr>
            </a:lvl3pPr>
            <a:lvl4pPr>
              <a:defRPr sz="1425" b="0">
                <a:solidFill>
                  <a:srgbClr val="172B3A"/>
                </a:solidFill>
              </a:defRPr>
            </a:lvl4pPr>
            <a:lvl5pPr>
              <a:defRPr sz="1425" b="0">
                <a:solidFill>
                  <a:srgbClr val="172B3A"/>
                </a:solidFill>
              </a:defRPr>
            </a:lvl5pPr>
            <a:lvl6pPr>
              <a:defRPr sz="1425" b="0">
                <a:solidFill>
                  <a:srgbClr val="172B3A"/>
                </a:solidFill>
              </a:defRPr>
            </a:lvl6pPr>
            <a:lvl7pPr>
              <a:defRPr sz="1425" b="0">
                <a:solidFill>
                  <a:srgbClr val="172B3A"/>
                </a:solidFill>
              </a:defRPr>
            </a:lvl7pPr>
            <a:lvl8pPr>
              <a:defRPr sz="1425" b="0">
                <a:solidFill>
                  <a:srgbClr val="172B3A"/>
                </a:solidFill>
              </a:defRPr>
            </a:lvl8pPr>
            <a:lvl9pPr>
              <a:defRPr sz="14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B3A"/>
                </a:solidFill>
              </a:defRPr>
            </a:pPr>
            <a:r>
              <a:rPr sz="1425" b="0">
                <a:solidFill>
                  <a:srgbClr val="172B3A"/>
                </a:solidFill>
              </a:rPr>
              <a:t>+ nightly temp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2A2334-2441-47CB-B615-82B688AB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2885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596B76"/>
                </a:solidFill>
              </a:defRPr>
            </a:defPPr>
            <a:lvl1pPr>
              <a:defRPr sz="2250" b="1">
                <a:solidFill>
                  <a:srgbClr val="596B76"/>
                </a:solidFill>
              </a:defRPr>
            </a:lvl1pPr>
            <a:lvl2pPr>
              <a:defRPr sz="2250" b="1">
                <a:solidFill>
                  <a:srgbClr val="596B76"/>
                </a:solidFill>
              </a:defRPr>
            </a:lvl2pPr>
            <a:lvl3pPr>
              <a:defRPr sz="2250" b="1">
                <a:solidFill>
                  <a:srgbClr val="596B76"/>
                </a:solidFill>
              </a:defRPr>
            </a:lvl3pPr>
            <a:lvl4pPr>
              <a:defRPr sz="2250" b="1">
                <a:solidFill>
                  <a:srgbClr val="596B76"/>
                </a:solidFill>
              </a:defRPr>
            </a:lvl4pPr>
            <a:lvl5pPr>
              <a:defRPr sz="2250" b="1">
                <a:solidFill>
                  <a:srgbClr val="596B76"/>
                </a:solidFill>
              </a:defRPr>
            </a:lvl5pPr>
            <a:lvl6pPr>
              <a:defRPr sz="2250" b="1">
                <a:solidFill>
                  <a:srgbClr val="596B76"/>
                </a:solidFill>
              </a:defRPr>
            </a:lvl6pPr>
            <a:lvl7pPr>
              <a:defRPr sz="2250" b="1">
                <a:solidFill>
                  <a:srgbClr val="596B76"/>
                </a:solidFill>
              </a:defRPr>
            </a:lvl7pPr>
            <a:lvl8pPr>
              <a:defRPr sz="2250" b="1">
                <a:solidFill>
                  <a:srgbClr val="596B76"/>
                </a:solidFill>
              </a:defRPr>
            </a:lvl8pPr>
            <a:lvl9pPr>
              <a:defRPr sz="2250" b="1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96B76"/>
                </a:solidFill>
              </a:defRPr>
            </a:pPr>
            <a:r>
              <a:rPr sz="2250" b="1">
                <a:solidFill>
                  <a:srgbClr val="596B76"/>
                </a:solidFill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662633-A4B2-4D41-A008-8750AE8F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66900"/>
            <a:ext cx="1809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C9D5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FDA753-7DC4-4247-A4AB-0CA576C8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81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Tier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8A447-22F4-4E1B-95C5-2DFC4A5D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193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B3A"/>
                </a:solidFill>
              </a:defRPr>
            </a:defPPr>
            <a:lvl1pPr>
              <a:defRPr sz="1425" b="0">
                <a:solidFill>
                  <a:srgbClr val="172B3A"/>
                </a:solidFill>
              </a:defRPr>
            </a:lvl1pPr>
            <a:lvl2pPr>
              <a:defRPr sz="1425" b="0">
                <a:solidFill>
                  <a:srgbClr val="172B3A"/>
                </a:solidFill>
              </a:defRPr>
            </a:lvl2pPr>
            <a:lvl3pPr>
              <a:defRPr sz="1425" b="0">
                <a:solidFill>
                  <a:srgbClr val="172B3A"/>
                </a:solidFill>
              </a:defRPr>
            </a:lvl3pPr>
            <a:lvl4pPr>
              <a:defRPr sz="1425" b="0">
                <a:solidFill>
                  <a:srgbClr val="172B3A"/>
                </a:solidFill>
              </a:defRPr>
            </a:lvl4pPr>
            <a:lvl5pPr>
              <a:defRPr sz="1425" b="0">
                <a:solidFill>
                  <a:srgbClr val="172B3A"/>
                </a:solidFill>
              </a:defRPr>
            </a:lvl5pPr>
            <a:lvl6pPr>
              <a:defRPr sz="1425" b="0">
                <a:solidFill>
                  <a:srgbClr val="172B3A"/>
                </a:solidFill>
              </a:defRPr>
            </a:lvl6pPr>
            <a:lvl7pPr>
              <a:defRPr sz="1425" b="0">
                <a:solidFill>
                  <a:srgbClr val="172B3A"/>
                </a:solidFill>
              </a:defRPr>
            </a:lvl7pPr>
            <a:lvl8pPr>
              <a:defRPr sz="1425" b="0">
                <a:solidFill>
                  <a:srgbClr val="172B3A"/>
                </a:solidFill>
              </a:defRPr>
            </a:lvl8pPr>
            <a:lvl9pPr>
              <a:defRPr sz="14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B3A"/>
                </a:solidFill>
              </a:defRPr>
            </a:pPr>
            <a:r>
              <a:rPr sz="1425" b="0">
                <a:solidFill>
                  <a:srgbClr val="172B3A"/>
                </a:solidFill>
              </a:rPr>
              <a:t>+ CGM windows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C0D392-57C7-4EF4-8799-84831D1C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22885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596B76"/>
                </a:solidFill>
              </a:defRPr>
            </a:defPPr>
            <a:lvl1pPr>
              <a:defRPr sz="2250" b="1">
                <a:solidFill>
                  <a:srgbClr val="596B76"/>
                </a:solidFill>
              </a:defRPr>
            </a:lvl1pPr>
            <a:lvl2pPr>
              <a:defRPr sz="2250" b="1">
                <a:solidFill>
                  <a:srgbClr val="596B76"/>
                </a:solidFill>
              </a:defRPr>
            </a:lvl2pPr>
            <a:lvl3pPr>
              <a:defRPr sz="2250" b="1">
                <a:solidFill>
                  <a:srgbClr val="596B76"/>
                </a:solidFill>
              </a:defRPr>
            </a:lvl3pPr>
            <a:lvl4pPr>
              <a:defRPr sz="2250" b="1">
                <a:solidFill>
                  <a:srgbClr val="596B76"/>
                </a:solidFill>
              </a:defRPr>
            </a:lvl4pPr>
            <a:lvl5pPr>
              <a:defRPr sz="2250" b="1">
                <a:solidFill>
                  <a:srgbClr val="596B76"/>
                </a:solidFill>
              </a:defRPr>
            </a:lvl5pPr>
            <a:lvl6pPr>
              <a:defRPr sz="2250" b="1">
                <a:solidFill>
                  <a:srgbClr val="596B76"/>
                </a:solidFill>
              </a:defRPr>
            </a:lvl6pPr>
            <a:lvl7pPr>
              <a:defRPr sz="2250" b="1">
                <a:solidFill>
                  <a:srgbClr val="596B76"/>
                </a:solidFill>
              </a:defRPr>
            </a:lvl7pPr>
            <a:lvl8pPr>
              <a:defRPr sz="2250" b="1">
                <a:solidFill>
                  <a:srgbClr val="596B76"/>
                </a:solidFill>
              </a:defRPr>
            </a:lvl8pPr>
            <a:lvl9pPr>
              <a:defRPr sz="2250" b="1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96B76"/>
                </a:solidFill>
              </a:defRPr>
            </a:pPr>
            <a:r>
              <a:rPr sz="2250" b="1">
                <a:solidFill>
                  <a:srgbClr val="596B76"/>
                </a:solidFill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317559-AE55-41E0-BDD2-C0859C04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66900"/>
            <a:ext cx="1809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C9D5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9FBF5-7FCE-4B10-8BE8-CDB681FE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981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Tier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B59B4F-EDBF-44FE-A058-F74931DD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193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B3A"/>
                </a:solidFill>
              </a:defRPr>
            </a:defPPr>
            <a:lvl1pPr>
              <a:defRPr sz="1425" b="0">
                <a:solidFill>
                  <a:srgbClr val="172B3A"/>
                </a:solidFill>
              </a:defRPr>
            </a:lvl1pPr>
            <a:lvl2pPr>
              <a:defRPr sz="1425" b="0">
                <a:solidFill>
                  <a:srgbClr val="172B3A"/>
                </a:solidFill>
              </a:defRPr>
            </a:lvl2pPr>
            <a:lvl3pPr>
              <a:defRPr sz="1425" b="0">
                <a:solidFill>
                  <a:srgbClr val="172B3A"/>
                </a:solidFill>
              </a:defRPr>
            </a:lvl3pPr>
            <a:lvl4pPr>
              <a:defRPr sz="1425" b="0">
                <a:solidFill>
                  <a:srgbClr val="172B3A"/>
                </a:solidFill>
              </a:defRPr>
            </a:lvl4pPr>
            <a:lvl5pPr>
              <a:defRPr sz="1425" b="0">
                <a:solidFill>
                  <a:srgbClr val="172B3A"/>
                </a:solidFill>
              </a:defRPr>
            </a:lvl5pPr>
            <a:lvl6pPr>
              <a:defRPr sz="1425" b="0">
                <a:solidFill>
                  <a:srgbClr val="172B3A"/>
                </a:solidFill>
              </a:defRPr>
            </a:lvl6pPr>
            <a:lvl7pPr>
              <a:defRPr sz="1425" b="0">
                <a:solidFill>
                  <a:srgbClr val="172B3A"/>
                </a:solidFill>
              </a:defRPr>
            </a:lvl7pPr>
            <a:lvl8pPr>
              <a:defRPr sz="1425" b="0">
                <a:solidFill>
                  <a:srgbClr val="172B3A"/>
                </a:solidFill>
              </a:defRPr>
            </a:lvl8pPr>
            <a:lvl9pPr>
              <a:defRPr sz="14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B3A"/>
                </a:solidFill>
              </a:defRPr>
            </a:pPr>
            <a:r>
              <a:rPr sz="1425" b="0">
                <a:solidFill>
                  <a:srgbClr val="172B3A"/>
                </a:solidFill>
              </a:rPr>
              <a:t>+ EHR labs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3374DF-55A3-47DE-82B9-52E5533A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72B3A"/>
                </a:solidFill>
              </a:defRPr>
            </a:defPPr>
            <a:lvl1pPr>
              <a:defRPr sz="1725" b="0">
                <a:solidFill>
                  <a:srgbClr val="172B3A"/>
                </a:solidFill>
              </a:defRPr>
            </a:lvl1pPr>
            <a:lvl2pPr>
              <a:defRPr sz="1725" b="0">
                <a:solidFill>
                  <a:srgbClr val="172B3A"/>
                </a:solidFill>
              </a:defRPr>
            </a:lvl2pPr>
            <a:lvl3pPr>
              <a:defRPr sz="1725" b="0">
                <a:solidFill>
                  <a:srgbClr val="172B3A"/>
                </a:solidFill>
              </a:defRPr>
            </a:lvl3pPr>
            <a:lvl4pPr>
              <a:defRPr sz="1725" b="0">
                <a:solidFill>
                  <a:srgbClr val="172B3A"/>
                </a:solidFill>
              </a:defRPr>
            </a:lvl4pPr>
            <a:lvl5pPr>
              <a:defRPr sz="1725" b="0">
                <a:solidFill>
                  <a:srgbClr val="172B3A"/>
                </a:solidFill>
              </a:defRPr>
            </a:lvl5pPr>
            <a:lvl6pPr>
              <a:defRPr sz="1725" b="0">
                <a:solidFill>
                  <a:srgbClr val="172B3A"/>
                </a:solidFill>
              </a:defRPr>
            </a:lvl6pPr>
            <a:lvl7pPr>
              <a:defRPr sz="1725" b="0">
                <a:solidFill>
                  <a:srgbClr val="172B3A"/>
                </a:solidFill>
              </a:defRPr>
            </a:lvl7pPr>
            <a:lvl8pPr>
              <a:defRPr sz="1725" b="0">
                <a:solidFill>
                  <a:srgbClr val="172B3A"/>
                </a:solidFill>
              </a:defRPr>
            </a:lvl8pPr>
            <a:lvl9pPr>
              <a:defRPr sz="17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Implemented evaluator: neutral period-only score; tier 1 uses resting-heart-rate offsets; tier 2 adds nightly temperature.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CA8812-93E0-4C6F-9EC0-E50D2BA0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96B76"/>
                </a:solidFill>
              </a:defRPr>
            </a:defPPr>
            <a:lvl1pPr>
              <a:defRPr sz="1350" b="0">
                <a:solidFill>
                  <a:srgbClr val="596B76"/>
                </a:solidFill>
              </a:defRPr>
            </a:lvl1pPr>
            <a:lvl2pPr>
              <a:defRPr sz="1350" b="0">
                <a:solidFill>
                  <a:srgbClr val="596B76"/>
                </a:solidFill>
              </a:defRPr>
            </a:lvl2pPr>
            <a:lvl3pPr>
              <a:defRPr sz="1350" b="0">
                <a:solidFill>
                  <a:srgbClr val="596B76"/>
                </a:solidFill>
              </a:defRPr>
            </a:lvl3pPr>
            <a:lvl4pPr>
              <a:defRPr sz="1350" b="0">
                <a:solidFill>
                  <a:srgbClr val="596B76"/>
                </a:solidFill>
              </a:defRPr>
            </a:lvl4pPr>
            <a:lvl5pPr>
              <a:defRPr sz="1350" b="0">
                <a:solidFill>
                  <a:srgbClr val="596B76"/>
                </a:solidFill>
              </a:defRPr>
            </a:lvl5pPr>
            <a:lvl6pPr>
              <a:defRPr sz="1350" b="0">
                <a:solidFill>
                  <a:srgbClr val="596B76"/>
                </a:solidFill>
              </a:defRPr>
            </a:lvl6pPr>
            <a:lvl7pPr>
              <a:defRPr sz="1350" b="0">
                <a:solidFill>
                  <a:srgbClr val="596B76"/>
                </a:solidFill>
              </a:defRPr>
            </a:lvl7pPr>
            <a:lvl8pPr>
              <a:defRPr sz="1350" b="0">
                <a:solidFill>
                  <a:srgbClr val="596B76"/>
                </a:solidFill>
              </a:defRPr>
            </a:lvl8pPr>
            <a:lvl9pPr>
              <a:defRPr sz="135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6B76"/>
                </a:solidFill>
              </a:defRPr>
            </a:pPr>
            <a:r>
              <a:rPr sz="1350" b="0">
                <a:solidFill>
                  <a:srgbClr val="596B76"/>
                </a:solidFill>
              </a:rPr>
              <a:t>* Other wearable streams are generated but not fused. CGM display is synthetic only; E2 and EHR tiers are not evaluated.</a:t>
            </a:r>
          </a:p>
        </p:txBody>
      </p:sp>
    </p:spTree>
    <p:extLst>
      <p:ext uri="{BB962C8B-B14F-4D97-AF65-F5344CB8AC3E}">
        <p14:creationId xmlns:p14="http://schemas.microsoft.com/office/powerpoint/2010/main" val="9620604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BB20B-FB7A-4D33-AF10-CB728245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Synthetic data and leakage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E0351-2D6B-4F1F-80AC-3525F35A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F1028-96B7-4208-AD71-E1D780AE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AAF7B-5FD8-4272-A358-31163822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B7A75"/>
                </a:solidFill>
              </a:defRPr>
            </a:defPPr>
            <a:lvl1pPr>
              <a:defRPr sz="1875" b="1">
                <a:solidFill>
                  <a:srgbClr val="0B7A75"/>
                </a:solidFill>
              </a:defRPr>
            </a:lvl1pPr>
            <a:lvl2pPr>
              <a:defRPr sz="1875" b="1">
                <a:solidFill>
                  <a:srgbClr val="0B7A75"/>
                </a:solidFill>
              </a:defRPr>
            </a:lvl2pPr>
            <a:lvl3pPr>
              <a:defRPr sz="1875" b="1">
                <a:solidFill>
                  <a:srgbClr val="0B7A75"/>
                </a:solidFill>
              </a:defRPr>
            </a:lvl3pPr>
            <a:lvl4pPr>
              <a:defRPr sz="1875" b="1">
                <a:solidFill>
                  <a:srgbClr val="0B7A75"/>
                </a:solidFill>
              </a:defRPr>
            </a:lvl4pPr>
            <a:lvl5pPr>
              <a:defRPr sz="1875" b="1">
                <a:solidFill>
                  <a:srgbClr val="0B7A75"/>
                </a:solidFill>
              </a:defRPr>
            </a:lvl5pPr>
            <a:lvl6pPr>
              <a:defRPr sz="1875" b="1">
                <a:solidFill>
                  <a:srgbClr val="0B7A75"/>
                </a:solidFill>
              </a:defRPr>
            </a:lvl6pPr>
            <a:lvl7pPr>
              <a:defRPr sz="1875" b="1">
                <a:solidFill>
                  <a:srgbClr val="0B7A75"/>
                </a:solidFill>
              </a:defRPr>
            </a:lvl7pPr>
            <a:lvl8pPr>
              <a:defRPr sz="1875" b="1">
                <a:solidFill>
                  <a:srgbClr val="0B7A75"/>
                </a:solidFill>
              </a:defRPr>
            </a:lvl8pPr>
            <a:lvl9pPr>
              <a:defRPr sz="187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7A75"/>
                </a:solidFill>
              </a:defRPr>
            </a:pPr>
            <a:r>
              <a:rPr sz="187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1D4E5-BEA8-4A01-BEB7-E5BFE3DE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977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1,200 synthetic patients × 6 cycles per generator seed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800B9-F02B-402F-82FE-F170CEE6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B7A75"/>
                </a:solidFill>
              </a:defRPr>
            </a:defPPr>
            <a:lvl1pPr>
              <a:defRPr sz="1875" b="1">
                <a:solidFill>
                  <a:srgbClr val="0B7A75"/>
                </a:solidFill>
              </a:defRPr>
            </a:lvl1pPr>
            <a:lvl2pPr>
              <a:defRPr sz="1875" b="1">
                <a:solidFill>
                  <a:srgbClr val="0B7A75"/>
                </a:solidFill>
              </a:defRPr>
            </a:lvl2pPr>
            <a:lvl3pPr>
              <a:defRPr sz="1875" b="1">
                <a:solidFill>
                  <a:srgbClr val="0B7A75"/>
                </a:solidFill>
              </a:defRPr>
            </a:lvl3pPr>
            <a:lvl4pPr>
              <a:defRPr sz="1875" b="1">
                <a:solidFill>
                  <a:srgbClr val="0B7A75"/>
                </a:solidFill>
              </a:defRPr>
            </a:lvl4pPr>
            <a:lvl5pPr>
              <a:defRPr sz="1875" b="1">
                <a:solidFill>
                  <a:srgbClr val="0B7A75"/>
                </a:solidFill>
              </a:defRPr>
            </a:lvl5pPr>
            <a:lvl6pPr>
              <a:defRPr sz="1875" b="1">
                <a:solidFill>
                  <a:srgbClr val="0B7A75"/>
                </a:solidFill>
              </a:defRPr>
            </a:lvl6pPr>
            <a:lvl7pPr>
              <a:defRPr sz="1875" b="1">
                <a:solidFill>
                  <a:srgbClr val="0B7A75"/>
                </a:solidFill>
              </a:defRPr>
            </a:lvl7pPr>
            <a:lvl8pPr>
              <a:defRPr sz="1875" b="1">
                <a:solidFill>
                  <a:srgbClr val="0B7A75"/>
                </a:solidFill>
              </a:defRPr>
            </a:lvl8pPr>
            <a:lvl9pPr>
              <a:defRPr sz="187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7A75"/>
                </a:solidFill>
              </a:defRPr>
            </a:pPr>
            <a:r>
              <a:rPr sz="187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17221-0A87-466D-9EBA-C7D7A56F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14600"/>
            <a:ext cx="977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Three fresh seeds: 97, 101, 103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49F07-356C-4085-B103-D4BACE77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B7A75"/>
                </a:solidFill>
              </a:defRPr>
            </a:defPPr>
            <a:lvl1pPr>
              <a:defRPr sz="1875" b="1">
                <a:solidFill>
                  <a:srgbClr val="0B7A75"/>
                </a:solidFill>
              </a:defRPr>
            </a:lvl1pPr>
            <a:lvl2pPr>
              <a:defRPr sz="1875" b="1">
                <a:solidFill>
                  <a:srgbClr val="0B7A75"/>
                </a:solidFill>
              </a:defRPr>
            </a:lvl2pPr>
            <a:lvl3pPr>
              <a:defRPr sz="1875" b="1">
                <a:solidFill>
                  <a:srgbClr val="0B7A75"/>
                </a:solidFill>
              </a:defRPr>
            </a:lvl3pPr>
            <a:lvl4pPr>
              <a:defRPr sz="1875" b="1">
                <a:solidFill>
                  <a:srgbClr val="0B7A75"/>
                </a:solidFill>
              </a:defRPr>
            </a:lvl4pPr>
            <a:lvl5pPr>
              <a:defRPr sz="1875" b="1">
                <a:solidFill>
                  <a:srgbClr val="0B7A75"/>
                </a:solidFill>
              </a:defRPr>
            </a:lvl5pPr>
            <a:lvl6pPr>
              <a:defRPr sz="1875" b="1">
                <a:solidFill>
                  <a:srgbClr val="0B7A75"/>
                </a:solidFill>
              </a:defRPr>
            </a:lvl6pPr>
            <a:lvl7pPr>
              <a:defRPr sz="1875" b="1">
                <a:solidFill>
                  <a:srgbClr val="0B7A75"/>
                </a:solidFill>
              </a:defRPr>
            </a:lvl7pPr>
            <a:lvl8pPr>
              <a:defRPr sz="1875" b="1">
                <a:solidFill>
                  <a:srgbClr val="0B7A75"/>
                </a:solidFill>
              </a:defRPr>
            </a:lvl8pPr>
            <a:lvl9pPr>
              <a:defRPr sz="187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7A75"/>
                </a:solidFill>
              </a:defRPr>
            </a:pPr>
            <a:r>
              <a:rPr sz="187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B2B99-C514-4904-B830-37E8DF9C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52800"/>
            <a:ext cx="977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Patient-level split: 70% train, 15% validation, 15% held-out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E4185-122F-4DAE-A712-68102F77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B7A75"/>
                </a:solidFill>
              </a:defRPr>
            </a:defPPr>
            <a:lvl1pPr>
              <a:defRPr sz="1875" b="1">
                <a:solidFill>
                  <a:srgbClr val="0B7A75"/>
                </a:solidFill>
              </a:defRPr>
            </a:lvl1pPr>
            <a:lvl2pPr>
              <a:defRPr sz="1875" b="1">
                <a:solidFill>
                  <a:srgbClr val="0B7A75"/>
                </a:solidFill>
              </a:defRPr>
            </a:lvl2pPr>
            <a:lvl3pPr>
              <a:defRPr sz="1875" b="1">
                <a:solidFill>
                  <a:srgbClr val="0B7A75"/>
                </a:solidFill>
              </a:defRPr>
            </a:lvl3pPr>
            <a:lvl4pPr>
              <a:defRPr sz="1875" b="1">
                <a:solidFill>
                  <a:srgbClr val="0B7A75"/>
                </a:solidFill>
              </a:defRPr>
            </a:lvl4pPr>
            <a:lvl5pPr>
              <a:defRPr sz="1875" b="1">
                <a:solidFill>
                  <a:srgbClr val="0B7A75"/>
                </a:solidFill>
              </a:defRPr>
            </a:lvl5pPr>
            <a:lvl6pPr>
              <a:defRPr sz="1875" b="1">
                <a:solidFill>
                  <a:srgbClr val="0B7A75"/>
                </a:solidFill>
              </a:defRPr>
            </a:lvl6pPr>
            <a:lvl7pPr>
              <a:defRPr sz="1875" b="1">
                <a:solidFill>
                  <a:srgbClr val="0B7A75"/>
                </a:solidFill>
              </a:defRPr>
            </a:lvl7pPr>
            <a:lvl8pPr>
              <a:defRPr sz="1875" b="1">
                <a:solidFill>
                  <a:srgbClr val="0B7A75"/>
                </a:solidFill>
              </a:defRPr>
            </a:lvl8pPr>
            <a:lvl9pPr>
              <a:defRPr sz="187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7A75"/>
                </a:solidFill>
              </a:defRPr>
            </a:pPr>
            <a:r>
              <a:rPr sz="187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BE104-03DB-49E7-8157-C20FC5FF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977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No personal exports, credentialed data or external health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274586-E676-4EDE-9EF6-D891EF10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96B76"/>
                </a:solidFill>
              </a:defRPr>
            </a:defPPr>
            <a:lvl1pPr>
              <a:defRPr sz="1500" b="0">
                <a:solidFill>
                  <a:srgbClr val="596B76"/>
                </a:solidFill>
              </a:defRPr>
            </a:lvl1pPr>
            <a:lvl2pPr>
              <a:defRPr sz="1500" b="0">
                <a:solidFill>
                  <a:srgbClr val="596B76"/>
                </a:solidFill>
              </a:defRPr>
            </a:lvl2pPr>
            <a:lvl3pPr>
              <a:defRPr sz="1500" b="0">
                <a:solidFill>
                  <a:srgbClr val="596B76"/>
                </a:solidFill>
              </a:defRPr>
            </a:lvl3pPr>
            <a:lvl4pPr>
              <a:defRPr sz="1500" b="0">
                <a:solidFill>
                  <a:srgbClr val="596B76"/>
                </a:solidFill>
              </a:defRPr>
            </a:lvl4pPr>
            <a:lvl5pPr>
              <a:defRPr sz="1500" b="0">
                <a:solidFill>
                  <a:srgbClr val="596B76"/>
                </a:solidFill>
              </a:defRPr>
            </a:lvl5pPr>
            <a:lvl6pPr>
              <a:defRPr sz="1500" b="0">
                <a:solidFill>
                  <a:srgbClr val="596B76"/>
                </a:solidFill>
              </a:defRPr>
            </a:lvl6pPr>
            <a:lvl7pPr>
              <a:defRPr sz="1500" b="0">
                <a:solidFill>
                  <a:srgbClr val="596B76"/>
                </a:solidFill>
              </a:defRPr>
            </a:lvl7pPr>
            <a:lvl8pPr>
              <a:defRPr sz="1500" b="0">
                <a:solidFill>
                  <a:srgbClr val="596B76"/>
                </a:solidFill>
              </a:defRPr>
            </a:lvl8pPr>
            <a:lvl9pPr>
              <a:defRPr sz="15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B76"/>
                </a:solidFill>
              </a:defRPr>
            </a:pPr>
            <a:r>
              <a:rPr sz="1500" b="0">
                <a:solidFill>
                  <a:srgbClr val="596B76"/>
                </a:solidFill>
              </a:rPr>
              <a:t>The generator carries latent traits and noisy observations; the evaluator separates patients across partitions.</a:t>
            </a:r>
          </a:p>
        </p:txBody>
      </p:sp>
    </p:spTree>
    <p:extLst>
      <p:ext uri="{BB962C8B-B14F-4D97-AF65-F5344CB8AC3E}">
        <p14:creationId xmlns:p14="http://schemas.microsoft.com/office/powerpoint/2010/main" val="3638345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23BA7-BF4D-46EB-A10D-B161CFF4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Forecast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4FECA-4EE5-41B3-9FE7-1BA2B4E2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2CF18-5552-4503-9C57-1DCEE9E6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16029-DBFF-4093-9FDF-29D75E51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383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Risk score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8CBA2-AFCA-40EA-874A-AFC8FC61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B7A75"/>
                </a:solidFill>
              </a:defRPr>
            </a:defPPr>
            <a:lvl1pPr>
              <a:defRPr sz="1725" b="1">
                <a:solidFill>
                  <a:srgbClr val="0B7A75"/>
                </a:solidFill>
              </a:defRPr>
            </a:lvl1pPr>
            <a:lvl2pPr>
              <a:defRPr sz="1725" b="1">
                <a:solidFill>
                  <a:srgbClr val="0B7A75"/>
                </a:solidFill>
              </a:defRPr>
            </a:lvl2pPr>
            <a:lvl3pPr>
              <a:defRPr sz="1725" b="1">
                <a:solidFill>
                  <a:srgbClr val="0B7A75"/>
                </a:solidFill>
              </a:defRPr>
            </a:lvl3pPr>
            <a:lvl4pPr>
              <a:defRPr sz="1725" b="1">
                <a:solidFill>
                  <a:srgbClr val="0B7A75"/>
                </a:solidFill>
              </a:defRPr>
            </a:lvl4pPr>
            <a:lvl5pPr>
              <a:defRPr sz="1725" b="1">
                <a:solidFill>
                  <a:srgbClr val="0B7A75"/>
                </a:solidFill>
              </a:defRPr>
            </a:lvl5pPr>
            <a:lvl6pPr>
              <a:defRPr sz="1725" b="1">
                <a:solidFill>
                  <a:srgbClr val="0B7A75"/>
                </a:solidFill>
              </a:defRPr>
            </a:lvl6pPr>
            <a:lvl7pPr>
              <a:defRPr sz="1725" b="1">
                <a:solidFill>
                  <a:srgbClr val="0B7A75"/>
                </a:solidFill>
              </a:defRPr>
            </a:lvl7pPr>
            <a:lvl8pPr>
              <a:defRPr sz="1725" b="1">
                <a:solidFill>
                  <a:srgbClr val="0B7A75"/>
                </a:solidFill>
              </a:defRPr>
            </a:lvl8pPr>
            <a:lvl9pPr>
              <a:defRPr sz="172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7A75"/>
                </a:solidFill>
              </a:defRPr>
            </a:pPr>
            <a:r>
              <a:rPr sz="172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BD44A-7156-4B1C-A049-44A8A8A2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52650"/>
            <a:ext cx="4438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72B3A"/>
                </a:solidFill>
              </a:defRPr>
            </a:defPPr>
            <a:lvl1pPr>
              <a:defRPr sz="1725" b="0">
                <a:solidFill>
                  <a:srgbClr val="172B3A"/>
                </a:solidFill>
              </a:defRPr>
            </a:lvl1pPr>
            <a:lvl2pPr>
              <a:defRPr sz="1725" b="0">
                <a:solidFill>
                  <a:srgbClr val="172B3A"/>
                </a:solidFill>
              </a:defRPr>
            </a:lvl2pPr>
            <a:lvl3pPr>
              <a:defRPr sz="1725" b="0">
                <a:solidFill>
                  <a:srgbClr val="172B3A"/>
                </a:solidFill>
              </a:defRPr>
            </a:lvl3pPr>
            <a:lvl4pPr>
              <a:defRPr sz="1725" b="0">
                <a:solidFill>
                  <a:srgbClr val="172B3A"/>
                </a:solidFill>
              </a:defRPr>
            </a:lvl4pPr>
            <a:lvl5pPr>
              <a:defRPr sz="1725" b="0">
                <a:solidFill>
                  <a:srgbClr val="172B3A"/>
                </a:solidFill>
              </a:defRPr>
            </a:lvl5pPr>
            <a:lvl6pPr>
              <a:defRPr sz="1725" b="0">
                <a:solidFill>
                  <a:srgbClr val="172B3A"/>
                </a:solidFill>
              </a:defRPr>
            </a:lvl6pPr>
            <a:lvl7pPr>
              <a:defRPr sz="1725" b="0">
                <a:solidFill>
                  <a:srgbClr val="172B3A"/>
                </a:solidFill>
              </a:defRPr>
            </a:lvl7pPr>
            <a:lvl8pPr>
              <a:defRPr sz="1725" b="0">
                <a:solidFill>
                  <a:srgbClr val="172B3A"/>
                </a:solidFill>
              </a:defRPr>
            </a:lvl8pPr>
            <a:lvl9pPr>
              <a:defRPr sz="17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Tier 0: neutral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87CC5-A28C-47E1-BD3D-BF863F1C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B7A75"/>
                </a:solidFill>
              </a:defRPr>
            </a:defPPr>
            <a:lvl1pPr>
              <a:defRPr sz="1725" b="1">
                <a:solidFill>
                  <a:srgbClr val="0B7A75"/>
                </a:solidFill>
              </a:defRPr>
            </a:lvl1pPr>
            <a:lvl2pPr>
              <a:defRPr sz="1725" b="1">
                <a:solidFill>
                  <a:srgbClr val="0B7A75"/>
                </a:solidFill>
              </a:defRPr>
            </a:lvl2pPr>
            <a:lvl3pPr>
              <a:defRPr sz="1725" b="1">
                <a:solidFill>
                  <a:srgbClr val="0B7A75"/>
                </a:solidFill>
              </a:defRPr>
            </a:lvl3pPr>
            <a:lvl4pPr>
              <a:defRPr sz="1725" b="1">
                <a:solidFill>
                  <a:srgbClr val="0B7A75"/>
                </a:solidFill>
              </a:defRPr>
            </a:lvl4pPr>
            <a:lvl5pPr>
              <a:defRPr sz="1725" b="1">
                <a:solidFill>
                  <a:srgbClr val="0B7A75"/>
                </a:solidFill>
              </a:defRPr>
            </a:lvl5pPr>
            <a:lvl6pPr>
              <a:defRPr sz="1725" b="1">
                <a:solidFill>
                  <a:srgbClr val="0B7A75"/>
                </a:solidFill>
              </a:defRPr>
            </a:lvl6pPr>
            <a:lvl7pPr>
              <a:defRPr sz="1725" b="1">
                <a:solidFill>
                  <a:srgbClr val="0B7A75"/>
                </a:solidFill>
              </a:defRPr>
            </a:lvl7pPr>
            <a:lvl8pPr>
              <a:defRPr sz="1725" b="1">
                <a:solidFill>
                  <a:srgbClr val="0B7A75"/>
                </a:solidFill>
              </a:defRPr>
            </a:lvl8pPr>
            <a:lvl9pPr>
              <a:defRPr sz="172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7A75"/>
                </a:solidFill>
              </a:defRPr>
            </a:pPr>
            <a:r>
              <a:rPr sz="172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BE119-76A6-4BDF-A8A8-EA9CC596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95600"/>
            <a:ext cx="4438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72B3A"/>
                </a:solidFill>
              </a:defRPr>
            </a:defPPr>
            <a:lvl1pPr>
              <a:defRPr sz="1725" b="0">
                <a:solidFill>
                  <a:srgbClr val="172B3A"/>
                </a:solidFill>
              </a:defRPr>
            </a:lvl1pPr>
            <a:lvl2pPr>
              <a:defRPr sz="1725" b="0">
                <a:solidFill>
                  <a:srgbClr val="172B3A"/>
                </a:solidFill>
              </a:defRPr>
            </a:lvl2pPr>
            <a:lvl3pPr>
              <a:defRPr sz="1725" b="0">
                <a:solidFill>
                  <a:srgbClr val="172B3A"/>
                </a:solidFill>
              </a:defRPr>
            </a:lvl3pPr>
            <a:lvl4pPr>
              <a:defRPr sz="1725" b="0">
                <a:solidFill>
                  <a:srgbClr val="172B3A"/>
                </a:solidFill>
              </a:defRPr>
            </a:lvl4pPr>
            <a:lvl5pPr>
              <a:defRPr sz="1725" b="0">
                <a:solidFill>
                  <a:srgbClr val="172B3A"/>
                </a:solidFill>
              </a:defRPr>
            </a:lvl5pPr>
            <a:lvl6pPr>
              <a:defRPr sz="1725" b="0">
                <a:solidFill>
                  <a:srgbClr val="172B3A"/>
                </a:solidFill>
              </a:defRPr>
            </a:lvl6pPr>
            <a:lvl7pPr>
              <a:defRPr sz="1725" b="0">
                <a:solidFill>
                  <a:srgbClr val="172B3A"/>
                </a:solidFill>
              </a:defRPr>
            </a:lvl7pPr>
            <a:lvl8pPr>
              <a:defRPr sz="1725" b="0">
                <a:solidFill>
                  <a:srgbClr val="172B3A"/>
                </a:solidFill>
              </a:defRPr>
            </a:lvl8pPr>
            <a:lvl9pPr>
              <a:defRPr sz="17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Tier 1: resting-heart-rate offset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B02EC-AB74-42BF-B8F0-BD6B0570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B7A75"/>
                </a:solidFill>
              </a:defRPr>
            </a:defPPr>
            <a:lvl1pPr>
              <a:defRPr sz="1725" b="1">
                <a:solidFill>
                  <a:srgbClr val="0B7A75"/>
                </a:solidFill>
              </a:defRPr>
            </a:lvl1pPr>
            <a:lvl2pPr>
              <a:defRPr sz="1725" b="1">
                <a:solidFill>
                  <a:srgbClr val="0B7A75"/>
                </a:solidFill>
              </a:defRPr>
            </a:lvl2pPr>
            <a:lvl3pPr>
              <a:defRPr sz="1725" b="1">
                <a:solidFill>
                  <a:srgbClr val="0B7A75"/>
                </a:solidFill>
              </a:defRPr>
            </a:lvl3pPr>
            <a:lvl4pPr>
              <a:defRPr sz="1725" b="1">
                <a:solidFill>
                  <a:srgbClr val="0B7A75"/>
                </a:solidFill>
              </a:defRPr>
            </a:lvl4pPr>
            <a:lvl5pPr>
              <a:defRPr sz="1725" b="1">
                <a:solidFill>
                  <a:srgbClr val="0B7A75"/>
                </a:solidFill>
              </a:defRPr>
            </a:lvl5pPr>
            <a:lvl6pPr>
              <a:defRPr sz="1725" b="1">
                <a:solidFill>
                  <a:srgbClr val="0B7A75"/>
                </a:solidFill>
              </a:defRPr>
            </a:lvl6pPr>
            <a:lvl7pPr>
              <a:defRPr sz="1725" b="1">
                <a:solidFill>
                  <a:srgbClr val="0B7A75"/>
                </a:solidFill>
              </a:defRPr>
            </a:lvl7pPr>
            <a:lvl8pPr>
              <a:defRPr sz="1725" b="1">
                <a:solidFill>
                  <a:srgbClr val="0B7A75"/>
                </a:solidFill>
              </a:defRPr>
            </a:lvl8pPr>
            <a:lvl9pPr>
              <a:defRPr sz="172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7A75"/>
                </a:solidFill>
              </a:defRPr>
            </a:pPr>
            <a:r>
              <a:rPr sz="172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E294A-A8E4-48FA-951C-A79B3E0A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38550"/>
            <a:ext cx="4438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72B3A"/>
                </a:solidFill>
              </a:defRPr>
            </a:defPPr>
            <a:lvl1pPr>
              <a:defRPr sz="1725" b="0">
                <a:solidFill>
                  <a:srgbClr val="172B3A"/>
                </a:solidFill>
              </a:defRPr>
            </a:lvl1pPr>
            <a:lvl2pPr>
              <a:defRPr sz="1725" b="0">
                <a:solidFill>
                  <a:srgbClr val="172B3A"/>
                </a:solidFill>
              </a:defRPr>
            </a:lvl2pPr>
            <a:lvl3pPr>
              <a:defRPr sz="1725" b="0">
                <a:solidFill>
                  <a:srgbClr val="172B3A"/>
                </a:solidFill>
              </a:defRPr>
            </a:lvl3pPr>
            <a:lvl4pPr>
              <a:defRPr sz="1725" b="0">
                <a:solidFill>
                  <a:srgbClr val="172B3A"/>
                </a:solidFill>
              </a:defRPr>
            </a:lvl4pPr>
            <a:lvl5pPr>
              <a:defRPr sz="1725" b="0">
                <a:solidFill>
                  <a:srgbClr val="172B3A"/>
                </a:solidFill>
              </a:defRPr>
            </a:lvl5pPr>
            <a:lvl6pPr>
              <a:defRPr sz="1725" b="0">
                <a:solidFill>
                  <a:srgbClr val="172B3A"/>
                </a:solidFill>
              </a:defRPr>
            </a:lvl6pPr>
            <a:lvl7pPr>
              <a:defRPr sz="1725" b="0">
                <a:solidFill>
                  <a:srgbClr val="172B3A"/>
                </a:solidFill>
              </a:defRPr>
            </a:lvl7pPr>
            <a:lvl8pPr>
              <a:defRPr sz="1725" b="0">
                <a:solidFill>
                  <a:srgbClr val="172B3A"/>
                </a:solidFill>
              </a:defRPr>
            </a:lvl8pPr>
            <a:lvl9pPr>
              <a:defRPr sz="17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Tier 2: temperature rise relative to an early-cycle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DF461-68B2-4066-98C8-17121139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Ovulation-day estimate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DB682-3201-44BF-A2C3-DA975372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B7A75"/>
                </a:solidFill>
              </a:defRPr>
            </a:defPPr>
            <a:lvl1pPr>
              <a:defRPr sz="1725" b="1">
                <a:solidFill>
                  <a:srgbClr val="0B7A75"/>
                </a:solidFill>
              </a:defRPr>
            </a:lvl1pPr>
            <a:lvl2pPr>
              <a:defRPr sz="1725" b="1">
                <a:solidFill>
                  <a:srgbClr val="0B7A75"/>
                </a:solidFill>
              </a:defRPr>
            </a:lvl2pPr>
            <a:lvl3pPr>
              <a:defRPr sz="1725" b="1">
                <a:solidFill>
                  <a:srgbClr val="0B7A75"/>
                </a:solidFill>
              </a:defRPr>
            </a:lvl3pPr>
            <a:lvl4pPr>
              <a:defRPr sz="1725" b="1">
                <a:solidFill>
                  <a:srgbClr val="0B7A75"/>
                </a:solidFill>
              </a:defRPr>
            </a:lvl4pPr>
            <a:lvl5pPr>
              <a:defRPr sz="1725" b="1">
                <a:solidFill>
                  <a:srgbClr val="0B7A75"/>
                </a:solidFill>
              </a:defRPr>
            </a:lvl5pPr>
            <a:lvl6pPr>
              <a:defRPr sz="1725" b="1">
                <a:solidFill>
                  <a:srgbClr val="0B7A75"/>
                </a:solidFill>
              </a:defRPr>
            </a:lvl6pPr>
            <a:lvl7pPr>
              <a:defRPr sz="1725" b="1">
                <a:solidFill>
                  <a:srgbClr val="0B7A75"/>
                </a:solidFill>
              </a:defRPr>
            </a:lvl7pPr>
            <a:lvl8pPr>
              <a:defRPr sz="1725" b="1">
                <a:solidFill>
                  <a:srgbClr val="0B7A75"/>
                </a:solidFill>
              </a:defRPr>
            </a:lvl8pPr>
            <a:lvl9pPr>
              <a:defRPr sz="172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7A75"/>
                </a:solidFill>
              </a:defRPr>
            </a:pPr>
            <a:r>
              <a:rPr sz="172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1D330-89C2-42D0-B190-8E5532AD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52650"/>
            <a:ext cx="415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72B3A"/>
                </a:solidFill>
              </a:defRPr>
            </a:defPPr>
            <a:lvl1pPr>
              <a:defRPr sz="1725" b="0">
                <a:solidFill>
                  <a:srgbClr val="172B3A"/>
                </a:solidFill>
              </a:defRPr>
            </a:lvl1pPr>
            <a:lvl2pPr>
              <a:defRPr sz="1725" b="0">
                <a:solidFill>
                  <a:srgbClr val="172B3A"/>
                </a:solidFill>
              </a:defRPr>
            </a:lvl2pPr>
            <a:lvl3pPr>
              <a:defRPr sz="1725" b="0">
                <a:solidFill>
                  <a:srgbClr val="172B3A"/>
                </a:solidFill>
              </a:defRPr>
            </a:lvl3pPr>
            <a:lvl4pPr>
              <a:defRPr sz="1725" b="0">
                <a:solidFill>
                  <a:srgbClr val="172B3A"/>
                </a:solidFill>
              </a:defRPr>
            </a:lvl4pPr>
            <a:lvl5pPr>
              <a:defRPr sz="1725" b="0">
                <a:solidFill>
                  <a:srgbClr val="172B3A"/>
                </a:solidFill>
              </a:defRPr>
            </a:lvl5pPr>
            <a:lvl6pPr>
              <a:defRPr sz="1725" b="0">
                <a:solidFill>
                  <a:srgbClr val="172B3A"/>
                </a:solidFill>
              </a:defRPr>
            </a:lvl6pPr>
            <a:lvl7pPr>
              <a:defRPr sz="1725" b="0">
                <a:solidFill>
                  <a:srgbClr val="172B3A"/>
                </a:solidFill>
              </a:defRPr>
            </a:lvl7pPr>
            <a:lvl8pPr>
              <a:defRPr sz="1725" b="0">
                <a:solidFill>
                  <a:srgbClr val="172B3A"/>
                </a:solidFill>
              </a:defRPr>
            </a:lvl8pPr>
            <a:lvl9pPr>
              <a:defRPr sz="17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Temperature coverline heuristic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49BE0D-B524-4C44-958D-EAF472B3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956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B7A75"/>
                </a:solidFill>
              </a:defRPr>
            </a:defPPr>
            <a:lvl1pPr>
              <a:defRPr sz="1725" b="1">
                <a:solidFill>
                  <a:srgbClr val="0B7A75"/>
                </a:solidFill>
              </a:defRPr>
            </a:lvl1pPr>
            <a:lvl2pPr>
              <a:defRPr sz="1725" b="1">
                <a:solidFill>
                  <a:srgbClr val="0B7A75"/>
                </a:solidFill>
              </a:defRPr>
            </a:lvl2pPr>
            <a:lvl3pPr>
              <a:defRPr sz="1725" b="1">
                <a:solidFill>
                  <a:srgbClr val="0B7A75"/>
                </a:solidFill>
              </a:defRPr>
            </a:lvl3pPr>
            <a:lvl4pPr>
              <a:defRPr sz="1725" b="1">
                <a:solidFill>
                  <a:srgbClr val="0B7A75"/>
                </a:solidFill>
              </a:defRPr>
            </a:lvl4pPr>
            <a:lvl5pPr>
              <a:defRPr sz="1725" b="1">
                <a:solidFill>
                  <a:srgbClr val="0B7A75"/>
                </a:solidFill>
              </a:defRPr>
            </a:lvl5pPr>
            <a:lvl6pPr>
              <a:defRPr sz="1725" b="1">
                <a:solidFill>
                  <a:srgbClr val="0B7A75"/>
                </a:solidFill>
              </a:defRPr>
            </a:lvl6pPr>
            <a:lvl7pPr>
              <a:defRPr sz="1725" b="1">
                <a:solidFill>
                  <a:srgbClr val="0B7A75"/>
                </a:solidFill>
              </a:defRPr>
            </a:lvl7pPr>
            <a:lvl8pPr>
              <a:defRPr sz="1725" b="1">
                <a:solidFill>
                  <a:srgbClr val="0B7A75"/>
                </a:solidFill>
              </a:defRPr>
            </a:lvl8pPr>
            <a:lvl9pPr>
              <a:defRPr sz="172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7A75"/>
                </a:solidFill>
              </a:defRPr>
            </a:pPr>
            <a:r>
              <a:rPr sz="172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7471F5-DFCC-4299-93EF-2D73625D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95600"/>
            <a:ext cx="415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72B3A"/>
                </a:solidFill>
              </a:defRPr>
            </a:defPPr>
            <a:lvl1pPr>
              <a:defRPr sz="1725" b="0">
                <a:solidFill>
                  <a:srgbClr val="172B3A"/>
                </a:solidFill>
              </a:defRPr>
            </a:lvl1pPr>
            <a:lvl2pPr>
              <a:defRPr sz="1725" b="0">
                <a:solidFill>
                  <a:srgbClr val="172B3A"/>
                </a:solidFill>
              </a:defRPr>
            </a:lvl2pPr>
            <a:lvl3pPr>
              <a:defRPr sz="1725" b="0">
                <a:solidFill>
                  <a:srgbClr val="172B3A"/>
                </a:solidFill>
              </a:defRPr>
            </a:lvl3pPr>
            <a:lvl4pPr>
              <a:defRPr sz="1725" b="0">
                <a:solidFill>
                  <a:srgbClr val="172B3A"/>
                </a:solidFill>
              </a:defRPr>
            </a:lvl4pPr>
            <a:lvl5pPr>
              <a:defRPr sz="1725" b="0">
                <a:solidFill>
                  <a:srgbClr val="172B3A"/>
                </a:solidFill>
              </a:defRPr>
            </a:lvl5pPr>
            <a:lvl6pPr>
              <a:defRPr sz="1725" b="0">
                <a:solidFill>
                  <a:srgbClr val="172B3A"/>
                </a:solidFill>
              </a:defRPr>
            </a:lvl6pPr>
            <a:lvl7pPr>
              <a:defRPr sz="1725" b="0">
                <a:solidFill>
                  <a:srgbClr val="172B3A"/>
                </a:solidFill>
              </a:defRPr>
            </a:lvl7pPr>
            <a:lvl8pPr>
              <a:defRPr sz="1725" b="0">
                <a:solidFill>
                  <a:srgbClr val="172B3A"/>
                </a:solidFill>
              </a:defRPr>
            </a:lvl8pPr>
            <a:lvl9pPr>
              <a:defRPr sz="17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Fallback: forecast day + 10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AB4644-FCC0-4492-8C9B-97AE4889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B7A75"/>
                </a:solidFill>
              </a:defRPr>
            </a:defPPr>
            <a:lvl1pPr>
              <a:defRPr sz="1725" b="1">
                <a:solidFill>
                  <a:srgbClr val="0B7A75"/>
                </a:solidFill>
              </a:defRPr>
            </a:lvl1pPr>
            <a:lvl2pPr>
              <a:defRPr sz="1725" b="1">
                <a:solidFill>
                  <a:srgbClr val="0B7A75"/>
                </a:solidFill>
              </a:defRPr>
            </a:lvl2pPr>
            <a:lvl3pPr>
              <a:defRPr sz="1725" b="1">
                <a:solidFill>
                  <a:srgbClr val="0B7A75"/>
                </a:solidFill>
              </a:defRPr>
            </a:lvl3pPr>
            <a:lvl4pPr>
              <a:defRPr sz="1725" b="1">
                <a:solidFill>
                  <a:srgbClr val="0B7A75"/>
                </a:solidFill>
              </a:defRPr>
            </a:lvl4pPr>
            <a:lvl5pPr>
              <a:defRPr sz="1725" b="1">
                <a:solidFill>
                  <a:srgbClr val="0B7A75"/>
                </a:solidFill>
              </a:defRPr>
            </a:lvl5pPr>
            <a:lvl6pPr>
              <a:defRPr sz="1725" b="1">
                <a:solidFill>
                  <a:srgbClr val="0B7A75"/>
                </a:solidFill>
              </a:defRPr>
            </a:lvl6pPr>
            <a:lvl7pPr>
              <a:defRPr sz="1725" b="1">
                <a:solidFill>
                  <a:srgbClr val="0B7A75"/>
                </a:solidFill>
              </a:defRPr>
            </a:lvl7pPr>
            <a:lvl8pPr>
              <a:defRPr sz="1725" b="1">
                <a:solidFill>
                  <a:srgbClr val="0B7A75"/>
                </a:solidFill>
              </a:defRPr>
            </a:lvl8pPr>
            <a:lvl9pPr>
              <a:defRPr sz="172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7A75"/>
                </a:solidFill>
              </a:defRPr>
            </a:pPr>
            <a:r>
              <a:rPr sz="172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B198B2-524D-4EF3-BA6E-37CCAC41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38550"/>
            <a:ext cx="415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72B3A"/>
                </a:solidFill>
              </a:defRPr>
            </a:defPPr>
            <a:lvl1pPr>
              <a:defRPr sz="1725" b="0">
                <a:solidFill>
                  <a:srgbClr val="172B3A"/>
                </a:solidFill>
              </a:defRPr>
            </a:lvl1pPr>
            <a:lvl2pPr>
              <a:defRPr sz="1725" b="0">
                <a:solidFill>
                  <a:srgbClr val="172B3A"/>
                </a:solidFill>
              </a:defRPr>
            </a:lvl2pPr>
            <a:lvl3pPr>
              <a:defRPr sz="1725" b="0">
                <a:solidFill>
                  <a:srgbClr val="172B3A"/>
                </a:solidFill>
              </a:defRPr>
            </a:lvl3pPr>
            <a:lvl4pPr>
              <a:defRPr sz="1725" b="0">
                <a:solidFill>
                  <a:srgbClr val="172B3A"/>
                </a:solidFill>
              </a:defRPr>
            </a:lvl4pPr>
            <a:lvl5pPr>
              <a:defRPr sz="1725" b="0">
                <a:solidFill>
                  <a:srgbClr val="172B3A"/>
                </a:solidFill>
              </a:defRPr>
            </a:lvl5pPr>
            <a:lvl6pPr>
              <a:defRPr sz="1725" b="0">
                <a:solidFill>
                  <a:srgbClr val="172B3A"/>
                </a:solidFill>
              </a:defRPr>
            </a:lvl6pPr>
            <a:lvl7pPr>
              <a:defRPr sz="1725" b="0">
                <a:solidFill>
                  <a:srgbClr val="172B3A"/>
                </a:solidFill>
              </a:defRPr>
            </a:lvl7pPr>
            <a:lvl8pPr>
              <a:defRPr sz="1725" b="0">
                <a:solidFill>
                  <a:srgbClr val="172B3A"/>
                </a:solidFill>
              </a:defRPr>
            </a:lvl8pPr>
            <a:lvl9pPr>
              <a:defRPr sz="17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Dashboard twin is separate and uncalibrated; no EKF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097742-C229-453A-80B4-D668827B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96B76"/>
                </a:solidFill>
              </a:defRPr>
            </a:defPPr>
            <a:lvl1pPr>
              <a:defRPr sz="1575" b="0">
                <a:solidFill>
                  <a:srgbClr val="596B76"/>
                </a:solidFill>
              </a:defRPr>
            </a:lvl1pPr>
            <a:lvl2pPr>
              <a:defRPr sz="1575" b="0">
                <a:solidFill>
                  <a:srgbClr val="596B76"/>
                </a:solidFill>
              </a:defRPr>
            </a:lvl2pPr>
            <a:lvl3pPr>
              <a:defRPr sz="1575" b="0">
                <a:solidFill>
                  <a:srgbClr val="596B76"/>
                </a:solidFill>
              </a:defRPr>
            </a:lvl3pPr>
            <a:lvl4pPr>
              <a:defRPr sz="1575" b="0">
                <a:solidFill>
                  <a:srgbClr val="596B76"/>
                </a:solidFill>
              </a:defRPr>
            </a:lvl4pPr>
            <a:lvl5pPr>
              <a:defRPr sz="1575" b="0">
                <a:solidFill>
                  <a:srgbClr val="596B76"/>
                </a:solidFill>
              </a:defRPr>
            </a:lvl5pPr>
            <a:lvl6pPr>
              <a:defRPr sz="1575" b="0">
                <a:solidFill>
                  <a:srgbClr val="596B76"/>
                </a:solidFill>
              </a:defRPr>
            </a:lvl6pPr>
            <a:lvl7pPr>
              <a:defRPr sz="1575" b="0">
                <a:solidFill>
                  <a:srgbClr val="596B76"/>
                </a:solidFill>
              </a:defRPr>
            </a:lvl7pPr>
            <a:lvl8pPr>
              <a:defRPr sz="1575" b="0">
                <a:solidFill>
                  <a:srgbClr val="596B76"/>
                </a:solidFill>
              </a:defRPr>
            </a:lvl8pPr>
            <a:lvl9pPr>
              <a:defRPr sz="1575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96B76"/>
                </a:solidFill>
              </a:defRPr>
            </a:pPr>
            <a:r>
              <a:rPr sz="1575" b="0">
                <a:solidFill>
                  <a:srgbClr val="596B76"/>
                </a:solidFill>
              </a:rPr>
              <a:t>Conformal coverage is not reported. All settings are simulator assumptions.</a:t>
            </a:r>
          </a:p>
        </p:txBody>
      </p:sp>
    </p:spTree>
    <p:extLst>
      <p:ext uri="{BB962C8B-B14F-4D97-AF65-F5344CB8AC3E}">
        <p14:creationId xmlns:p14="http://schemas.microsoft.com/office/powerpoint/2010/main" val="17523869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51FE30-6465-4494-8CD2-60084B6F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Safety and abstention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24A7D-8789-45A0-8131-17D51F80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A9DA2-19F0-45D7-AF5A-F735DC52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E4623-0B2E-4CB7-8F89-EA59A62A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192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Dashboard safety rules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CE437-BFC2-434B-A1F3-F187D125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8DEF0-F848-41E2-BEA6-515548E8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462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Review for thyroid/prolactin flags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C020B-605C-4BBC-9A0C-C9A9338C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A0169-A91B-48B1-B3CC-DDE0AB7F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38450"/>
            <a:ext cx="462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Abstain for contraception and pregnancy-related states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C2DEE-EF0D-4549-A003-A1FAC312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72A2A-6E23-479E-A22F-B3EF7592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462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Abstain for age and sensor completeness conditions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429A97-E8C0-485B-9E75-F6791645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2CF237-26CB-4E09-B428-A4B95D29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462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Dashboard shows a synthetic risk-coverage diagnostic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71C95-DB89-44FB-A7C1-F0053FBC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Current 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07C2F-CD4D-4D9A-9EEE-19FE46EF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3360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G2 dashboard implements explicit abstention guards. Safety performance and conformal coverage are not evaluated.</a:t>
            </a:r>
          </a:p>
        </p:txBody>
      </p:sp>
    </p:spTree>
    <p:extLst>
      <p:ext uri="{BB962C8B-B14F-4D97-AF65-F5344CB8AC3E}">
        <p14:creationId xmlns:p14="http://schemas.microsoft.com/office/powerpoint/2010/main" val="281571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0360D-0F93-41C2-A286-4D028C8F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Synthetic held-out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CACA6-43E3-4880-87A3-F03B3797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B79FE-94B3-4D9A-9AA5-21E117C7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B27F0-1336-4797-B0C2-67CB65C6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Tier 2 · forecast day 14 · held-out patients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A1335-59FB-48ED-94B0-8856D4EC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B3A"/>
                </a:solidFill>
              </a:defRPr>
            </a:defPPr>
            <a:lvl1pPr>
              <a:defRPr sz="1650" b="0">
                <a:solidFill>
                  <a:srgbClr val="172B3A"/>
                </a:solidFill>
              </a:defRPr>
            </a:lvl1pPr>
            <a:lvl2pPr>
              <a:defRPr sz="1650" b="0">
                <a:solidFill>
                  <a:srgbClr val="172B3A"/>
                </a:solidFill>
              </a:defRPr>
            </a:lvl2pPr>
            <a:lvl3pPr>
              <a:defRPr sz="1650" b="0">
                <a:solidFill>
                  <a:srgbClr val="172B3A"/>
                </a:solidFill>
              </a:defRPr>
            </a:lvl3pPr>
            <a:lvl4pPr>
              <a:defRPr sz="1650" b="0">
                <a:solidFill>
                  <a:srgbClr val="172B3A"/>
                </a:solidFill>
              </a:defRPr>
            </a:lvl4pPr>
            <a:lvl5pPr>
              <a:defRPr sz="1650" b="0">
                <a:solidFill>
                  <a:srgbClr val="172B3A"/>
                </a:solidFill>
              </a:defRPr>
            </a:lvl5pPr>
            <a:lvl6pPr>
              <a:defRPr sz="1650" b="0">
                <a:solidFill>
                  <a:srgbClr val="172B3A"/>
                </a:solidFill>
              </a:defRPr>
            </a:lvl6pPr>
            <a:lvl7pPr>
              <a:defRPr sz="1650" b="0">
                <a:solidFill>
                  <a:srgbClr val="172B3A"/>
                </a:solidFill>
              </a:defRPr>
            </a:lvl7pPr>
            <a:lvl8pPr>
              <a:defRPr sz="1650" b="0">
                <a:solidFill>
                  <a:srgbClr val="172B3A"/>
                </a:solidFill>
              </a:defRPr>
            </a:lvl8pPr>
            <a:lvl9pPr>
              <a:defRPr sz="16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B3A"/>
                </a:solidFill>
              </a:defRPr>
            </a:pPr>
            <a:r>
              <a:rPr sz="1650" b="0">
                <a:solidFill>
                  <a:srgbClr val="172B3A"/>
                </a:solidFill>
              </a:rPr>
              <a:t>Seed 97: AUROC 0.637 · AUPRC 0.598 · Brier 0.306 · event rate 0.506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C23ED-207E-4EB1-8BAD-A1934760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B3A"/>
                </a:solidFill>
              </a:defRPr>
            </a:defPPr>
            <a:lvl1pPr>
              <a:defRPr sz="1650" b="0">
                <a:solidFill>
                  <a:srgbClr val="172B3A"/>
                </a:solidFill>
              </a:defRPr>
            </a:lvl1pPr>
            <a:lvl2pPr>
              <a:defRPr sz="1650" b="0">
                <a:solidFill>
                  <a:srgbClr val="172B3A"/>
                </a:solidFill>
              </a:defRPr>
            </a:lvl2pPr>
            <a:lvl3pPr>
              <a:defRPr sz="1650" b="0">
                <a:solidFill>
                  <a:srgbClr val="172B3A"/>
                </a:solidFill>
              </a:defRPr>
            </a:lvl3pPr>
            <a:lvl4pPr>
              <a:defRPr sz="1650" b="0">
                <a:solidFill>
                  <a:srgbClr val="172B3A"/>
                </a:solidFill>
              </a:defRPr>
            </a:lvl4pPr>
            <a:lvl5pPr>
              <a:defRPr sz="1650" b="0">
                <a:solidFill>
                  <a:srgbClr val="172B3A"/>
                </a:solidFill>
              </a:defRPr>
            </a:lvl5pPr>
            <a:lvl6pPr>
              <a:defRPr sz="1650" b="0">
                <a:solidFill>
                  <a:srgbClr val="172B3A"/>
                </a:solidFill>
              </a:defRPr>
            </a:lvl6pPr>
            <a:lvl7pPr>
              <a:defRPr sz="1650" b="0">
                <a:solidFill>
                  <a:srgbClr val="172B3A"/>
                </a:solidFill>
              </a:defRPr>
            </a:lvl7pPr>
            <a:lvl8pPr>
              <a:defRPr sz="1650" b="0">
                <a:solidFill>
                  <a:srgbClr val="172B3A"/>
                </a:solidFill>
              </a:defRPr>
            </a:lvl8pPr>
            <a:lvl9pPr>
              <a:defRPr sz="16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B3A"/>
                </a:solidFill>
              </a:defRPr>
            </a:pPr>
            <a:r>
              <a:rPr sz="1650" b="0">
                <a:solidFill>
                  <a:srgbClr val="172B3A"/>
                </a:solidFill>
              </a:rPr>
              <a:t>Seed 101: AUROC 0.638 · AUPRC 0.604 · Brier 0.316 · event rate 0.523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99FA6-039D-427F-B2ED-5DC977C1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B3A"/>
                </a:solidFill>
              </a:defRPr>
            </a:defPPr>
            <a:lvl1pPr>
              <a:defRPr sz="1650" b="0">
                <a:solidFill>
                  <a:srgbClr val="172B3A"/>
                </a:solidFill>
              </a:defRPr>
            </a:lvl1pPr>
            <a:lvl2pPr>
              <a:defRPr sz="1650" b="0">
                <a:solidFill>
                  <a:srgbClr val="172B3A"/>
                </a:solidFill>
              </a:defRPr>
            </a:lvl2pPr>
            <a:lvl3pPr>
              <a:defRPr sz="1650" b="0">
                <a:solidFill>
                  <a:srgbClr val="172B3A"/>
                </a:solidFill>
              </a:defRPr>
            </a:lvl3pPr>
            <a:lvl4pPr>
              <a:defRPr sz="1650" b="0">
                <a:solidFill>
                  <a:srgbClr val="172B3A"/>
                </a:solidFill>
              </a:defRPr>
            </a:lvl4pPr>
            <a:lvl5pPr>
              <a:defRPr sz="1650" b="0">
                <a:solidFill>
                  <a:srgbClr val="172B3A"/>
                </a:solidFill>
              </a:defRPr>
            </a:lvl5pPr>
            <a:lvl6pPr>
              <a:defRPr sz="1650" b="0">
                <a:solidFill>
                  <a:srgbClr val="172B3A"/>
                </a:solidFill>
              </a:defRPr>
            </a:lvl6pPr>
            <a:lvl7pPr>
              <a:defRPr sz="1650" b="0">
                <a:solidFill>
                  <a:srgbClr val="172B3A"/>
                </a:solidFill>
              </a:defRPr>
            </a:lvl7pPr>
            <a:lvl8pPr>
              <a:defRPr sz="1650" b="0">
                <a:solidFill>
                  <a:srgbClr val="172B3A"/>
                </a:solidFill>
              </a:defRPr>
            </a:lvl8pPr>
            <a:lvl9pPr>
              <a:defRPr sz="16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B3A"/>
                </a:solidFill>
              </a:defRPr>
            </a:pPr>
            <a:r>
              <a:rPr sz="1650" b="0">
                <a:solidFill>
                  <a:srgbClr val="172B3A"/>
                </a:solidFill>
              </a:rPr>
              <a:t>Seed 103: AUROC 0.663 · AUPRC 0.615 · Brier 0.309 · event rate 0.511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B030B-82BB-482C-B74D-65964B38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1009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96B76"/>
                </a:solidFill>
              </a:defRPr>
            </a:defPPr>
            <a:lvl1pPr>
              <a:defRPr sz="1500" b="0">
                <a:solidFill>
                  <a:srgbClr val="596B76"/>
                </a:solidFill>
              </a:defRPr>
            </a:lvl1pPr>
            <a:lvl2pPr>
              <a:defRPr sz="1500" b="0">
                <a:solidFill>
                  <a:srgbClr val="596B76"/>
                </a:solidFill>
              </a:defRPr>
            </a:lvl2pPr>
            <a:lvl3pPr>
              <a:defRPr sz="1500" b="0">
                <a:solidFill>
                  <a:srgbClr val="596B76"/>
                </a:solidFill>
              </a:defRPr>
            </a:lvl3pPr>
            <a:lvl4pPr>
              <a:defRPr sz="1500" b="0">
                <a:solidFill>
                  <a:srgbClr val="596B76"/>
                </a:solidFill>
              </a:defRPr>
            </a:lvl4pPr>
            <a:lvl5pPr>
              <a:defRPr sz="1500" b="0">
                <a:solidFill>
                  <a:srgbClr val="596B76"/>
                </a:solidFill>
              </a:defRPr>
            </a:lvl5pPr>
            <a:lvl6pPr>
              <a:defRPr sz="1500" b="0">
                <a:solidFill>
                  <a:srgbClr val="596B76"/>
                </a:solidFill>
              </a:defRPr>
            </a:lvl6pPr>
            <a:lvl7pPr>
              <a:defRPr sz="1500" b="0">
                <a:solidFill>
                  <a:srgbClr val="596B76"/>
                </a:solidFill>
              </a:defRPr>
            </a:lvl7pPr>
            <a:lvl8pPr>
              <a:defRPr sz="1500" b="0">
                <a:solidFill>
                  <a:srgbClr val="596B76"/>
                </a:solidFill>
              </a:defRPr>
            </a:lvl8pPr>
            <a:lvl9pPr>
              <a:defRPr sz="15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B76"/>
                </a:solidFill>
              </a:defRPr>
            </a:pPr>
            <a:r>
              <a:rPr sz="1500" b="0">
                <a:solidFill>
                  <a:srgbClr val="596B76"/>
                </a:solidFill>
              </a:rPr>
              <a:t>Patient-cluster bootstrap 95% intervals for AUROC and AUPRC are in results.json. Synthetic generator performance only.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7A721-EAFE-4D96-8F73-62A16212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B7A75"/>
                </a:solidFill>
              </a:defRPr>
            </a:defPPr>
            <a:lvl1pPr>
              <a:defRPr sz="1425" b="1">
                <a:solidFill>
                  <a:srgbClr val="0B7A75"/>
                </a:solidFill>
              </a:defRPr>
            </a:lvl1pPr>
            <a:lvl2pPr>
              <a:defRPr sz="1425" b="1">
                <a:solidFill>
                  <a:srgbClr val="0B7A75"/>
                </a:solidFill>
              </a:defRPr>
            </a:lvl2pPr>
            <a:lvl3pPr>
              <a:defRPr sz="1425" b="1">
                <a:solidFill>
                  <a:srgbClr val="0B7A75"/>
                </a:solidFill>
              </a:defRPr>
            </a:lvl3pPr>
            <a:lvl4pPr>
              <a:defRPr sz="1425" b="1">
                <a:solidFill>
                  <a:srgbClr val="0B7A75"/>
                </a:solidFill>
              </a:defRPr>
            </a:lvl4pPr>
            <a:lvl5pPr>
              <a:defRPr sz="1425" b="1">
                <a:solidFill>
                  <a:srgbClr val="0B7A75"/>
                </a:solidFill>
              </a:defRPr>
            </a:lvl5pPr>
            <a:lvl6pPr>
              <a:defRPr sz="1425" b="1">
                <a:solidFill>
                  <a:srgbClr val="0B7A75"/>
                </a:solidFill>
              </a:defRPr>
            </a:lvl6pPr>
            <a:lvl7pPr>
              <a:defRPr sz="1425" b="1">
                <a:solidFill>
                  <a:srgbClr val="0B7A75"/>
                </a:solidFill>
              </a:defRPr>
            </a:lvl7pPr>
            <a:lvl8pPr>
              <a:defRPr sz="1425" b="1">
                <a:solidFill>
                  <a:srgbClr val="0B7A75"/>
                </a:solidFill>
              </a:defRPr>
            </a:lvl8pPr>
            <a:lvl9pPr>
              <a:defRPr sz="142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B7A75"/>
                </a:solidFill>
              </a:defRPr>
            </a:pPr>
            <a:r>
              <a:rPr sz="1425" b="1">
                <a:solidFill>
                  <a:srgbClr val="0B7A75"/>
                </a:solidFill>
              </a:rPr>
              <a:t>No comparison with real-world published accuracy is made.</a:t>
            </a:r>
          </a:p>
        </p:txBody>
      </p:sp>
    </p:spTree>
    <p:extLst>
      <p:ext uri="{BB962C8B-B14F-4D97-AF65-F5344CB8AC3E}">
        <p14:creationId xmlns:p14="http://schemas.microsoft.com/office/powerpoint/2010/main" val="15347554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435AF1-13B7-4F3D-9F9B-A253C90D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Illustrative counterfactuals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885BD-36BF-458C-B34B-AE64D240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AD66B-2023-4C61-98E2-E780ED56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B0576-C1E8-429F-9E57-8B67A06C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383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Planned scenario inputs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3F757-A9A7-4F06-801E-E7B722A7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A45EF-9503-41C2-BD64-FD23F5B2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33600"/>
            <a:ext cx="4772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B3A"/>
                </a:solidFill>
              </a:defRPr>
            </a:defPPr>
            <a:lvl1pPr>
              <a:defRPr sz="1650" b="0">
                <a:solidFill>
                  <a:srgbClr val="172B3A"/>
                </a:solidFill>
              </a:defRPr>
            </a:lvl1pPr>
            <a:lvl2pPr>
              <a:defRPr sz="1650" b="0">
                <a:solidFill>
                  <a:srgbClr val="172B3A"/>
                </a:solidFill>
              </a:defRPr>
            </a:lvl2pPr>
            <a:lvl3pPr>
              <a:defRPr sz="1650" b="0">
                <a:solidFill>
                  <a:srgbClr val="172B3A"/>
                </a:solidFill>
              </a:defRPr>
            </a:lvl3pPr>
            <a:lvl4pPr>
              <a:defRPr sz="1650" b="0">
                <a:solidFill>
                  <a:srgbClr val="172B3A"/>
                </a:solidFill>
              </a:defRPr>
            </a:lvl4pPr>
            <a:lvl5pPr>
              <a:defRPr sz="1650" b="0">
                <a:solidFill>
                  <a:srgbClr val="172B3A"/>
                </a:solidFill>
              </a:defRPr>
            </a:lvl5pPr>
            <a:lvl6pPr>
              <a:defRPr sz="1650" b="0">
                <a:solidFill>
                  <a:srgbClr val="172B3A"/>
                </a:solidFill>
              </a:defRPr>
            </a:lvl6pPr>
            <a:lvl7pPr>
              <a:defRPr sz="1650" b="0">
                <a:solidFill>
                  <a:srgbClr val="172B3A"/>
                </a:solidFill>
              </a:defRPr>
            </a:lvl7pPr>
            <a:lvl8pPr>
              <a:defRPr sz="1650" b="0">
                <a:solidFill>
                  <a:srgbClr val="172B3A"/>
                </a:solidFill>
              </a:defRPr>
            </a:lvl8pPr>
            <a:lvl9pPr>
              <a:defRPr sz="16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B3A"/>
                </a:solidFill>
              </a:defRPr>
            </a:pPr>
            <a:r>
              <a:rPr sz="1650" b="0">
                <a:solidFill>
                  <a:srgbClr val="172B3A"/>
                </a:solidFill>
              </a:rPr>
              <a:t>Regular 7–8 hour sleep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367F0-0E2C-4918-9F0F-F82C2AFE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A4B69-FF5B-4951-8883-6FF1CA32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43200"/>
            <a:ext cx="4772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B3A"/>
                </a:solidFill>
              </a:defRPr>
            </a:defPPr>
            <a:lvl1pPr>
              <a:defRPr sz="1650" b="0">
                <a:solidFill>
                  <a:srgbClr val="172B3A"/>
                </a:solidFill>
              </a:defRPr>
            </a:lvl1pPr>
            <a:lvl2pPr>
              <a:defRPr sz="1650" b="0">
                <a:solidFill>
                  <a:srgbClr val="172B3A"/>
                </a:solidFill>
              </a:defRPr>
            </a:lvl2pPr>
            <a:lvl3pPr>
              <a:defRPr sz="1650" b="0">
                <a:solidFill>
                  <a:srgbClr val="172B3A"/>
                </a:solidFill>
              </a:defRPr>
            </a:lvl3pPr>
            <a:lvl4pPr>
              <a:defRPr sz="1650" b="0">
                <a:solidFill>
                  <a:srgbClr val="172B3A"/>
                </a:solidFill>
              </a:defRPr>
            </a:lvl4pPr>
            <a:lvl5pPr>
              <a:defRPr sz="1650" b="0">
                <a:solidFill>
                  <a:srgbClr val="172B3A"/>
                </a:solidFill>
              </a:defRPr>
            </a:lvl5pPr>
            <a:lvl6pPr>
              <a:defRPr sz="1650" b="0">
                <a:solidFill>
                  <a:srgbClr val="172B3A"/>
                </a:solidFill>
              </a:defRPr>
            </a:lvl6pPr>
            <a:lvl7pPr>
              <a:defRPr sz="1650" b="0">
                <a:solidFill>
                  <a:srgbClr val="172B3A"/>
                </a:solidFill>
              </a:defRPr>
            </a:lvl7pPr>
            <a:lvl8pPr>
              <a:defRPr sz="1650" b="0">
                <a:solidFill>
                  <a:srgbClr val="172B3A"/>
                </a:solidFill>
              </a:defRPr>
            </a:lvl8pPr>
            <a:lvl9pPr>
              <a:defRPr sz="16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B3A"/>
                </a:solidFill>
              </a:defRPr>
            </a:pPr>
            <a:r>
              <a:rPr sz="1650" b="0">
                <a:solidFill>
                  <a:srgbClr val="172B3A"/>
                </a:solidFill>
              </a:rPr>
              <a:t>Daily 30-minute walk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D1D7A-9BCD-4D1C-A7A0-81ACC5A4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568D2-A710-461F-A2E1-FBDBAA87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4772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B3A"/>
                </a:solidFill>
              </a:defRPr>
            </a:defPPr>
            <a:lvl1pPr>
              <a:defRPr sz="1650" b="0">
                <a:solidFill>
                  <a:srgbClr val="172B3A"/>
                </a:solidFill>
              </a:defRPr>
            </a:lvl1pPr>
            <a:lvl2pPr>
              <a:defRPr sz="1650" b="0">
                <a:solidFill>
                  <a:srgbClr val="172B3A"/>
                </a:solidFill>
              </a:defRPr>
            </a:lvl2pPr>
            <a:lvl3pPr>
              <a:defRPr sz="1650" b="0">
                <a:solidFill>
                  <a:srgbClr val="172B3A"/>
                </a:solidFill>
              </a:defRPr>
            </a:lvl3pPr>
            <a:lvl4pPr>
              <a:defRPr sz="1650" b="0">
                <a:solidFill>
                  <a:srgbClr val="172B3A"/>
                </a:solidFill>
              </a:defRPr>
            </a:lvl4pPr>
            <a:lvl5pPr>
              <a:defRPr sz="1650" b="0">
                <a:solidFill>
                  <a:srgbClr val="172B3A"/>
                </a:solidFill>
              </a:defRPr>
            </a:lvl5pPr>
            <a:lvl6pPr>
              <a:defRPr sz="1650" b="0">
                <a:solidFill>
                  <a:srgbClr val="172B3A"/>
                </a:solidFill>
              </a:defRPr>
            </a:lvl6pPr>
            <a:lvl7pPr>
              <a:defRPr sz="1650" b="0">
                <a:solidFill>
                  <a:srgbClr val="172B3A"/>
                </a:solidFill>
              </a:defRPr>
            </a:lvl7pPr>
            <a:lvl8pPr>
              <a:defRPr sz="1650" b="0">
                <a:solidFill>
                  <a:srgbClr val="172B3A"/>
                </a:solidFill>
              </a:defRPr>
            </a:lvl8pPr>
            <a:lvl9pPr>
              <a:defRPr sz="16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B3A"/>
                </a:solidFill>
              </a:defRPr>
            </a:pPr>
            <a:r>
              <a:rPr sz="1650" b="0">
                <a:solidFill>
                  <a:srgbClr val="172B3A"/>
                </a:solidFill>
              </a:rPr>
              <a:t>Lower-glycaemic-index Indian food swap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45BCB-6AD8-4AF0-A8B2-B2362249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624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6C432-DD56-4BAF-B1E9-3C8EE5C1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62400"/>
            <a:ext cx="4772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B3A"/>
                </a:solidFill>
              </a:defRPr>
            </a:defPPr>
            <a:lvl1pPr>
              <a:defRPr sz="1650" b="0">
                <a:solidFill>
                  <a:srgbClr val="172B3A"/>
                </a:solidFill>
              </a:defRPr>
            </a:lvl1pPr>
            <a:lvl2pPr>
              <a:defRPr sz="1650" b="0">
                <a:solidFill>
                  <a:srgbClr val="172B3A"/>
                </a:solidFill>
              </a:defRPr>
            </a:lvl2pPr>
            <a:lvl3pPr>
              <a:defRPr sz="1650" b="0">
                <a:solidFill>
                  <a:srgbClr val="172B3A"/>
                </a:solidFill>
              </a:defRPr>
            </a:lvl3pPr>
            <a:lvl4pPr>
              <a:defRPr sz="1650" b="0">
                <a:solidFill>
                  <a:srgbClr val="172B3A"/>
                </a:solidFill>
              </a:defRPr>
            </a:lvl4pPr>
            <a:lvl5pPr>
              <a:defRPr sz="1650" b="0">
                <a:solidFill>
                  <a:srgbClr val="172B3A"/>
                </a:solidFill>
              </a:defRPr>
            </a:lvl5pPr>
            <a:lvl6pPr>
              <a:defRPr sz="1650" b="0">
                <a:solidFill>
                  <a:srgbClr val="172B3A"/>
                </a:solidFill>
              </a:defRPr>
            </a:lvl6pPr>
            <a:lvl7pPr>
              <a:defRPr sz="1650" b="0">
                <a:solidFill>
                  <a:srgbClr val="172B3A"/>
                </a:solidFill>
              </a:defRPr>
            </a:lvl7pPr>
            <a:lvl8pPr>
              <a:defRPr sz="1650" b="0">
                <a:solidFill>
                  <a:srgbClr val="172B3A"/>
                </a:solidFill>
              </a:defRPr>
            </a:lvl8pPr>
            <a:lvl9pPr>
              <a:defRPr sz="16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B3A"/>
                </a:solidFill>
              </a:defRPr>
            </a:pPr>
            <a:r>
              <a:rPr sz="1650" b="0">
                <a:solidFill>
                  <a:srgbClr val="172B3A"/>
                </a:solidFill>
              </a:rPr>
              <a:t>Lower evening stress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E813A9-8670-44E6-84D5-70E78596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0D0293-A2DB-40C6-9F23-628733E9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0"/>
            <a:ext cx="4772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B3A"/>
                </a:solidFill>
              </a:defRPr>
            </a:defPPr>
            <a:lvl1pPr>
              <a:defRPr sz="1650" b="0">
                <a:solidFill>
                  <a:srgbClr val="172B3A"/>
                </a:solidFill>
              </a:defRPr>
            </a:lvl1pPr>
            <a:lvl2pPr>
              <a:defRPr sz="1650" b="0">
                <a:solidFill>
                  <a:srgbClr val="172B3A"/>
                </a:solidFill>
              </a:defRPr>
            </a:lvl2pPr>
            <a:lvl3pPr>
              <a:defRPr sz="1650" b="0">
                <a:solidFill>
                  <a:srgbClr val="172B3A"/>
                </a:solidFill>
              </a:defRPr>
            </a:lvl3pPr>
            <a:lvl4pPr>
              <a:defRPr sz="1650" b="0">
                <a:solidFill>
                  <a:srgbClr val="172B3A"/>
                </a:solidFill>
              </a:defRPr>
            </a:lvl4pPr>
            <a:lvl5pPr>
              <a:defRPr sz="1650" b="0">
                <a:solidFill>
                  <a:srgbClr val="172B3A"/>
                </a:solidFill>
              </a:defRPr>
            </a:lvl5pPr>
            <a:lvl6pPr>
              <a:defRPr sz="1650" b="0">
                <a:solidFill>
                  <a:srgbClr val="172B3A"/>
                </a:solidFill>
              </a:defRPr>
            </a:lvl6pPr>
            <a:lvl7pPr>
              <a:defRPr sz="1650" b="0">
                <a:solidFill>
                  <a:srgbClr val="172B3A"/>
                </a:solidFill>
              </a:defRPr>
            </a:lvl7pPr>
            <a:lvl8pPr>
              <a:defRPr sz="1650" b="0">
                <a:solidFill>
                  <a:srgbClr val="172B3A"/>
                </a:solidFill>
              </a:defRPr>
            </a:lvl8pPr>
            <a:lvl9pPr>
              <a:defRPr sz="16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B3A"/>
                </a:solidFill>
              </a:defRPr>
            </a:pPr>
            <a:r>
              <a:rPr sz="1650" b="0">
                <a:solidFill>
                  <a:srgbClr val="172B3A"/>
                </a:solidFill>
              </a:rPr>
              <a:t>Illustrative 5% weight change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50333-C128-4C6B-943E-E789DAEB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Current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8CAAF6-CC14-44F0-834F-E174DA43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71700"/>
            <a:ext cx="4191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The dashboard shows hand-set risk ranges. No twin-based or generator counterfactuals are implemented. Effects are assumptions, not treatment advice.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BC6CEA-370E-400C-9B4D-F21FB0AF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596B76"/>
                </a:solidFill>
              </a:defRPr>
            </a:defPPr>
            <a:lvl1pPr>
              <a:defRPr sz="1425" b="0">
                <a:solidFill>
                  <a:srgbClr val="596B76"/>
                </a:solidFill>
              </a:defRPr>
            </a:lvl1pPr>
            <a:lvl2pPr>
              <a:defRPr sz="1425" b="0">
                <a:solidFill>
                  <a:srgbClr val="596B76"/>
                </a:solidFill>
              </a:defRPr>
            </a:lvl2pPr>
            <a:lvl3pPr>
              <a:defRPr sz="1425" b="0">
                <a:solidFill>
                  <a:srgbClr val="596B76"/>
                </a:solidFill>
              </a:defRPr>
            </a:lvl3pPr>
            <a:lvl4pPr>
              <a:defRPr sz="1425" b="0">
                <a:solidFill>
                  <a:srgbClr val="596B76"/>
                </a:solidFill>
              </a:defRPr>
            </a:lvl4pPr>
            <a:lvl5pPr>
              <a:defRPr sz="1425" b="0">
                <a:solidFill>
                  <a:srgbClr val="596B76"/>
                </a:solidFill>
              </a:defRPr>
            </a:lvl5pPr>
            <a:lvl6pPr>
              <a:defRPr sz="1425" b="0">
                <a:solidFill>
                  <a:srgbClr val="596B76"/>
                </a:solidFill>
              </a:defRPr>
            </a:lvl6pPr>
            <a:lvl7pPr>
              <a:defRPr sz="1425" b="0">
                <a:solidFill>
                  <a:srgbClr val="596B76"/>
                </a:solidFill>
              </a:defRPr>
            </a:lvl7pPr>
            <a:lvl8pPr>
              <a:defRPr sz="1425" b="0">
                <a:solidFill>
                  <a:srgbClr val="596B76"/>
                </a:solidFill>
              </a:defRPr>
            </a:lvl8pPr>
            <a:lvl9pPr>
              <a:defRPr sz="1425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B76"/>
                </a:solidFill>
              </a:defRPr>
            </a:pPr>
            <a:r>
              <a:rPr sz="1425" b="0">
                <a:solidFill>
                  <a:srgbClr val="596B76"/>
                </a:solidFill>
              </a:rPr>
              <a:t>Planned label: illustrative assumption, not a treatment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20602816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91AE27-CDFA-4C24-89CC-EAA3543A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Robustness and 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5D1EF-202E-4164-9CFF-45ED78FD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165AE-86C4-4A3C-BF50-767A0EFE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1D207-3B45-483E-8ADF-284B285D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B7A75"/>
                </a:solidFill>
              </a:defRPr>
            </a:defPPr>
            <a:lvl1pPr>
              <a:defRPr sz="1875" b="1">
                <a:solidFill>
                  <a:srgbClr val="0B7A75"/>
                </a:solidFill>
              </a:defRPr>
            </a:lvl1pPr>
            <a:lvl2pPr>
              <a:defRPr sz="1875" b="1">
                <a:solidFill>
                  <a:srgbClr val="0B7A75"/>
                </a:solidFill>
              </a:defRPr>
            </a:lvl2pPr>
            <a:lvl3pPr>
              <a:defRPr sz="1875" b="1">
                <a:solidFill>
                  <a:srgbClr val="0B7A75"/>
                </a:solidFill>
              </a:defRPr>
            </a:lvl3pPr>
            <a:lvl4pPr>
              <a:defRPr sz="1875" b="1">
                <a:solidFill>
                  <a:srgbClr val="0B7A75"/>
                </a:solidFill>
              </a:defRPr>
            </a:lvl4pPr>
            <a:lvl5pPr>
              <a:defRPr sz="1875" b="1">
                <a:solidFill>
                  <a:srgbClr val="0B7A75"/>
                </a:solidFill>
              </a:defRPr>
            </a:lvl5pPr>
            <a:lvl6pPr>
              <a:defRPr sz="1875" b="1">
                <a:solidFill>
                  <a:srgbClr val="0B7A75"/>
                </a:solidFill>
              </a:defRPr>
            </a:lvl6pPr>
            <a:lvl7pPr>
              <a:defRPr sz="1875" b="1">
                <a:solidFill>
                  <a:srgbClr val="0B7A75"/>
                </a:solidFill>
              </a:defRPr>
            </a:lvl7pPr>
            <a:lvl8pPr>
              <a:defRPr sz="1875" b="1">
                <a:solidFill>
                  <a:srgbClr val="0B7A75"/>
                </a:solidFill>
              </a:defRPr>
            </a:lvl8pPr>
            <a:lvl9pPr>
              <a:defRPr sz="187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7A75"/>
                </a:solidFill>
              </a:defRPr>
            </a:pPr>
            <a:r>
              <a:rPr sz="187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CD669-3913-4FD8-86C4-16E062A0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52600"/>
            <a:ext cx="986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Current robustness sweeps are not implemented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5862D-0219-4586-8A10-99FB527A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B7A75"/>
                </a:solidFill>
              </a:defRPr>
            </a:defPPr>
            <a:lvl1pPr>
              <a:defRPr sz="1875" b="1">
                <a:solidFill>
                  <a:srgbClr val="0B7A75"/>
                </a:solidFill>
              </a:defRPr>
            </a:lvl1pPr>
            <a:lvl2pPr>
              <a:defRPr sz="1875" b="1">
                <a:solidFill>
                  <a:srgbClr val="0B7A75"/>
                </a:solidFill>
              </a:defRPr>
            </a:lvl2pPr>
            <a:lvl3pPr>
              <a:defRPr sz="1875" b="1">
                <a:solidFill>
                  <a:srgbClr val="0B7A75"/>
                </a:solidFill>
              </a:defRPr>
            </a:lvl3pPr>
            <a:lvl4pPr>
              <a:defRPr sz="1875" b="1">
                <a:solidFill>
                  <a:srgbClr val="0B7A75"/>
                </a:solidFill>
              </a:defRPr>
            </a:lvl4pPr>
            <a:lvl5pPr>
              <a:defRPr sz="1875" b="1">
                <a:solidFill>
                  <a:srgbClr val="0B7A75"/>
                </a:solidFill>
              </a:defRPr>
            </a:lvl5pPr>
            <a:lvl6pPr>
              <a:defRPr sz="1875" b="1">
                <a:solidFill>
                  <a:srgbClr val="0B7A75"/>
                </a:solidFill>
              </a:defRPr>
            </a:lvl6pPr>
            <a:lvl7pPr>
              <a:defRPr sz="1875" b="1">
                <a:solidFill>
                  <a:srgbClr val="0B7A75"/>
                </a:solidFill>
              </a:defRPr>
            </a:lvl7pPr>
            <a:lvl8pPr>
              <a:defRPr sz="1875" b="1">
                <a:solidFill>
                  <a:srgbClr val="0B7A75"/>
                </a:solidFill>
              </a:defRPr>
            </a:lvl8pPr>
            <a:lvl9pPr>
              <a:defRPr sz="187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7A75"/>
                </a:solidFill>
              </a:defRPr>
            </a:pPr>
            <a:r>
              <a:rPr sz="187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8BA04-C6B9-4126-8869-D1857B16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90800"/>
            <a:ext cx="986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No wearable dropout, fever, travel or shift-work stress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7FE0D-248B-4187-9E79-C147CCD1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B7A75"/>
                </a:solidFill>
              </a:defRPr>
            </a:defPPr>
            <a:lvl1pPr>
              <a:defRPr sz="1875" b="1">
                <a:solidFill>
                  <a:srgbClr val="0B7A75"/>
                </a:solidFill>
              </a:defRPr>
            </a:lvl1pPr>
            <a:lvl2pPr>
              <a:defRPr sz="1875" b="1">
                <a:solidFill>
                  <a:srgbClr val="0B7A75"/>
                </a:solidFill>
              </a:defRPr>
            </a:lvl2pPr>
            <a:lvl3pPr>
              <a:defRPr sz="1875" b="1">
                <a:solidFill>
                  <a:srgbClr val="0B7A75"/>
                </a:solidFill>
              </a:defRPr>
            </a:lvl3pPr>
            <a:lvl4pPr>
              <a:defRPr sz="1875" b="1">
                <a:solidFill>
                  <a:srgbClr val="0B7A75"/>
                </a:solidFill>
              </a:defRPr>
            </a:lvl4pPr>
            <a:lvl5pPr>
              <a:defRPr sz="1875" b="1">
                <a:solidFill>
                  <a:srgbClr val="0B7A75"/>
                </a:solidFill>
              </a:defRPr>
            </a:lvl5pPr>
            <a:lvl6pPr>
              <a:defRPr sz="1875" b="1">
                <a:solidFill>
                  <a:srgbClr val="0B7A75"/>
                </a:solidFill>
              </a:defRPr>
            </a:lvl6pPr>
            <a:lvl7pPr>
              <a:defRPr sz="1875" b="1">
                <a:solidFill>
                  <a:srgbClr val="0B7A75"/>
                </a:solidFill>
              </a:defRPr>
            </a:lvl7pPr>
            <a:lvl8pPr>
              <a:defRPr sz="1875" b="1">
                <a:solidFill>
                  <a:srgbClr val="0B7A75"/>
                </a:solidFill>
              </a:defRPr>
            </a:lvl8pPr>
            <a:lvl9pPr>
              <a:defRPr sz="187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7A75"/>
                </a:solidFill>
              </a:defRPr>
            </a:pPr>
            <a:r>
              <a:rPr sz="187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EC4EB-75B8-460D-A3AF-98022A0C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986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No simulator-shift experiment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CC2B3-5F8A-4642-88E6-792DE317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B7A75"/>
                </a:solidFill>
              </a:defRPr>
            </a:defPPr>
            <a:lvl1pPr>
              <a:defRPr sz="1875" b="1">
                <a:solidFill>
                  <a:srgbClr val="0B7A75"/>
                </a:solidFill>
              </a:defRPr>
            </a:lvl1pPr>
            <a:lvl2pPr>
              <a:defRPr sz="1875" b="1">
                <a:solidFill>
                  <a:srgbClr val="0B7A75"/>
                </a:solidFill>
              </a:defRPr>
            </a:lvl2pPr>
            <a:lvl3pPr>
              <a:defRPr sz="1875" b="1">
                <a:solidFill>
                  <a:srgbClr val="0B7A75"/>
                </a:solidFill>
              </a:defRPr>
            </a:lvl3pPr>
            <a:lvl4pPr>
              <a:defRPr sz="1875" b="1">
                <a:solidFill>
                  <a:srgbClr val="0B7A75"/>
                </a:solidFill>
              </a:defRPr>
            </a:lvl4pPr>
            <a:lvl5pPr>
              <a:defRPr sz="1875" b="1">
                <a:solidFill>
                  <a:srgbClr val="0B7A75"/>
                </a:solidFill>
              </a:defRPr>
            </a:lvl5pPr>
            <a:lvl6pPr>
              <a:defRPr sz="1875" b="1">
                <a:solidFill>
                  <a:srgbClr val="0B7A75"/>
                </a:solidFill>
              </a:defRPr>
            </a:lvl6pPr>
            <a:lvl7pPr>
              <a:defRPr sz="1875" b="1">
                <a:solidFill>
                  <a:srgbClr val="0B7A75"/>
                </a:solidFill>
              </a:defRPr>
            </a:lvl7pPr>
            <a:lvl8pPr>
              <a:defRPr sz="1875" b="1">
                <a:solidFill>
                  <a:srgbClr val="0B7A75"/>
                </a:solidFill>
              </a:defRPr>
            </a:lvl8pPr>
            <a:lvl9pPr>
              <a:defRPr sz="187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7A75"/>
                </a:solidFill>
              </a:defRPr>
            </a:pPr>
            <a:r>
              <a:rPr sz="187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4842D-2189-4500-B507-BCB09E8A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67200"/>
            <a:ext cx="986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Known limitation: generator labels and signals share the same simplified assumptions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07A55-1318-44FA-9E04-4C6148FE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96B76"/>
                </a:solidFill>
              </a:defRPr>
            </a:defPPr>
            <a:lvl1pPr>
              <a:defRPr sz="1500" b="0">
                <a:solidFill>
                  <a:srgbClr val="596B76"/>
                </a:solidFill>
              </a:defRPr>
            </a:lvl1pPr>
            <a:lvl2pPr>
              <a:defRPr sz="1500" b="0">
                <a:solidFill>
                  <a:srgbClr val="596B76"/>
                </a:solidFill>
              </a:defRPr>
            </a:lvl2pPr>
            <a:lvl3pPr>
              <a:defRPr sz="1500" b="0">
                <a:solidFill>
                  <a:srgbClr val="596B76"/>
                </a:solidFill>
              </a:defRPr>
            </a:lvl3pPr>
            <a:lvl4pPr>
              <a:defRPr sz="1500" b="0">
                <a:solidFill>
                  <a:srgbClr val="596B76"/>
                </a:solidFill>
              </a:defRPr>
            </a:lvl4pPr>
            <a:lvl5pPr>
              <a:defRPr sz="1500" b="0">
                <a:solidFill>
                  <a:srgbClr val="596B76"/>
                </a:solidFill>
              </a:defRPr>
            </a:lvl5pPr>
            <a:lvl6pPr>
              <a:defRPr sz="1500" b="0">
                <a:solidFill>
                  <a:srgbClr val="596B76"/>
                </a:solidFill>
              </a:defRPr>
            </a:lvl6pPr>
            <a:lvl7pPr>
              <a:defRPr sz="1500" b="0">
                <a:solidFill>
                  <a:srgbClr val="596B76"/>
                </a:solidFill>
              </a:defRPr>
            </a:lvl7pPr>
            <a:lvl8pPr>
              <a:defRPr sz="1500" b="0">
                <a:solidFill>
                  <a:srgbClr val="596B76"/>
                </a:solidFill>
              </a:defRPr>
            </a:lvl8pPr>
            <a:lvl9pPr>
              <a:defRPr sz="15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B76"/>
                </a:solidFill>
              </a:defRPr>
            </a:pPr>
            <a:r>
              <a:rPr sz="1500" b="0">
                <a:solidFill>
                  <a:srgbClr val="596B76"/>
                </a:solidFill>
              </a:rPr>
              <a:t>The synthetic benchmark cannot establish performance under real sensor noise or clinical variation.</a:t>
            </a:r>
          </a:p>
        </p:txBody>
      </p:sp>
    </p:spTree>
    <p:extLst>
      <p:ext uri="{BB962C8B-B14F-4D97-AF65-F5344CB8AC3E}">
        <p14:creationId xmlns:p14="http://schemas.microsoft.com/office/powerpoint/2010/main" val="2460022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86B20-C3D9-44C6-A947-4F0DBCAF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Dashboard and Apple Health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03797-AEAE-4923-B6EC-B6BB266B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EB43C-F55B-4364-8386-B8476A2C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E824D-5D84-4853-8E3C-7FD6CC46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3B500-A77A-4A9B-AB25-09DB8104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33550"/>
            <a:ext cx="996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Streaming XML parser for a limited HealthKit export subset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B20F7-A70C-4557-9386-91B0D152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19622-9F02-4DB7-B696-2C81845A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14600"/>
            <a:ext cx="996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Risk-ranked synthetic list, timeline, abstention banner and alert 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1EA34-5898-4A9E-AB50-C31ED7DA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95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F731C-5BB4-422A-8935-07E7CB64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996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Synthetic CGM panel, marginal conformal range and illustrative what-if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0B0BA-E09B-42F9-82A1-0AFEA3AE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767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6B8E7-8C6F-4C62-82FD-0CE2A1C9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76700"/>
            <a:ext cx="996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CSV adapter supports date, temp, rhr, hrv, steps, period_start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29773-462D-4E71-835D-FC39BDFE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96B76"/>
                </a:solidFill>
              </a:defRPr>
            </a:defPPr>
            <a:lvl1pPr>
              <a:defRPr sz="1500" b="0">
                <a:solidFill>
                  <a:srgbClr val="596B76"/>
                </a:solidFill>
              </a:defRPr>
            </a:lvl1pPr>
            <a:lvl2pPr>
              <a:defRPr sz="1500" b="0">
                <a:solidFill>
                  <a:srgbClr val="596B76"/>
                </a:solidFill>
              </a:defRPr>
            </a:lvl2pPr>
            <a:lvl3pPr>
              <a:defRPr sz="1500" b="0">
                <a:solidFill>
                  <a:srgbClr val="596B76"/>
                </a:solidFill>
              </a:defRPr>
            </a:lvl3pPr>
            <a:lvl4pPr>
              <a:defRPr sz="1500" b="0">
                <a:solidFill>
                  <a:srgbClr val="596B76"/>
                </a:solidFill>
              </a:defRPr>
            </a:lvl4pPr>
            <a:lvl5pPr>
              <a:defRPr sz="1500" b="0">
                <a:solidFill>
                  <a:srgbClr val="596B76"/>
                </a:solidFill>
              </a:defRPr>
            </a:lvl5pPr>
            <a:lvl6pPr>
              <a:defRPr sz="1500" b="0">
                <a:solidFill>
                  <a:srgbClr val="596B76"/>
                </a:solidFill>
              </a:defRPr>
            </a:lvl6pPr>
            <a:lvl7pPr>
              <a:defRPr sz="1500" b="0">
                <a:solidFill>
                  <a:srgbClr val="596B76"/>
                </a:solidFill>
              </a:defRPr>
            </a:lvl7pPr>
            <a:lvl8pPr>
              <a:defRPr sz="1500" b="0">
                <a:solidFill>
                  <a:srgbClr val="596B76"/>
                </a:solidFill>
              </a:defRPr>
            </a:lvl8pPr>
            <a:lvl9pPr>
              <a:defRPr sz="15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B76"/>
                </a:solidFill>
              </a:defRPr>
            </a:pPr>
            <a:r>
              <a:rPr sz="1500" b="0">
                <a:solidFill>
                  <a:srgbClr val="596B76"/>
                </a:solidFill>
              </a:rPr>
              <a:t>The synthetic export is a schema-compatibility smoke test, n=1; it clinically validates nothing.</a:t>
            </a:r>
          </a:p>
        </p:txBody>
      </p:sp>
    </p:spTree>
    <p:extLst>
      <p:ext uri="{BB962C8B-B14F-4D97-AF65-F5344CB8AC3E}">
        <p14:creationId xmlns:p14="http://schemas.microsoft.com/office/powerpoint/2010/main" val="8680963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1524AF-D3C0-4BE7-B55F-C51AED4A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Related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D65F3-E53B-4BF8-B414-DBD62B71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32AFB-7752-4271-BE0D-988663F3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85DA2-357F-4276-8945-04D3F3B6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B7A75"/>
                </a:solidFill>
              </a:defRPr>
            </a:defPPr>
            <a:lvl1pPr>
              <a:defRPr sz="1425" b="1">
                <a:solidFill>
                  <a:srgbClr val="0B7A75"/>
                </a:solidFill>
              </a:defRPr>
            </a:lvl1pPr>
            <a:lvl2pPr>
              <a:defRPr sz="1425" b="1">
                <a:solidFill>
                  <a:srgbClr val="0B7A75"/>
                </a:solidFill>
              </a:defRPr>
            </a:lvl2pPr>
            <a:lvl3pPr>
              <a:defRPr sz="1425" b="1">
                <a:solidFill>
                  <a:srgbClr val="0B7A75"/>
                </a:solidFill>
              </a:defRPr>
            </a:lvl3pPr>
            <a:lvl4pPr>
              <a:defRPr sz="1425" b="1">
                <a:solidFill>
                  <a:srgbClr val="0B7A75"/>
                </a:solidFill>
              </a:defRPr>
            </a:lvl4pPr>
            <a:lvl5pPr>
              <a:defRPr sz="1425" b="1">
                <a:solidFill>
                  <a:srgbClr val="0B7A75"/>
                </a:solidFill>
              </a:defRPr>
            </a:lvl5pPr>
            <a:lvl6pPr>
              <a:defRPr sz="1425" b="1">
                <a:solidFill>
                  <a:srgbClr val="0B7A75"/>
                </a:solidFill>
              </a:defRPr>
            </a:lvl6pPr>
            <a:lvl7pPr>
              <a:defRPr sz="1425" b="1">
                <a:solidFill>
                  <a:srgbClr val="0B7A75"/>
                </a:solidFill>
              </a:defRPr>
            </a:lvl7pPr>
            <a:lvl8pPr>
              <a:defRPr sz="1425" b="1">
                <a:solidFill>
                  <a:srgbClr val="0B7A75"/>
                </a:solidFill>
              </a:defRPr>
            </a:lvl8pPr>
            <a:lvl9pPr>
              <a:defRPr sz="142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B7A75"/>
                </a:solidFill>
              </a:defRPr>
            </a:pPr>
            <a:r>
              <a:rPr sz="142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A0D3E-FDA2-4A6B-8EEF-A5E4509D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81150"/>
            <a:ext cx="1005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B3A"/>
                </a:solidFill>
              </a:defRPr>
            </a:defPPr>
            <a:lvl1pPr>
              <a:defRPr sz="1425" b="0">
                <a:solidFill>
                  <a:srgbClr val="172B3A"/>
                </a:solidFill>
              </a:defRPr>
            </a:lvl1pPr>
            <a:lvl2pPr>
              <a:defRPr sz="1425" b="0">
                <a:solidFill>
                  <a:srgbClr val="172B3A"/>
                </a:solidFill>
              </a:defRPr>
            </a:lvl2pPr>
            <a:lvl3pPr>
              <a:defRPr sz="1425" b="0">
                <a:solidFill>
                  <a:srgbClr val="172B3A"/>
                </a:solidFill>
              </a:defRPr>
            </a:lvl3pPr>
            <a:lvl4pPr>
              <a:defRPr sz="1425" b="0">
                <a:solidFill>
                  <a:srgbClr val="172B3A"/>
                </a:solidFill>
              </a:defRPr>
            </a:lvl4pPr>
            <a:lvl5pPr>
              <a:defRPr sz="1425" b="0">
                <a:solidFill>
                  <a:srgbClr val="172B3A"/>
                </a:solidFill>
              </a:defRPr>
            </a:lvl5pPr>
            <a:lvl6pPr>
              <a:defRPr sz="1425" b="0">
                <a:solidFill>
                  <a:srgbClr val="172B3A"/>
                </a:solidFill>
              </a:defRPr>
            </a:lvl6pPr>
            <a:lvl7pPr>
              <a:defRPr sz="1425" b="0">
                <a:solidFill>
                  <a:srgbClr val="172B3A"/>
                </a:solidFill>
              </a:defRPr>
            </a:lvl7pPr>
            <a:lvl8pPr>
              <a:defRPr sz="1425" b="0">
                <a:solidFill>
                  <a:srgbClr val="172B3A"/>
                </a:solidFill>
              </a:defRPr>
            </a:lvl8pPr>
            <a:lvl9pPr>
              <a:defRPr sz="14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B3A"/>
                </a:solidFill>
              </a:defRPr>
            </a:pPr>
            <a:r>
              <a:rPr sz="1425" b="0">
                <a:solidFill>
                  <a:srgbClr val="172B3A"/>
                </a:solidFill>
              </a:rPr>
              <a:t>Goodale 2019 · Luo 2020 · Wang 2025: wearable signals, differing prediction targets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63BFF-2559-4D30-9542-FD2E0AF1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B7A75"/>
                </a:solidFill>
              </a:defRPr>
            </a:defPPr>
            <a:lvl1pPr>
              <a:defRPr sz="1425" b="1">
                <a:solidFill>
                  <a:srgbClr val="0B7A75"/>
                </a:solidFill>
              </a:defRPr>
            </a:lvl1pPr>
            <a:lvl2pPr>
              <a:defRPr sz="1425" b="1">
                <a:solidFill>
                  <a:srgbClr val="0B7A75"/>
                </a:solidFill>
              </a:defRPr>
            </a:lvl2pPr>
            <a:lvl3pPr>
              <a:defRPr sz="1425" b="1">
                <a:solidFill>
                  <a:srgbClr val="0B7A75"/>
                </a:solidFill>
              </a:defRPr>
            </a:lvl3pPr>
            <a:lvl4pPr>
              <a:defRPr sz="1425" b="1">
                <a:solidFill>
                  <a:srgbClr val="0B7A75"/>
                </a:solidFill>
              </a:defRPr>
            </a:lvl4pPr>
            <a:lvl5pPr>
              <a:defRPr sz="1425" b="1">
                <a:solidFill>
                  <a:srgbClr val="0B7A75"/>
                </a:solidFill>
              </a:defRPr>
            </a:lvl5pPr>
            <a:lvl6pPr>
              <a:defRPr sz="1425" b="1">
                <a:solidFill>
                  <a:srgbClr val="0B7A75"/>
                </a:solidFill>
              </a:defRPr>
            </a:lvl6pPr>
            <a:lvl7pPr>
              <a:defRPr sz="1425" b="1">
                <a:solidFill>
                  <a:srgbClr val="0B7A75"/>
                </a:solidFill>
              </a:defRPr>
            </a:lvl7pPr>
            <a:lvl8pPr>
              <a:defRPr sz="1425" b="1">
                <a:solidFill>
                  <a:srgbClr val="0B7A75"/>
                </a:solidFill>
              </a:defRPr>
            </a:lvl8pPr>
            <a:lvl9pPr>
              <a:defRPr sz="142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B7A75"/>
                </a:solidFill>
              </a:defRPr>
            </a:pPr>
            <a:r>
              <a:rPr sz="142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2B561-02C1-4845-AB7B-55A00405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28850"/>
            <a:ext cx="1005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B3A"/>
                </a:solidFill>
              </a:defRPr>
            </a:defPPr>
            <a:lvl1pPr>
              <a:defRPr sz="1425" b="0">
                <a:solidFill>
                  <a:srgbClr val="172B3A"/>
                </a:solidFill>
              </a:defRPr>
            </a:lvl1pPr>
            <a:lvl2pPr>
              <a:defRPr sz="1425" b="0">
                <a:solidFill>
                  <a:srgbClr val="172B3A"/>
                </a:solidFill>
              </a:defRPr>
            </a:lvl2pPr>
            <a:lvl3pPr>
              <a:defRPr sz="1425" b="0">
                <a:solidFill>
                  <a:srgbClr val="172B3A"/>
                </a:solidFill>
              </a:defRPr>
            </a:lvl3pPr>
            <a:lvl4pPr>
              <a:defRPr sz="1425" b="0">
                <a:solidFill>
                  <a:srgbClr val="172B3A"/>
                </a:solidFill>
              </a:defRPr>
            </a:lvl4pPr>
            <a:lvl5pPr>
              <a:defRPr sz="1425" b="0">
                <a:solidFill>
                  <a:srgbClr val="172B3A"/>
                </a:solidFill>
              </a:defRPr>
            </a:lvl5pPr>
            <a:lvl6pPr>
              <a:defRPr sz="1425" b="0">
                <a:solidFill>
                  <a:srgbClr val="172B3A"/>
                </a:solidFill>
              </a:defRPr>
            </a:lvl6pPr>
            <a:lvl7pPr>
              <a:defRPr sz="1425" b="0">
                <a:solidFill>
                  <a:srgbClr val="172B3A"/>
                </a:solidFill>
              </a:defRPr>
            </a:lvl7pPr>
            <a:lvl8pPr>
              <a:defRPr sz="1425" b="0">
                <a:solidFill>
                  <a:srgbClr val="172B3A"/>
                </a:solidFill>
              </a:defRPr>
            </a:lvl8pPr>
            <a:lvl9pPr>
              <a:defRPr sz="14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B3A"/>
                </a:solidFill>
              </a:defRPr>
            </a:pPr>
            <a:r>
              <a:rPr sz="1425" b="0">
                <a:solidFill>
                  <a:srgbClr val="172B3A"/>
                </a:solidFill>
              </a:rPr>
              <a:t>Awoniran 2026 preprint · vaginal temperature; Shamanna 2025 · single-patient twin 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18122-3265-4194-ABD3-27A4EB5D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B7A75"/>
                </a:solidFill>
              </a:defRPr>
            </a:defPPr>
            <a:lvl1pPr>
              <a:defRPr sz="1425" b="1">
                <a:solidFill>
                  <a:srgbClr val="0B7A75"/>
                </a:solidFill>
              </a:defRPr>
            </a:lvl1pPr>
            <a:lvl2pPr>
              <a:defRPr sz="1425" b="1">
                <a:solidFill>
                  <a:srgbClr val="0B7A75"/>
                </a:solidFill>
              </a:defRPr>
            </a:lvl2pPr>
            <a:lvl3pPr>
              <a:defRPr sz="1425" b="1">
                <a:solidFill>
                  <a:srgbClr val="0B7A75"/>
                </a:solidFill>
              </a:defRPr>
            </a:lvl3pPr>
            <a:lvl4pPr>
              <a:defRPr sz="1425" b="1">
                <a:solidFill>
                  <a:srgbClr val="0B7A75"/>
                </a:solidFill>
              </a:defRPr>
            </a:lvl4pPr>
            <a:lvl5pPr>
              <a:defRPr sz="1425" b="1">
                <a:solidFill>
                  <a:srgbClr val="0B7A75"/>
                </a:solidFill>
              </a:defRPr>
            </a:lvl5pPr>
            <a:lvl6pPr>
              <a:defRPr sz="1425" b="1">
                <a:solidFill>
                  <a:srgbClr val="0B7A75"/>
                </a:solidFill>
              </a:defRPr>
            </a:lvl6pPr>
            <a:lvl7pPr>
              <a:defRPr sz="1425" b="1">
                <a:solidFill>
                  <a:srgbClr val="0B7A75"/>
                </a:solidFill>
              </a:defRPr>
            </a:lvl7pPr>
            <a:lvl8pPr>
              <a:defRPr sz="1425" b="1">
                <a:solidFill>
                  <a:srgbClr val="0B7A75"/>
                </a:solidFill>
              </a:defRPr>
            </a:lvl8pPr>
            <a:lvl9pPr>
              <a:defRPr sz="142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B7A75"/>
                </a:solidFill>
              </a:defRPr>
            </a:pPr>
            <a:r>
              <a:rPr sz="142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12E47-C374-423A-A558-33474E43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76550"/>
            <a:ext cx="1005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B3A"/>
                </a:solidFill>
              </a:defRPr>
            </a:defPPr>
            <a:lvl1pPr>
              <a:defRPr sz="1425" b="0">
                <a:solidFill>
                  <a:srgbClr val="172B3A"/>
                </a:solidFill>
              </a:defRPr>
            </a:lvl1pPr>
            <a:lvl2pPr>
              <a:defRPr sz="1425" b="0">
                <a:solidFill>
                  <a:srgbClr val="172B3A"/>
                </a:solidFill>
              </a:defRPr>
            </a:lvl2pPr>
            <a:lvl3pPr>
              <a:defRPr sz="1425" b="0">
                <a:solidFill>
                  <a:srgbClr val="172B3A"/>
                </a:solidFill>
              </a:defRPr>
            </a:lvl3pPr>
            <a:lvl4pPr>
              <a:defRPr sz="1425" b="0">
                <a:solidFill>
                  <a:srgbClr val="172B3A"/>
                </a:solidFill>
              </a:defRPr>
            </a:lvl4pPr>
            <a:lvl5pPr>
              <a:defRPr sz="1425" b="0">
                <a:solidFill>
                  <a:srgbClr val="172B3A"/>
                </a:solidFill>
              </a:defRPr>
            </a:lvl5pPr>
            <a:lvl6pPr>
              <a:defRPr sz="1425" b="0">
                <a:solidFill>
                  <a:srgbClr val="172B3A"/>
                </a:solidFill>
              </a:defRPr>
            </a:lvl6pPr>
            <a:lvl7pPr>
              <a:defRPr sz="1425" b="0">
                <a:solidFill>
                  <a:srgbClr val="172B3A"/>
                </a:solidFill>
              </a:defRPr>
            </a:lvl7pPr>
            <a:lvl8pPr>
              <a:defRPr sz="1425" b="0">
                <a:solidFill>
                  <a:srgbClr val="172B3A"/>
                </a:solidFill>
              </a:defRPr>
            </a:lvl8pPr>
            <a:lvl9pPr>
              <a:defRPr sz="14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B3A"/>
                </a:solidFill>
              </a:defRPr>
            </a:pPr>
            <a:r>
              <a:rPr sz="1425" b="0">
                <a:solidFill>
                  <a:srgbClr val="172B3A"/>
                </a:solidFill>
              </a:rPr>
              <a:t>Lin 2023 · cycle glucose; Teede 2023 guideline and 2026 PMOS name consensus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1B994-FF92-48B9-A8F8-0450345A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B7A75"/>
                </a:solidFill>
              </a:defRPr>
            </a:defPPr>
            <a:lvl1pPr>
              <a:defRPr sz="1425" b="1">
                <a:solidFill>
                  <a:srgbClr val="0B7A75"/>
                </a:solidFill>
              </a:defRPr>
            </a:lvl1pPr>
            <a:lvl2pPr>
              <a:defRPr sz="1425" b="1">
                <a:solidFill>
                  <a:srgbClr val="0B7A75"/>
                </a:solidFill>
              </a:defRPr>
            </a:lvl2pPr>
            <a:lvl3pPr>
              <a:defRPr sz="1425" b="1">
                <a:solidFill>
                  <a:srgbClr val="0B7A75"/>
                </a:solidFill>
              </a:defRPr>
            </a:lvl3pPr>
            <a:lvl4pPr>
              <a:defRPr sz="1425" b="1">
                <a:solidFill>
                  <a:srgbClr val="0B7A75"/>
                </a:solidFill>
              </a:defRPr>
            </a:lvl4pPr>
            <a:lvl5pPr>
              <a:defRPr sz="1425" b="1">
                <a:solidFill>
                  <a:srgbClr val="0B7A75"/>
                </a:solidFill>
              </a:defRPr>
            </a:lvl5pPr>
            <a:lvl6pPr>
              <a:defRPr sz="1425" b="1">
                <a:solidFill>
                  <a:srgbClr val="0B7A75"/>
                </a:solidFill>
              </a:defRPr>
            </a:lvl6pPr>
            <a:lvl7pPr>
              <a:defRPr sz="1425" b="1">
                <a:solidFill>
                  <a:srgbClr val="0B7A75"/>
                </a:solidFill>
              </a:defRPr>
            </a:lvl7pPr>
            <a:lvl8pPr>
              <a:defRPr sz="1425" b="1">
                <a:solidFill>
                  <a:srgbClr val="0B7A75"/>
                </a:solidFill>
              </a:defRPr>
            </a:lvl8pPr>
            <a:lvl9pPr>
              <a:defRPr sz="142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B7A75"/>
                </a:solidFill>
              </a:defRPr>
            </a:pPr>
            <a:r>
              <a:rPr sz="142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5D7060-C19E-4254-AECF-6A661271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1005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B3A"/>
                </a:solidFill>
              </a:defRPr>
            </a:defPPr>
            <a:lvl1pPr>
              <a:defRPr sz="1425" b="0">
                <a:solidFill>
                  <a:srgbClr val="172B3A"/>
                </a:solidFill>
              </a:defRPr>
            </a:lvl1pPr>
            <a:lvl2pPr>
              <a:defRPr sz="1425" b="0">
                <a:solidFill>
                  <a:srgbClr val="172B3A"/>
                </a:solidFill>
              </a:defRPr>
            </a:lvl2pPr>
            <a:lvl3pPr>
              <a:defRPr sz="1425" b="0">
                <a:solidFill>
                  <a:srgbClr val="172B3A"/>
                </a:solidFill>
              </a:defRPr>
            </a:lvl3pPr>
            <a:lvl4pPr>
              <a:defRPr sz="1425" b="0">
                <a:solidFill>
                  <a:srgbClr val="172B3A"/>
                </a:solidFill>
              </a:defRPr>
            </a:lvl4pPr>
            <a:lvl5pPr>
              <a:defRPr sz="1425" b="0">
                <a:solidFill>
                  <a:srgbClr val="172B3A"/>
                </a:solidFill>
              </a:defRPr>
            </a:lvl5pPr>
            <a:lvl6pPr>
              <a:defRPr sz="1425" b="0">
                <a:solidFill>
                  <a:srgbClr val="172B3A"/>
                </a:solidFill>
              </a:defRPr>
            </a:lvl6pPr>
            <a:lvl7pPr>
              <a:defRPr sz="1425" b="0">
                <a:solidFill>
                  <a:srgbClr val="172B3A"/>
                </a:solidFill>
              </a:defRPr>
            </a:lvl7pPr>
            <a:lvl8pPr>
              <a:defRPr sz="1425" b="0">
                <a:solidFill>
                  <a:srgbClr val="172B3A"/>
                </a:solidFill>
              </a:defRPr>
            </a:lvl8pPr>
            <a:lvl9pPr>
              <a:defRPr sz="14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B3A"/>
                </a:solidFill>
              </a:defRPr>
            </a:pPr>
            <a:r>
              <a:rPr sz="1425" b="0">
                <a:solidFill>
                  <a:srgbClr val="172B3A"/>
                </a:solidFill>
              </a:rPr>
              <a:t>Gibbs &amp; Candès 2021 · adaptive conformal; Collins 2024 · TRIPOD+AI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FCDF6-F704-4E09-BA9F-93A78330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B7A75"/>
                </a:solidFill>
              </a:defRPr>
            </a:defPPr>
            <a:lvl1pPr>
              <a:defRPr sz="1425" b="1">
                <a:solidFill>
                  <a:srgbClr val="0B7A75"/>
                </a:solidFill>
              </a:defRPr>
            </a:lvl1pPr>
            <a:lvl2pPr>
              <a:defRPr sz="1425" b="1">
                <a:solidFill>
                  <a:srgbClr val="0B7A75"/>
                </a:solidFill>
              </a:defRPr>
            </a:lvl2pPr>
            <a:lvl3pPr>
              <a:defRPr sz="1425" b="1">
                <a:solidFill>
                  <a:srgbClr val="0B7A75"/>
                </a:solidFill>
              </a:defRPr>
            </a:lvl3pPr>
            <a:lvl4pPr>
              <a:defRPr sz="1425" b="1">
                <a:solidFill>
                  <a:srgbClr val="0B7A75"/>
                </a:solidFill>
              </a:defRPr>
            </a:lvl4pPr>
            <a:lvl5pPr>
              <a:defRPr sz="1425" b="1">
                <a:solidFill>
                  <a:srgbClr val="0B7A75"/>
                </a:solidFill>
              </a:defRPr>
            </a:lvl5pPr>
            <a:lvl6pPr>
              <a:defRPr sz="1425" b="1">
                <a:solidFill>
                  <a:srgbClr val="0B7A75"/>
                </a:solidFill>
              </a:defRPr>
            </a:lvl6pPr>
            <a:lvl7pPr>
              <a:defRPr sz="1425" b="1">
                <a:solidFill>
                  <a:srgbClr val="0B7A75"/>
                </a:solidFill>
              </a:defRPr>
            </a:lvl7pPr>
            <a:lvl8pPr>
              <a:defRPr sz="1425" b="1">
                <a:solidFill>
                  <a:srgbClr val="0B7A75"/>
                </a:solidFill>
              </a:defRPr>
            </a:lvl8pPr>
            <a:lvl9pPr>
              <a:defRPr sz="142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B7A75"/>
                </a:solidFill>
              </a:defRPr>
            </a:pPr>
            <a:r>
              <a:rPr sz="142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F641C-48E6-49EE-ADD0-7C9F2D2F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1005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B3A"/>
                </a:solidFill>
              </a:defRPr>
            </a:defPPr>
            <a:lvl1pPr>
              <a:defRPr sz="1425" b="0">
                <a:solidFill>
                  <a:srgbClr val="172B3A"/>
                </a:solidFill>
              </a:defRPr>
            </a:lvl1pPr>
            <a:lvl2pPr>
              <a:defRPr sz="1425" b="0">
                <a:solidFill>
                  <a:srgbClr val="172B3A"/>
                </a:solidFill>
              </a:defRPr>
            </a:lvl2pPr>
            <a:lvl3pPr>
              <a:defRPr sz="1425" b="0">
                <a:solidFill>
                  <a:srgbClr val="172B3A"/>
                </a:solidFill>
              </a:defRPr>
            </a:lvl3pPr>
            <a:lvl4pPr>
              <a:defRPr sz="1425" b="0">
                <a:solidFill>
                  <a:srgbClr val="172B3A"/>
                </a:solidFill>
              </a:defRPr>
            </a:lvl4pPr>
            <a:lvl5pPr>
              <a:defRPr sz="1425" b="0">
                <a:solidFill>
                  <a:srgbClr val="172B3A"/>
                </a:solidFill>
              </a:defRPr>
            </a:lvl5pPr>
            <a:lvl6pPr>
              <a:defRPr sz="1425" b="0">
                <a:solidFill>
                  <a:srgbClr val="172B3A"/>
                </a:solidFill>
              </a:defRPr>
            </a:lvl6pPr>
            <a:lvl7pPr>
              <a:defRPr sz="1425" b="0">
                <a:solidFill>
                  <a:srgbClr val="172B3A"/>
                </a:solidFill>
              </a:defRPr>
            </a:lvl7pPr>
            <a:lvl8pPr>
              <a:defRPr sz="1425" b="0">
                <a:solidFill>
                  <a:srgbClr val="172B3A"/>
                </a:solidFill>
              </a:defRPr>
            </a:lvl8pPr>
            <a:lvl9pPr>
              <a:defRPr sz="14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B3A"/>
                </a:solidFill>
              </a:defRPr>
            </a:pPr>
            <a:r>
              <a:rPr sz="1425" b="0">
                <a:solidFill>
                  <a:srgbClr val="172B3A"/>
                </a:solidFill>
              </a:rPr>
              <a:t>mcPHASES is a restricted-access roadmap source; no data are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C1653D-523C-4670-9829-8F94A965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596B76"/>
                </a:solidFill>
              </a:defRPr>
            </a:defPPr>
            <a:lvl1pPr>
              <a:defRPr sz="1425" b="0">
                <a:solidFill>
                  <a:srgbClr val="596B76"/>
                </a:solidFill>
              </a:defRPr>
            </a:lvl1pPr>
            <a:lvl2pPr>
              <a:defRPr sz="1425" b="0">
                <a:solidFill>
                  <a:srgbClr val="596B76"/>
                </a:solidFill>
              </a:defRPr>
            </a:lvl2pPr>
            <a:lvl3pPr>
              <a:defRPr sz="1425" b="0">
                <a:solidFill>
                  <a:srgbClr val="596B76"/>
                </a:solidFill>
              </a:defRPr>
            </a:lvl3pPr>
            <a:lvl4pPr>
              <a:defRPr sz="1425" b="0">
                <a:solidFill>
                  <a:srgbClr val="596B76"/>
                </a:solidFill>
              </a:defRPr>
            </a:lvl4pPr>
            <a:lvl5pPr>
              <a:defRPr sz="1425" b="0">
                <a:solidFill>
                  <a:srgbClr val="596B76"/>
                </a:solidFill>
              </a:defRPr>
            </a:lvl5pPr>
            <a:lvl6pPr>
              <a:defRPr sz="1425" b="0">
                <a:solidFill>
                  <a:srgbClr val="596B76"/>
                </a:solidFill>
              </a:defRPr>
            </a:lvl6pPr>
            <a:lvl7pPr>
              <a:defRPr sz="1425" b="0">
                <a:solidFill>
                  <a:srgbClr val="596B76"/>
                </a:solidFill>
              </a:defRPr>
            </a:lvl7pPr>
            <a:lvl8pPr>
              <a:defRPr sz="1425" b="0">
                <a:solidFill>
                  <a:srgbClr val="596B76"/>
                </a:solidFill>
              </a:defRPr>
            </a:lvl8pPr>
            <a:lvl9pPr>
              <a:defRPr sz="1425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B76"/>
                </a:solidFill>
              </a:defRPr>
            </a:pPr>
            <a:r>
              <a:rPr sz="1425" b="0">
                <a:solidFill>
                  <a:srgbClr val="596B76"/>
                </a:solidFill>
              </a:rPr>
              <a:t>These works inform terminology, design and reporting. They do not validate this synthetic simulator.</a:t>
            </a:r>
          </a:p>
        </p:txBody>
      </p:sp>
    </p:spTree>
    <p:extLst>
      <p:ext uri="{BB962C8B-B14F-4D97-AF65-F5344CB8AC3E}">
        <p14:creationId xmlns:p14="http://schemas.microsoft.com/office/powerpoint/2010/main" val="14438693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F13D9-87A9-4E46-BABA-2E803CC1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Limits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80F79-5593-4F94-8BC3-9E378FCC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DC523-BE21-406B-B117-8AB510CB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5BEA5-AB2B-4D41-967E-452265BD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9153A-6DEE-4A60-B70A-ACD65CD9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1005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Calibrate and connect the coupled twin to the E1 forecast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DAA77-60FD-4FFC-850D-DFEE9F90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B0F9D-4ADA-4FB7-B60D-73E29B7E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1005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Evaluate abstention and marginal conformal coverage on untouched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21EC8-1658-44E5-AD4F-7568BD50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4FDBC-D78C-4718-9327-DE3B5976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1005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Add CGM/EHR prediction tiers, counterfactual simulation and robustness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82BED-26E6-4A33-B394-9FFE399A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D9F99-FA2F-4788-9683-EE09A8BF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19550"/>
            <a:ext cx="1005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Seek clinician co-design and real-data validation before any clinical 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AEBD9-02ED-4D24-8FEF-8EFF43B5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68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B7A75"/>
                </a:solidFill>
              </a:defRPr>
            </a:defPPr>
            <a:lvl1pPr>
              <a:defRPr sz="1350" b="1">
                <a:solidFill>
                  <a:srgbClr val="0B7A75"/>
                </a:solidFill>
              </a:defRPr>
            </a:lvl1pPr>
            <a:lvl2pPr>
              <a:defRPr sz="1350" b="1">
                <a:solidFill>
                  <a:srgbClr val="0B7A75"/>
                </a:solidFill>
              </a:defRPr>
            </a:lvl2pPr>
            <a:lvl3pPr>
              <a:defRPr sz="1350" b="1">
                <a:solidFill>
                  <a:srgbClr val="0B7A75"/>
                </a:solidFill>
              </a:defRPr>
            </a:lvl3pPr>
            <a:lvl4pPr>
              <a:defRPr sz="1350" b="1">
                <a:solidFill>
                  <a:srgbClr val="0B7A75"/>
                </a:solidFill>
              </a:defRPr>
            </a:lvl4pPr>
            <a:lvl5pPr>
              <a:defRPr sz="1350" b="1">
                <a:solidFill>
                  <a:srgbClr val="0B7A75"/>
                </a:solidFill>
              </a:defRPr>
            </a:lvl5pPr>
            <a:lvl6pPr>
              <a:defRPr sz="1350" b="1">
                <a:solidFill>
                  <a:srgbClr val="0B7A75"/>
                </a:solidFill>
              </a:defRPr>
            </a:lvl6pPr>
            <a:lvl7pPr>
              <a:defRPr sz="1350" b="1">
                <a:solidFill>
                  <a:srgbClr val="0B7A75"/>
                </a:solidFill>
              </a:defRPr>
            </a:lvl7pPr>
            <a:lvl8pPr>
              <a:defRPr sz="1350" b="1">
                <a:solidFill>
                  <a:srgbClr val="0B7A75"/>
                </a:solidFill>
              </a:defRPr>
            </a:lvl8pPr>
            <a:lvl9pPr>
              <a:defRPr sz="13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B7A75"/>
                </a:solidFill>
              </a:defRPr>
            </a:pPr>
            <a:r>
              <a:rPr sz="1350" b="1">
                <a:solidFill>
                  <a:srgbClr val="0B7A75"/>
                </a:solidFill>
              </a:rPr>
              <a:t>Synthetic engineering prototype · no diagnosis · no treatment or reproductive planning advice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ADFD7-6F1F-46FD-872B-4983EA8B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245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72B3A"/>
                </a:solidFill>
              </a:defRPr>
            </a:defPPr>
            <a:lvl1pPr>
              <a:defRPr sz="1275" b="0">
                <a:solidFill>
                  <a:srgbClr val="172B3A"/>
                </a:solidFill>
              </a:defRPr>
            </a:lvl1pPr>
            <a:lvl2pPr>
              <a:defRPr sz="1275" b="0">
                <a:solidFill>
                  <a:srgbClr val="172B3A"/>
                </a:solidFill>
              </a:defRPr>
            </a:lvl2pPr>
            <a:lvl3pPr>
              <a:defRPr sz="1275" b="0">
                <a:solidFill>
                  <a:srgbClr val="172B3A"/>
                </a:solidFill>
              </a:defRPr>
            </a:lvl3pPr>
            <a:lvl4pPr>
              <a:defRPr sz="1275" b="0">
                <a:solidFill>
                  <a:srgbClr val="172B3A"/>
                </a:solidFill>
              </a:defRPr>
            </a:lvl4pPr>
            <a:lvl5pPr>
              <a:defRPr sz="1275" b="0">
                <a:solidFill>
                  <a:srgbClr val="172B3A"/>
                </a:solidFill>
              </a:defRPr>
            </a:lvl5pPr>
            <a:lvl6pPr>
              <a:defRPr sz="1275" b="0">
                <a:solidFill>
                  <a:srgbClr val="172B3A"/>
                </a:solidFill>
              </a:defRPr>
            </a:lvl6pPr>
            <a:lvl7pPr>
              <a:defRPr sz="1275" b="0">
                <a:solidFill>
                  <a:srgbClr val="172B3A"/>
                </a:solidFill>
              </a:defRPr>
            </a:lvl7pPr>
            <a:lvl8pPr>
              <a:defRPr sz="1275" b="0">
                <a:solidFill>
                  <a:srgbClr val="172B3A"/>
                </a:solidFill>
              </a:defRPr>
            </a:lvl8pPr>
            <a:lvl9pPr>
              <a:defRPr sz="12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2B3A"/>
                </a:solidFill>
              </a:defRPr>
            </a:pPr>
            <a:r>
              <a:rPr sz="1275" b="0">
                <a:solidFill>
                  <a:srgbClr val="172B3A"/>
                </a:solidFill>
              </a:rPr>
              <a:t>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1946080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2026-10-19T15:29:26.6720000Z</dcterms:created>
  <dcterms:modified xsi:type="dcterms:W3CDTF">2026-10-19T15:29:26.6730000Z</dcterms:modified>
</coreProperties>
</file>