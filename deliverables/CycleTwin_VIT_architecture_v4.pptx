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e7859eea3e43fb" /><Relationship Type="http://schemas.openxmlformats.org/officeDocument/2006/relationships/extended-properties" Target="/docProps/app.xml" Id="Rf98ea644dbeb4c90" /><Relationship Type="http://schemas.openxmlformats.org/officeDocument/2006/relationships/officeDocument" Target="/ppt/presentation.xml" Id="R30e3cadee36f4f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41349788014df1"/>
  </p:sldMasterIdLst>
  <p:notesMasterIdLst>
    <p:notesMasterId xmlns:r="http://schemas.openxmlformats.org/officeDocument/2006/relationships" r:id="R7138c1c2e37d45e3"/>
  </p:notesMasterIdLst>
  <p:sldIdLst>
    <p:sldId xmlns:r="http://schemas.openxmlformats.org/officeDocument/2006/relationships" id="256" r:id="Rebe80f8ac7e74e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50068ac7204ea7" /><Relationship Type="http://schemas.openxmlformats.org/officeDocument/2006/relationships/slideMaster" Target="/ppt/slideMasters/slideMaster1.xml" Id="R0f41349788014df1" /><Relationship Type="http://schemas.openxmlformats.org/officeDocument/2006/relationships/notesMaster" Target="/ppt/notesMasters/notesMaster1.xml" Id="R7138c1c2e37d45e3" /><Relationship Type="http://schemas.openxmlformats.org/officeDocument/2006/relationships/presProps" Target="/ppt/presProps.xml" Id="R1744bc04fa14438d" /><Relationship Type="http://schemas.openxmlformats.org/officeDocument/2006/relationships/tableStyles" Target="/ppt/tableStyles.xml" Id="Rce6d07e0e8c04e38" /><Relationship Type="http://schemas.openxmlformats.org/officeDocument/2006/relationships/slide" Target="/ppt/slides/slide1.xml" Id="Rebe80f8ac7e74e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daaf64258a45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8c597311848a6" /><Relationship Type="http://schemas.openxmlformats.org/officeDocument/2006/relationships/notesMaster" Target="/ppt/notesMasters/notesMaster1.xml" Id="R495caa2140e249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diagram of the local synthetic demo. This is not a clinically validated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a1aa8359a42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1ad6503c0b47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8eff959e846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a2528161441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c3bcea03d4a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a04af6eaf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803EF2-AEF6-4600-8FB6-0AC26A139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25BE40-0FDF-4771-8F4C-2D2043583C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EE5763-CD39-474B-9600-16CD06A09E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6E22C4-2D49-49A9-91B3-64F6BD03E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8A40CF-BDC9-424B-8F6F-2BA379EC2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4F0F05-2B24-4526-A1E2-476A31D37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FFE00D-E9DB-4382-8C02-DEA7B5242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65E680-3F99-49BD-8888-3F6DD87BFF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4AE6DC-2FB0-4D65-9D56-1915B7625A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4580C4-E3DF-44A3-ABFD-2119D5ADB1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8180fb28974d96" /><Relationship Type="http://schemas.openxmlformats.org/officeDocument/2006/relationships/slideLayout" Target="/ppt/slideLayouts/slideLayout1.xml" Id="R621fce6533944008" /><Relationship Type="http://schemas.openxmlformats.org/officeDocument/2006/relationships/slideLayout" Target="/ppt/slideLayouts/slideLayout2.xml" Id="Re48b24eac4544fb7" /><Relationship Type="http://schemas.openxmlformats.org/officeDocument/2006/relationships/slideLayout" Target="/ppt/slideLayouts/slideLayout3.xml" Id="R5b9948521d014cd2" /><Relationship Type="http://schemas.openxmlformats.org/officeDocument/2006/relationships/slideLayout" Target="/ppt/slideLayouts/slideLayout4.xml" Id="R004fca25ad584d18" /><Relationship Type="http://schemas.openxmlformats.org/officeDocument/2006/relationships/slideLayout" Target="/ppt/slideLayouts/slideLayout5.xml" Id="R89ac0fde76e64c93" /><Relationship Type="http://schemas.openxmlformats.org/officeDocument/2006/relationships/slideLayout" Target="/ppt/slideLayouts/slideLayout6.xml" Id="R8710b6a89ea1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1fce6533944008"/>
    <p:sldLayoutId xmlns:r="http://schemas.openxmlformats.org/officeDocument/2006/relationships" id="2147483650" r:id="Re48b24eac4544fb7"/>
    <p:sldLayoutId xmlns:r="http://schemas.openxmlformats.org/officeDocument/2006/relationships" id="2147483651" r:id="R5b9948521d014cd2"/>
    <p:sldLayoutId xmlns:r="http://schemas.openxmlformats.org/officeDocument/2006/relationships" id="2147483652" r:id="R004fca25ad584d18"/>
    <p:sldLayoutId xmlns:r="http://schemas.openxmlformats.org/officeDocument/2006/relationships" id="2147483653" r:id="R89ac0fde76e64c93"/>
    <p:sldLayoutId xmlns:r="http://schemas.openxmlformats.org/officeDocument/2006/relationships" id="2147483654" r:id="R8710b6a89ea1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bd5f0655e45e2" /><Relationship Type="http://schemas.openxmlformats.org/officeDocument/2006/relationships/notesSlide" Target="/ppt/notesSlides/notesSlide1.xml" Id="R2af1121e8a0b41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F51DA5-2F2B-460D-802A-4A27373F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CycleTwin architecture · local synthetic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E3D86-3346-4053-8D80-61D0A8E6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D14ED-814B-469E-A28B-7A1D0FA1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CDBF0-E0C9-43B3-9240-E102EFD4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2CFDA-9033-42DA-B6C1-8547418A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Synthetic streams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6F481-91A7-42A2-B3CF-652503B3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Cycles · wearables · CGM fixture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F4369-CD92-4183-A60E-577A5CEF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EFF6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16F09-16E5-4C07-A63B-B640A2A8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336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Patient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4972E-18B9-4D4F-81E2-499385C5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479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Train · validation · held-out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6BE0E-38A4-4057-8BDD-70CAE3B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C8AF3-3E3E-4C5D-81A9-791230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Twin + tiered 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2F3A0-2751-45C8-B7C1-EFDB2825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Shared zIR demo; score uses period · RHR · temp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AD1E3-D2FE-4CC5-A777-485EE7BA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050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F8175-6983-4AA3-8A4E-970C4C54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3360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Safety +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2EE5B-2932-44EA-9092-9D93161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479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B3A"/>
                </a:solidFill>
              </a:defRPr>
            </a:defPPr>
            <a:lvl1pPr>
              <a:defRPr sz="1350" b="0">
                <a:solidFill>
                  <a:srgbClr val="172B3A"/>
                </a:solidFill>
              </a:defRPr>
            </a:lvl1pPr>
            <a:lvl2pPr>
              <a:defRPr sz="1350" b="0">
                <a:solidFill>
                  <a:srgbClr val="172B3A"/>
                </a:solidFill>
              </a:defRPr>
            </a:lvl2pPr>
            <a:lvl3pPr>
              <a:defRPr sz="1350" b="0">
                <a:solidFill>
                  <a:srgbClr val="172B3A"/>
                </a:solidFill>
              </a:defRPr>
            </a:lvl3pPr>
            <a:lvl4pPr>
              <a:defRPr sz="1350" b="0">
                <a:solidFill>
                  <a:srgbClr val="172B3A"/>
                </a:solidFill>
              </a:defRPr>
            </a:lvl4pPr>
            <a:lvl5pPr>
              <a:defRPr sz="1350" b="0">
                <a:solidFill>
                  <a:srgbClr val="172B3A"/>
                </a:solidFill>
              </a:defRPr>
            </a:lvl5pPr>
            <a:lvl6pPr>
              <a:defRPr sz="1350" b="0">
                <a:solidFill>
                  <a:srgbClr val="172B3A"/>
                </a:solidFill>
              </a:defRPr>
            </a:lvl6pPr>
            <a:lvl7pPr>
              <a:defRPr sz="1350" b="0">
                <a:solidFill>
                  <a:srgbClr val="172B3A"/>
                </a:solidFill>
              </a:defRPr>
            </a:lvl7pPr>
            <a:lvl8pPr>
              <a:defRPr sz="1350" b="0">
                <a:solidFill>
                  <a:srgbClr val="172B3A"/>
                </a:solidFill>
              </a:defRPr>
            </a:lvl8pPr>
            <a:lvl9pPr>
              <a:defRPr sz="13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Abstain · conformal · alert 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C691E-8602-43A6-A0AA-1BECA9A0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622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596B76"/>
                </a:solidFill>
              </a:defRPr>
            </a:defPPr>
            <a:lvl1pPr>
              <a:defRPr sz="2550" b="1">
                <a:solidFill>
                  <a:srgbClr val="596B76"/>
                </a:solidFill>
              </a:defRPr>
            </a:lvl1pPr>
            <a:lvl2pPr>
              <a:defRPr sz="2550" b="1">
                <a:solidFill>
                  <a:srgbClr val="596B76"/>
                </a:solidFill>
              </a:defRPr>
            </a:lvl2pPr>
            <a:lvl3pPr>
              <a:defRPr sz="2550" b="1">
                <a:solidFill>
                  <a:srgbClr val="596B76"/>
                </a:solidFill>
              </a:defRPr>
            </a:lvl3pPr>
            <a:lvl4pPr>
              <a:defRPr sz="2550" b="1">
                <a:solidFill>
                  <a:srgbClr val="596B76"/>
                </a:solidFill>
              </a:defRPr>
            </a:lvl4pPr>
            <a:lvl5pPr>
              <a:defRPr sz="2550" b="1">
                <a:solidFill>
                  <a:srgbClr val="596B76"/>
                </a:solidFill>
              </a:defRPr>
            </a:lvl5pPr>
            <a:lvl6pPr>
              <a:defRPr sz="2550" b="1">
                <a:solidFill>
                  <a:srgbClr val="596B76"/>
                </a:solidFill>
              </a:defRPr>
            </a:lvl6pPr>
            <a:lvl7pPr>
              <a:defRPr sz="2550" b="1">
                <a:solidFill>
                  <a:srgbClr val="596B76"/>
                </a:solidFill>
              </a:defRPr>
            </a:lvl7pPr>
            <a:lvl8pPr>
              <a:defRPr sz="2550" b="1">
                <a:solidFill>
                  <a:srgbClr val="596B76"/>
                </a:solidFill>
              </a:defRPr>
            </a:lvl8pPr>
            <a:lvl9pPr>
              <a:defRPr sz="25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96B76"/>
                </a:solidFill>
              </a:defRPr>
            </a:pPr>
            <a:r>
              <a:rPr sz="2550" b="1">
                <a:solidFill>
                  <a:srgbClr val="596B7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F4150-B579-4726-A874-FB7F1DE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622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596B76"/>
                </a:solidFill>
              </a:defRPr>
            </a:defPPr>
            <a:lvl1pPr>
              <a:defRPr sz="2550" b="1">
                <a:solidFill>
                  <a:srgbClr val="596B76"/>
                </a:solidFill>
              </a:defRPr>
            </a:lvl1pPr>
            <a:lvl2pPr>
              <a:defRPr sz="2550" b="1">
                <a:solidFill>
                  <a:srgbClr val="596B76"/>
                </a:solidFill>
              </a:defRPr>
            </a:lvl2pPr>
            <a:lvl3pPr>
              <a:defRPr sz="2550" b="1">
                <a:solidFill>
                  <a:srgbClr val="596B76"/>
                </a:solidFill>
              </a:defRPr>
            </a:lvl3pPr>
            <a:lvl4pPr>
              <a:defRPr sz="2550" b="1">
                <a:solidFill>
                  <a:srgbClr val="596B76"/>
                </a:solidFill>
              </a:defRPr>
            </a:lvl4pPr>
            <a:lvl5pPr>
              <a:defRPr sz="2550" b="1">
                <a:solidFill>
                  <a:srgbClr val="596B76"/>
                </a:solidFill>
              </a:defRPr>
            </a:lvl5pPr>
            <a:lvl6pPr>
              <a:defRPr sz="2550" b="1">
                <a:solidFill>
                  <a:srgbClr val="596B76"/>
                </a:solidFill>
              </a:defRPr>
            </a:lvl6pPr>
            <a:lvl7pPr>
              <a:defRPr sz="2550" b="1">
                <a:solidFill>
                  <a:srgbClr val="596B76"/>
                </a:solidFill>
              </a:defRPr>
            </a:lvl7pPr>
            <a:lvl8pPr>
              <a:defRPr sz="2550" b="1">
                <a:solidFill>
                  <a:srgbClr val="596B76"/>
                </a:solidFill>
              </a:defRPr>
            </a:lvl8pPr>
            <a:lvl9pPr>
              <a:defRPr sz="25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96B76"/>
                </a:solidFill>
              </a:defRPr>
            </a:pPr>
            <a:r>
              <a:rPr sz="2550" b="1">
                <a:solidFill>
                  <a:srgbClr val="596B7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A9F6A-042D-4EDC-9135-5D132C04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596B76"/>
                </a:solidFill>
              </a:defRPr>
            </a:defPPr>
            <a:lvl1pPr>
              <a:defRPr sz="2550" b="1">
                <a:solidFill>
                  <a:srgbClr val="596B76"/>
                </a:solidFill>
              </a:defRPr>
            </a:lvl1pPr>
            <a:lvl2pPr>
              <a:defRPr sz="2550" b="1">
                <a:solidFill>
                  <a:srgbClr val="596B76"/>
                </a:solidFill>
              </a:defRPr>
            </a:lvl2pPr>
            <a:lvl3pPr>
              <a:defRPr sz="2550" b="1">
                <a:solidFill>
                  <a:srgbClr val="596B76"/>
                </a:solidFill>
              </a:defRPr>
            </a:lvl3pPr>
            <a:lvl4pPr>
              <a:defRPr sz="2550" b="1">
                <a:solidFill>
                  <a:srgbClr val="596B76"/>
                </a:solidFill>
              </a:defRPr>
            </a:lvl4pPr>
            <a:lvl5pPr>
              <a:defRPr sz="2550" b="1">
                <a:solidFill>
                  <a:srgbClr val="596B76"/>
                </a:solidFill>
              </a:defRPr>
            </a:lvl5pPr>
            <a:lvl6pPr>
              <a:defRPr sz="2550" b="1">
                <a:solidFill>
                  <a:srgbClr val="596B76"/>
                </a:solidFill>
              </a:defRPr>
            </a:lvl6pPr>
            <a:lvl7pPr>
              <a:defRPr sz="2550" b="1">
                <a:solidFill>
                  <a:srgbClr val="596B76"/>
                </a:solidFill>
              </a:defRPr>
            </a:lvl7pPr>
            <a:lvl8pPr>
              <a:defRPr sz="2550" b="1">
                <a:solidFill>
                  <a:srgbClr val="596B76"/>
                </a:solidFill>
              </a:defRPr>
            </a:lvl8pPr>
            <a:lvl9pPr>
              <a:defRPr sz="25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96B76"/>
                </a:solidFill>
              </a:defRPr>
            </a:pPr>
            <a:r>
              <a:rPr sz="2550" b="1">
                <a:solidFill>
                  <a:srgbClr val="596B7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EBF1A-42E3-4B59-B19E-8FC4F17A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43375"/>
            <a:ext cx="73914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E6E3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51441-5E73-4CDD-B120-C9ADF69B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52925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2B3A"/>
                </a:solidFill>
              </a:defRPr>
            </a:defPPr>
            <a:lvl1pPr>
              <a:defRPr sz="1575" b="1">
                <a:solidFill>
                  <a:srgbClr val="172B3A"/>
                </a:solidFill>
              </a:defRPr>
            </a:lvl1pPr>
            <a:lvl2pPr>
              <a:defRPr sz="1575" b="1">
                <a:solidFill>
                  <a:srgbClr val="172B3A"/>
                </a:solidFill>
              </a:defRPr>
            </a:lvl2pPr>
            <a:lvl3pPr>
              <a:defRPr sz="1575" b="1">
                <a:solidFill>
                  <a:srgbClr val="172B3A"/>
                </a:solidFill>
              </a:defRPr>
            </a:lvl3pPr>
            <a:lvl4pPr>
              <a:defRPr sz="1575" b="1">
                <a:solidFill>
                  <a:srgbClr val="172B3A"/>
                </a:solidFill>
              </a:defRPr>
            </a:lvl4pPr>
            <a:lvl5pPr>
              <a:defRPr sz="1575" b="1">
                <a:solidFill>
                  <a:srgbClr val="172B3A"/>
                </a:solidFill>
              </a:defRPr>
            </a:lvl5pPr>
            <a:lvl6pPr>
              <a:defRPr sz="1575" b="1">
                <a:solidFill>
                  <a:srgbClr val="172B3A"/>
                </a:solidFill>
              </a:defRPr>
            </a:lvl6pPr>
            <a:lvl7pPr>
              <a:defRPr sz="1575" b="1">
                <a:solidFill>
                  <a:srgbClr val="172B3A"/>
                </a:solidFill>
              </a:defRPr>
            </a:lvl7pPr>
            <a:lvl8pPr>
              <a:defRPr sz="1575" b="1">
                <a:solidFill>
                  <a:srgbClr val="172B3A"/>
                </a:solidFill>
              </a:defRPr>
            </a:lvl8pPr>
            <a:lvl9pPr>
              <a:defRPr sz="1575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B3A"/>
                </a:solidFill>
              </a:defRPr>
            </a:pPr>
            <a:r>
              <a:rPr sz="1575" b="1">
                <a:solidFill>
                  <a:srgbClr val="172B3A"/>
                </a:solidFill>
              </a:rPr>
              <a:t>Twin preview is separate and uncalibrated; not implemented/evaluated: EHR · E2 results · true counterfactuals · robustness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46417-E633-4FEA-9B58-3976220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96B76"/>
                </a:solidFill>
              </a:defRPr>
            </a:defPPr>
            <a:lvl1pPr>
              <a:defRPr sz="1350" b="0">
                <a:solidFill>
                  <a:srgbClr val="596B76"/>
                </a:solidFill>
              </a:defRPr>
            </a:lvl1pPr>
            <a:lvl2pPr>
              <a:defRPr sz="1350" b="0">
                <a:solidFill>
                  <a:srgbClr val="596B76"/>
                </a:solidFill>
              </a:defRPr>
            </a:lvl2pPr>
            <a:lvl3pPr>
              <a:defRPr sz="1350" b="0">
                <a:solidFill>
                  <a:srgbClr val="596B76"/>
                </a:solidFill>
              </a:defRPr>
            </a:lvl3pPr>
            <a:lvl4pPr>
              <a:defRPr sz="1350" b="0">
                <a:solidFill>
                  <a:srgbClr val="596B76"/>
                </a:solidFill>
              </a:defRPr>
            </a:lvl4pPr>
            <a:lvl5pPr>
              <a:defRPr sz="1350" b="0">
                <a:solidFill>
                  <a:srgbClr val="596B76"/>
                </a:solidFill>
              </a:defRPr>
            </a:lvl5pPr>
            <a:lvl6pPr>
              <a:defRPr sz="1350" b="0">
                <a:solidFill>
                  <a:srgbClr val="596B76"/>
                </a:solidFill>
              </a:defRPr>
            </a:lvl6pPr>
            <a:lvl7pPr>
              <a:defRPr sz="1350" b="0">
                <a:solidFill>
                  <a:srgbClr val="596B76"/>
                </a:solidFill>
              </a:defRPr>
            </a:lvl7pPr>
            <a:lvl8pPr>
              <a:defRPr sz="1350" b="0">
                <a:solidFill>
                  <a:srgbClr val="596B76"/>
                </a:solidFill>
              </a:defRPr>
            </a:lvl8pPr>
            <a:lvl9pPr>
              <a:defRPr sz="135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B76"/>
                </a:solidFill>
              </a:defRPr>
            </a:pPr>
            <a:r>
              <a:rPr sz="1350" b="0">
                <a:solidFill>
                  <a:srgbClr val="596B76"/>
                </a:solidFill>
              </a:rPr>
              <a:t>Synthetic-only decision-support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455933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2026-10-19T15:29:29.0770000Z</dcterms:created>
  <dcterms:modified xsi:type="dcterms:W3CDTF">2026-10-19T15:29:29.0770000Z</dcterms:modified>
</coreProperties>
</file>